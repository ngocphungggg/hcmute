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5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F7ABE-5566-466F-8AFD-57E9C9042373}" v="1" dt="2025-05-14T11:13:41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Trong Binh" userId="c1283c94-e8ca-44d9-904c-fa0c4c442f84" providerId="ADAL" clId="{ECFF7ABE-5566-466F-8AFD-57E9C9042373}"/>
    <pc:docChg chg="addSld delSld modSld">
      <pc:chgData name="Tran Trong Binh" userId="c1283c94-e8ca-44d9-904c-fa0c4c442f84" providerId="ADAL" clId="{ECFF7ABE-5566-466F-8AFD-57E9C9042373}" dt="2025-05-14T11:13:55.672" v="2" actId="47"/>
      <pc:docMkLst>
        <pc:docMk/>
      </pc:docMkLst>
      <pc:sldChg chg="new del">
        <pc:chgData name="Tran Trong Binh" userId="c1283c94-e8ca-44d9-904c-fa0c4c442f84" providerId="ADAL" clId="{ECFF7ABE-5566-466F-8AFD-57E9C9042373}" dt="2025-05-14T11:13:55.672" v="2" actId="47"/>
        <pc:sldMkLst>
          <pc:docMk/>
          <pc:sldMk cId="1508648632" sldId="256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85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86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87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88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89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0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1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2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3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4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5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6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7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8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399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0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1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2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3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4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5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6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7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8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09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0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1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2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3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4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5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6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7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8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19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0" sldId="420"/>
        </pc:sldMkLst>
      </pc:sldChg>
      <pc:sldChg chg="add">
        <pc:chgData name="Tran Trong Binh" userId="c1283c94-e8ca-44d9-904c-fa0c4c442f84" providerId="ADAL" clId="{ECFF7ABE-5566-466F-8AFD-57E9C9042373}" dt="2025-05-14T11:13:41.831" v="1"/>
        <pc:sldMkLst>
          <pc:docMk/>
          <pc:sldMk cId="133416209" sldId="4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B206-2B6A-1076-2AE8-B2A8E2906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ADC36-4EB9-AB69-463C-06F4260E1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3DCA-F11D-D781-6C70-EAF46BB4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FD98A-92B0-6161-6764-C1496C7E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BBD4-D626-ACFF-F5B2-0D0DAD13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7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27A1-6209-08E3-B494-0541768F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0A7C-E8A5-41A0-88E3-0B473716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86751-878C-604D-0D1B-9AF57D6D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A9C73-EBED-F461-6403-9214BA3B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4522-CC14-27F6-DDDB-DFE683BF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0B8E-53CE-06DF-DBC7-70250DE4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F68A1-9B2B-0B3C-415B-636C90522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2AA35-F534-8CB0-3BA8-6624C6CCB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1E884-188F-E20A-1865-DD0104E6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8BF64-0B91-97BF-879B-0CE88594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6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8E04-B479-3AAA-7C3E-47256796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AAB9-D410-5B69-2CB3-47194786C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FB2E8-D147-2AF0-9237-48C42DA80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BA745-DB02-13AF-1C6D-1D206645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40D77-3489-40B5-3BF1-3DD348E2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BAA6D-B0C4-C7EA-3446-2C4489E6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4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0324-A05F-1269-A25F-34D94217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28B18-5484-EC69-A1EA-630230D4F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4FE3C-767F-5764-6372-88E51D2D5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7ADF0-322A-E575-BA5F-2F29585B8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4F0BA-3C10-D000-339F-7895D5ED4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F42A6-3782-0682-1B45-87B2755E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1BD6F-B381-2715-FE38-352F3AE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DD9AC-3C17-C6FF-56B4-57662BFD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4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B933-8624-FDA9-DC0C-2BBB5B36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AC73A-F9F1-8828-97E7-71B85CB3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C0ECF-767E-C8F0-EE39-A8279417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7D7CD-7660-FFBA-5BD7-197E347D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38112-B15F-356B-A2F7-B6180CA1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5FB37-B202-F373-2538-8A8983AC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7C710-AF36-370E-CE44-A9A9509C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0068-657E-14EE-E56B-90A3B937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1019-EAF9-2B25-DFED-91B62C72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BDAC0-4772-F708-691A-EC9046FB6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3081A-F773-DA02-6F47-C10865A5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4C78A-BC4B-2D44-6020-787F55D1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D9E04-CBE5-F810-7741-1E9B958E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3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E2DC-3ADF-7631-D7A3-496A8D036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0A25D-A67F-E3B3-539A-0BFBD3366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FE117-0B9B-0DE2-EB60-8CAC6E5EA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9CACB-7507-5E09-0DB8-B511A074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74899-16DD-96A5-F782-813A5DE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E27FA-E52B-BD86-FB9D-01D3D804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FEAB-8999-C270-76B1-7B73A7DC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526B3-110C-7157-D544-45B1F3D0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58622-29D9-ACAF-AC29-ED3E1362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DA1A-FD51-A624-FC68-3069049A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DFA23-5082-45C4-FEF7-317CD87A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8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3746E-11CF-B591-5118-D5CC2832A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0FAE7-4E48-7BAA-4D1F-898066FED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622C-AC7A-8183-30EE-B25B44B4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C084-3A13-6A6E-C868-41F16860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AE862-C4EB-5EE4-CFC7-EE8D38BD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BADCF-22BF-BB5F-E14A-D9833F4E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27DE6-9926-A872-3ED8-7B3558191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EFCC4-2120-7F8B-BBE6-1C2B2D078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6BD51-71A9-4494-80A7-59D9C0ED6D8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DD577-6956-66F8-FC1B-DA2B0F2BD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A07E4-1E8B-591F-851E-BC582F8EA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18A6E-FD64-45E0-BDBA-38420693E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0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4039" y="2039620"/>
            <a:ext cx="5952490" cy="8788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Phân</a:t>
            </a:r>
            <a:r>
              <a:rPr sz="5600" spc="-150" dirty="0"/>
              <a:t> </a:t>
            </a:r>
            <a:r>
              <a:rPr sz="5600" dirty="0"/>
              <a:t>c</a:t>
            </a:r>
            <a:r>
              <a:rPr sz="5600" dirty="0">
                <a:latin typeface="Calibri"/>
                <a:cs typeface="Calibri"/>
              </a:rPr>
              <a:t>ụ</a:t>
            </a:r>
            <a:r>
              <a:rPr sz="5600" dirty="0"/>
              <a:t>m</a:t>
            </a:r>
            <a:r>
              <a:rPr sz="5600" spc="-35" dirty="0"/>
              <a:t> </a:t>
            </a:r>
            <a:r>
              <a:rPr sz="5600" dirty="0"/>
              <a:t>đ</a:t>
            </a:r>
            <a:r>
              <a:rPr sz="5600" dirty="0">
                <a:latin typeface="Calibri"/>
                <a:cs typeface="Calibri"/>
              </a:rPr>
              <a:t>ặ</a:t>
            </a:r>
            <a:r>
              <a:rPr sz="5600" dirty="0"/>
              <a:t>c</a:t>
            </a:r>
            <a:r>
              <a:rPr sz="5600" spc="-65" dirty="0"/>
              <a:t> </a:t>
            </a:r>
            <a:r>
              <a:rPr sz="5600" spc="-755" dirty="0"/>
              <a:t>thù</a:t>
            </a:r>
            <a:endParaRPr sz="5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3530601"/>
            <a:ext cx="5242560" cy="252889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330" indent="-341630">
              <a:spcBef>
                <a:spcPts val="560"/>
              </a:spcBef>
              <a:buFont typeface="Arial"/>
              <a:buChar char="•"/>
              <a:tabLst>
                <a:tab pos="354330" algn="l"/>
              </a:tabLst>
            </a:pPr>
            <a:r>
              <a:rPr sz="3700" dirty="0">
                <a:latin typeface="Gill Sans MT"/>
                <a:cs typeface="Gill Sans MT"/>
              </a:rPr>
              <a:t>Phân</a:t>
            </a:r>
            <a:r>
              <a:rPr sz="3700" spc="-114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c</a:t>
            </a:r>
            <a:r>
              <a:rPr sz="3700" dirty="0">
                <a:latin typeface="Calibri"/>
                <a:cs typeface="Calibri"/>
              </a:rPr>
              <a:t>ụ</a:t>
            </a:r>
            <a:r>
              <a:rPr sz="3700" dirty="0">
                <a:latin typeface="Gill Sans MT"/>
                <a:cs typeface="Gill Sans MT"/>
              </a:rPr>
              <a:t>m</a:t>
            </a:r>
            <a:r>
              <a:rPr sz="3700" spc="-20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m</a:t>
            </a:r>
            <a:r>
              <a:rPr sz="3700" dirty="0">
                <a:latin typeface="Calibri"/>
                <a:cs typeface="Calibri"/>
              </a:rPr>
              <a:t>ờ</a:t>
            </a:r>
            <a:r>
              <a:rPr sz="3700" spc="185" dirty="0">
                <a:latin typeface="Calibri"/>
                <a:cs typeface="Calibri"/>
              </a:rPr>
              <a:t> </a:t>
            </a:r>
            <a:r>
              <a:rPr sz="3700" dirty="0">
                <a:latin typeface="Gill Sans MT"/>
                <a:cs typeface="Gill Sans MT"/>
              </a:rPr>
              <a:t>FCM,</a:t>
            </a:r>
            <a:r>
              <a:rPr sz="3700" spc="-165" dirty="0">
                <a:latin typeface="Gill Sans MT"/>
                <a:cs typeface="Gill Sans MT"/>
              </a:rPr>
              <a:t> </a:t>
            </a:r>
            <a:r>
              <a:rPr sz="3300" spc="-20" dirty="0">
                <a:latin typeface="Symbol"/>
                <a:cs typeface="Symbol"/>
              </a:rPr>
              <a:t></a:t>
            </a:r>
            <a:r>
              <a:rPr sz="3300" spc="-20" dirty="0">
                <a:latin typeface="Gill Sans MT"/>
                <a:cs typeface="Gill Sans MT"/>
              </a:rPr>
              <a:t>FCM</a:t>
            </a:r>
            <a:endParaRPr sz="3300" dirty="0">
              <a:latin typeface="Gill Sans MT"/>
              <a:cs typeface="Gill Sans MT"/>
            </a:endParaRPr>
          </a:p>
          <a:p>
            <a:pPr marL="354330" indent="-341630">
              <a:spcBef>
                <a:spcPts val="459"/>
              </a:spcBef>
              <a:buFont typeface="Arial"/>
              <a:buChar char="•"/>
              <a:tabLst>
                <a:tab pos="354330" algn="l"/>
              </a:tabLst>
            </a:pPr>
            <a:r>
              <a:rPr sz="3700" dirty="0">
                <a:latin typeface="Gill Sans MT"/>
                <a:cs typeface="Gill Sans MT"/>
              </a:rPr>
              <a:t>Phân</a:t>
            </a:r>
            <a:r>
              <a:rPr sz="3700" spc="-90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c</a:t>
            </a:r>
            <a:r>
              <a:rPr sz="3700" dirty="0">
                <a:latin typeface="Calibri"/>
                <a:cs typeface="Calibri"/>
              </a:rPr>
              <a:t>ụ</a:t>
            </a:r>
            <a:r>
              <a:rPr sz="3700" dirty="0">
                <a:latin typeface="Gill Sans MT"/>
                <a:cs typeface="Gill Sans MT"/>
              </a:rPr>
              <a:t>m x</a:t>
            </a:r>
            <a:r>
              <a:rPr sz="3700" dirty="0">
                <a:latin typeface="Calibri"/>
                <a:cs typeface="Calibri"/>
              </a:rPr>
              <a:t>ắ</a:t>
            </a:r>
            <a:r>
              <a:rPr sz="3700" dirty="0">
                <a:latin typeface="Gill Sans MT"/>
                <a:cs typeface="Gill Sans MT"/>
              </a:rPr>
              <a:t>c</a:t>
            </a:r>
            <a:r>
              <a:rPr sz="3700" spc="-60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su</a:t>
            </a:r>
            <a:r>
              <a:rPr sz="3700" dirty="0">
                <a:latin typeface="Calibri"/>
                <a:cs typeface="Calibri"/>
              </a:rPr>
              <a:t>ấ</a:t>
            </a:r>
            <a:r>
              <a:rPr sz="3700" dirty="0">
                <a:latin typeface="Gill Sans MT"/>
                <a:cs typeface="Gill Sans MT"/>
              </a:rPr>
              <a:t>t</a:t>
            </a:r>
            <a:r>
              <a:rPr sz="3700" spc="-70" dirty="0">
                <a:latin typeface="Gill Sans MT"/>
                <a:cs typeface="Gill Sans MT"/>
              </a:rPr>
              <a:t> </a:t>
            </a:r>
            <a:r>
              <a:rPr sz="3700" spc="25" dirty="0">
                <a:latin typeface="Gill Sans MT"/>
                <a:cs typeface="Gill Sans MT"/>
              </a:rPr>
              <a:t>EM</a:t>
            </a:r>
            <a:endParaRPr sz="3700" dirty="0">
              <a:latin typeface="Gill Sans MT"/>
              <a:cs typeface="Gill Sans MT"/>
            </a:endParaRPr>
          </a:p>
          <a:p>
            <a:pPr marL="354330" indent="-341630">
              <a:spcBef>
                <a:spcPts val="459"/>
              </a:spcBef>
              <a:buFont typeface="Arial"/>
              <a:buChar char="•"/>
              <a:tabLst>
                <a:tab pos="354330" algn="l"/>
              </a:tabLst>
            </a:pPr>
            <a:r>
              <a:rPr sz="3700" dirty="0">
                <a:latin typeface="Gill Sans MT"/>
                <a:cs typeface="Gill Sans MT"/>
              </a:rPr>
              <a:t>Thu</a:t>
            </a:r>
            <a:r>
              <a:rPr sz="3700" dirty="0">
                <a:latin typeface="Calibri"/>
                <a:cs typeface="Calibri"/>
              </a:rPr>
              <a:t>ậ</a:t>
            </a:r>
            <a:r>
              <a:rPr sz="3700" dirty="0">
                <a:latin typeface="Gill Sans MT"/>
                <a:cs typeface="Gill Sans MT"/>
              </a:rPr>
              <a:t>t</a:t>
            </a:r>
            <a:r>
              <a:rPr sz="3700" spc="-105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toán</a:t>
            </a:r>
            <a:r>
              <a:rPr sz="3700" spc="-20" dirty="0">
                <a:latin typeface="Gill Sans MT"/>
                <a:cs typeface="Gill Sans MT"/>
              </a:rPr>
              <a:t> </a:t>
            </a:r>
            <a:r>
              <a:rPr sz="3700" spc="-10" dirty="0">
                <a:latin typeface="Gill Sans MT"/>
                <a:cs typeface="Gill Sans MT"/>
              </a:rPr>
              <a:t>STING</a:t>
            </a:r>
            <a:endParaRPr sz="3700" dirty="0">
              <a:latin typeface="Gill Sans MT"/>
              <a:cs typeface="Gill Sans MT"/>
            </a:endParaRPr>
          </a:p>
          <a:p>
            <a:pPr marL="354330" indent="-341630">
              <a:spcBef>
                <a:spcPts val="360"/>
              </a:spcBef>
              <a:buFont typeface="Arial"/>
              <a:buChar char="•"/>
              <a:tabLst>
                <a:tab pos="354330" algn="l"/>
              </a:tabLst>
            </a:pPr>
            <a:r>
              <a:rPr sz="3700" dirty="0">
                <a:latin typeface="Gill Sans MT"/>
                <a:cs typeface="Gill Sans MT"/>
              </a:rPr>
              <a:t>Thu</a:t>
            </a:r>
            <a:r>
              <a:rPr sz="3700" dirty="0">
                <a:latin typeface="Calibri"/>
                <a:cs typeface="Calibri"/>
              </a:rPr>
              <a:t>ậ</a:t>
            </a:r>
            <a:r>
              <a:rPr sz="3700" dirty="0">
                <a:latin typeface="Gill Sans MT"/>
                <a:cs typeface="Gill Sans MT"/>
              </a:rPr>
              <a:t>t</a:t>
            </a:r>
            <a:r>
              <a:rPr sz="3700" spc="-105" dirty="0">
                <a:latin typeface="Gill Sans MT"/>
                <a:cs typeface="Gill Sans MT"/>
              </a:rPr>
              <a:t> </a:t>
            </a:r>
            <a:r>
              <a:rPr sz="3700" dirty="0">
                <a:latin typeface="Gill Sans MT"/>
                <a:cs typeface="Gill Sans MT"/>
              </a:rPr>
              <a:t>toán</a:t>
            </a:r>
            <a:r>
              <a:rPr sz="3700" spc="-20" dirty="0">
                <a:latin typeface="Gill Sans MT"/>
                <a:cs typeface="Gill Sans MT"/>
              </a:rPr>
              <a:t> </a:t>
            </a:r>
            <a:r>
              <a:rPr sz="3700" spc="-10" dirty="0">
                <a:latin typeface="Gill Sans MT"/>
                <a:cs typeface="Gill Sans MT"/>
              </a:rPr>
              <a:t>CLIQUE</a:t>
            </a:r>
            <a:endParaRPr sz="37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584556"/>
            <a:ext cx="78867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spc="-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cụm</a:t>
            </a:r>
            <a:r>
              <a:rPr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63141" y="1950720"/>
            <a:ext cx="7382509" cy="381546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81000" marR="414655" indent="-3429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381000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 thực tế, các cụm dl lại có thể </a:t>
            </a:r>
            <a:r>
              <a:rPr sz="2800" dirty="0">
                <a:solidFill>
                  <a:srgbClr val="FF00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chồng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lên nhau.</a:t>
            </a:r>
          </a:p>
          <a:p>
            <a:pPr marL="381000" marR="250190" indent="-342900">
              <a:lnSpc>
                <a:spcPts val="3000"/>
              </a:lnSpc>
              <a:spcBef>
                <a:spcPts val="580"/>
              </a:spcBef>
              <a:buFont typeface="Arial"/>
              <a:buChar char="•"/>
              <a:tabLst>
                <a:tab pos="381000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 ta đã áp dụng lý thuyết về </a:t>
            </a:r>
            <a:r>
              <a:rPr sz="2800" dirty="0">
                <a:solidFill>
                  <a:srgbClr val="FF00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 mờ trong PCDL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 giải quyết cho trường hợp này.</a:t>
            </a:r>
          </a:p>
          <a:p>
            <a:pPr marL="380365" indent="-342265">
              <a:spcBef>
                <a:spcPts val="300"/>
              </a:spcBef>
              <a:buFont typeface="Arial"/>
              <a:buChar char="•"/>
              <a:tabLst>
                <a:tab pos="380365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 kết hợp này được gọi là </a:t>
            </a:r>
            <a:r>
              <a:rPr sz="2800" dirty="0">
                <a:solidFill>
                  <a:srgbClr val="FF00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 cụm mờ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381000" marR="30480" indent="-342900">
              <a:lnSpc>
                <a:spcPct val="90800"/>
              </a:lnSpc>
              <a:spcBef>
                <a:spcPts val="650"/>
              </a:spcBef>
              <a:buFont typeface="Arial"/>
              <a:buChar char="•"/>
              <a:tabLst>
                <a:tab pos="381000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 phương pháp phân cụm mờ, độ phụ thuộc của đối tượng dl x</a:t>
            </a:r>
            <a:r>
              <a:rPr sz="2850" baseline="-1754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tới cụm thứ i (u</a:t>
            </a:r>
            <a:r>
              <a:rPr sz="2850" baseline="-1754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ik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có giá trị thuộc khoảng [0,1].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30" dirty="0"/>
              <a:t> </a:t>
            </a:r>
            <a:r>
              <a:rPr spc="-25" dirty="0"/>
              <a:t>m</a:t>
            </a:r>
            <a:r>
              <a:rPr spc="-25" dirty="0">
                <a:latin typeface="Calibri"/>
                <a:cs typeface="Calibri"/>
              </a:rPr>
              <a:t>ờ</a:t>
            </a:r>
            <a:r>
              <a:rPr spc="-25" dirty="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88541" y="1950720"/>
            <a:ext cx="7534909" cy="40843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208279" indent="-342900">
              <a:lnSpc>
                <a:spcPct val="90300"/>
              </a:lnSpc>
              <a:spcBef>
                <a:spcPts val="42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Gill Sans MT"/>
                <a:cs typeface="Gill Sans MT"/>
              </a:rPr>
              <a:t>Ý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dirty="0">
                <a:latin typeface="Calibri"/>
                <a:cs typeface="Calibri"/>
              </a:rPr>
              <a:t>ưở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trên</a:t>
            </a:r>
            <a:r>
              <a:rPr sz="2800" spc="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đã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ượ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gi</a:t>
            </a:r>
            <a:r>
              <a:rPr sz="2800" dirty="0">
                <a:latin typeface="Calibri"/>
                <a:cs typeface="Calibri"/>
              </a:rPr>
              <a:t>ớ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thi</a:t>
            </a:r>
            <a:r>
              <a:rPr sz="2800" dirty="0">
                <a:latin typeface="Calibri"/>
                <a:cs typeface="Calibri"/>
              </a:rPr>
              <a:t>ệ</a:t>
            </a:r>
            <a:r>
              <a:rPr sz="2800" dirty="0">
                <a:latin typeface="Gill Sans MT"/>
                <a:cs typeface="Gill Sans MT"/>
              </a:rPr>
              <a:t>u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b</a:t>
            </a:r>
            <a:r>
              <a:rPr sz="2800" dirty="0">
                <a:latin typeface="Calibri"/>
                <a:cs typeface="Calibri"/>
              </a:rPr>
              <a:t>ở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Ruspini (1969),</a:t>
            </a:r>
            <a:r>
              <a:rPr sz="2800" spc="-29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ượ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Dunn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áp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d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ng năm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1973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nh</a:t>
            </a:r>
            <a:r>
              <a:rPr sz="2800" dirty="0">
                <a:latin typeface="Calibri"/>
                <a:cs typeface="Calibri"/>
              </a:rPr>
              <a:t>ằ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30" dirty="0">
                <a:latin typeface="Gill Sans MT"/>
                <a:cs typeface="Gill Sans MT"/>
              </a:rPr>
              <a:t> </a:t>
            </a:r>
            <a:r>
              <a:rPr sz="2800" spc="-1010" dirty="0">
                <a:latin typeface="Gill Sans MT"/>
                <a:cs typeface="Gill Sans MT"/>
              </a:rPr>
              <a:t>xây</a:t>
            </a:r>
            <a:r>
              <a:rPr sz="2800" dirty="0">
                <a:latin typeface="Gill Sans MT"/>
                <a:cs typeface="Gill Sans MT"/>
              </a:rPr>
              <a:t> d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</a:t>
            </a:r>
            <a:r>
              <a:rPr sz="2800" dirty="0">
                <a:latin typeface="Calibri"/>
                <a:cs typeface="Calibri"/>
              </a:rPr>
              <a:t>ươ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pháp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phân</a:t>
            </a:r>
            <a:r>
              <a:rPr sz="2800" spc="-1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dirty="0">
                <a:latin typeface="Calibri"/>
                <a:cs typeface="Calibri"/>
              </a:rPr>
              <a:t>ờ </a:t>
            </a:r>
            <a:r>
              <a:rPr sz="2800" dirty="0">
                <a:latin typeface="Gill Sans MT"/>
                <a:cs typeface="Gill Sans MT"/>
              </a:rPr>
              <a:t>d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trên</a:t>
            </a:r>
            <a:r>
              <a:rPr sz="2800" spc="6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t</a:t>
            </a:r>
            <a:r>
              <a:rPr sz="2800" spc="-25" dirty="0">
                <a:latin typeface="Calibri"/>
                <a:cs typeface="Calibri"/>
              </a:rPr>
              <a:t>ố</a:t>
            </a:r>
            <a:r>
              <a:rPr sz="2800" spc="-25" dirty="0">
                <a:latin typeface="Gill Sans MT"/>
                <a:cs typeface="Gill Sans MT"/>
              </a:rPr>
              <a:t>i </a:t>
            </a:r>
            <a:r>
              <a:rPr sz="2800" dirty="0">
                <a:latin typeface="Gill Sans MT"/>
                <a:cs typeface="Gill Sans MT"/>
              </a:rPr>
              <a:t>thi</a:t>
            </a:r>
            <a:r>
              <a:rPr sz="2800" dirty="0">
                <a:latin typeface="Calibri"/>
                <a:cs typeface="Calibri"/>
              </a:rPr>
              <a:t>ể</a:t>
            </a:r>
            <a:r>
              <a:rPr sz="2800" dirty="0">
                <a:latin typeface="Gill Sans MT"/>
                <a:cs typeface="Gill Sans MT"/>
              </a:rPr>
              <a:t>u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hoá</a:t>
            </a:r>
            <a:r>
              <a:rPr sz="2800" spc="-4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hàm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tiêu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chu</a:t>
            </a:r>
            <a:r>
              <a:rPr sz="2800" spc="-10" dirty="0">
                <a:latin typeface="Calibri"/>
                <a:cs typeface="Calibri"/>
              </a:rPr>
              <a:t>ẩ</a:t>
            </a:r>
            <a:r>
              <a:rPr sz="2800" spc="-10" dirty="0">
                <a:latin typeface="Gill Sans MT"/>
                <a:cs typeface="Gill Sans MT"/>
              </a:rPr>
              <a:t>n.</a:t>
            </a:r>
            <a:endParaRPr sz="2800" dirty="0">
              <a:latin typeface="Gill Sans MT"/>
              <a:cs typeface="Gill Sans MT"/>
            </a:endParaRPr>
          </a:p>
          <a:p>
            <a:pPr marL="355600" marR="5080" indent="-342900">
              <a:lnSpc>
                <a:spcPts val="3000"/>
              </a:lnSpc>
              <a:spcBef>
                <a:spcPts val="740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Gill Sans MT"/>
                <a:cs typeface="Gill Sans MT"/>
              </a:rPr>
              <a:t>Bezdek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(1982)</a:t>
            </a:r>
            <a:r>
              <a:rPr sz="2800" spc="-1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đã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dirty="0">
                <a:latin typeface="Calibri"/>
                <a:cs typeface="Calibri"/>
              </a:rPr>
              <a:t>ổ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quát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hoá</a:t>
            </a:r>
            <a:r>
              <a:rPr sz="2800" spc="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</a:t>
            </a:r>
            <a:r>
              <a:rPr sz="2800" dirty="0">
                <a:latin typeface="Calibri"/>
                <a:cs typeface="Calibri"/>
              </a:rPr>
              <a:t>ươ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12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pháp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spc="-475" dirty="0">
                <a:latin typeface="Gill Sans MT"/>
                <a:cs typeface="Gill Sans MT"/>
              </a:rPr>
              <a:t>này </a:t>
            </a:r>
            <a:r>
              <a:rPr sz="2800" dirty="0">
                <a:latin typeface="Gill Sans MT"/>
                <a:cs typeface="Gill Sans MT"/>
              </a:rPr>
              <a:t>và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xây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d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thành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thu</a:t>
            </a:r>
            <a:r>
              <a:rPr sz="2800" dirty="0">
                <a:latin typeface="Calibri"/>
                <a:cs typeface="Calibri"/>
              </a:rPr>
              <a:t>ậ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toán</a:t>
            </a:r>
            <a:r>
              <a:rPr sz="2800" spc="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phân</a:t>
            </a:r>
            <a:r>
              <a:rPr sz="2800" spc="-1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m m</a:t>
            </a:r>
            <a:r>
              <a:rPr sz="2800" dirty="0">
                <a:latin typeface="Calibri"/>
                <a:cs typeface="Calibri"/>
              </a:rPr>
              <a:t>ờ </a:t>
            </a:r>
            <a:r>
              <a:rPr sz="2800" spc="-35" dirty="0">
                <a:solidFill>
                  <a:srgbClr val="FF0066"/>
                </a:solidFill>
                <a:latin typeface="Gill Sans MT"/>
                <a:cs typeface="Gill Sans MT"/>
              </a:rPr>
              <a:t>c- </a:t>
            </a:r>
            <a:r>
              <a:rPr sz="2800" dirty="0">
                <a:solidFill>
                  <a:srgbClr val="FF0066"/>
                </a:solidFill>
                <a:latin typeface="Gill Sans MT"/>
                <a:cs typeface="Gill Sans MT"/>
              </a:rPr>
              <a:t>means</a:t>
            </a:r>
            <a:r>
              <a:rPr sz="2800" spc="5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có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</a:t>
            </a:r>
            <a:r>
              <a:rPr sz="2800" dirty="0">
                <a:latin typeface="Calibri"/>
                <a:cs typeface="Calibri"/>
              </a:rPr>
              <a:t>ử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d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</a:t>
            </a:r>
            <a:r>
              <a:rPr sz="2800" dirty="0">
                <a:latin typeface="Calibri"/>
                <a:cs typeface="Calibri"/>
              </a:rPr>
              <a:t>ọ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</a:t>
            </a:r>
            <a:r>
              <a:rPr sz="2800" dirty="0">
                <a:latin typeface="Calibri"/>
                <a:cs typeface="Calibri"/>
              </a:rPr>
              <a:t>ố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m</a:t>
            </a:r>
            <a:r>
              <a:rPr sz="2800" spc="-25" dirty="0">
                <a:latin typeface="Calibri"/>
                <a:cs typeface="Calibri"/>
              </a:rPr>
              <a:t>ũ</a:t>
            </a:r>
            <a:r>
              <a:rPr sz="2800" spc="-25" dirty="0">
                <a:latin typeface="Gill Sans MT"/>
                <a:cs typeface="Gill Sans MT"/>
              </a:rPr>
              <a:t>.</a:t>
            </a:r>
            <a:endParaRPr sz="2800" dirty="0">
              <a:latin typeface="Gill Sans MT"/>
              <a:cs typeface="Gill Sans MT"/>
            </a:endParaRPr>
          </a:p>
          <a:p>
            <a:pPr marL="355600" marR="69850" indent="-342900">
              <a:lnSpc>
                <a:spcPct val="90800"/>
              </a:lnSpc>
              <a:spcBef>
                <a:spcPts val="610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40" dirty="0">
                <a:latin typeface="Gill Sans MT"/>
                <a:cs typeface="Gill Sans MT"/>
              </a:rPr>
              <a:t>K-</a:t>
            </a:r>
            <a:r>
              <a:rPr sz="2800" dirty="0">
                <a:latin typeface="Gill Sans MT"/>
                <a:cs typeface="Gill Sans MT"/>
              </a:rPr>
              <a:t>means là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PCDL</a:t>
            </a:r>
            <a:r>
              <a:rPr sz="2800" spc="-9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rõ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và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20" dirty="0">
                <a:solidFill>
                  <a:srgbClr val="FF0066"/>
                </a:solidFill>
                <a:latin typeface="Gill Sans MT"/>
                <a:cs typeface="Gill Sans MT"/>
              </a:rPr>
              <a:t>c-</a:t>
            </a:r>
            <a:r>
              <a:rPr sz="2800" dirty="0">
                <a:solidFill>
                  <a:srgbClr val="FF0066"/>
                </a:solidFill>
                <a:latin typeface="Gill Sans MT"/>
                <a:cs typeface="Gill Sans MT"/>
              </a:rPr>
              <a:t>means </a:t>
            </a:r>
            <a:r>
              <a:rPr sz="2800" dirty="0">
                <a:latin typeface="Gill Sans MT"/>
                <a:cs typeface="Gill Sans MT"/>
              </a:rPr>
              <a:t>là</a:t>
            </a:r>
            <a:r>
              <a:rPr sz="2800" spc="-11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phân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m</a:t>
            </a:r>
            <a:r>
              <a:rPr sz="2800" spc="-25" dirty="0">
                <a:latin typeface="Calibri"/>
                <a:cs typeface="Calibri"/>
              </a:rPr>
              <a:t>ờ 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dirty="0">
                <a:latin typeface="Calibri"/>
                <a:cs typeface="Calibri"/>
              </a:rPr>
              <a:t>ươ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Calibri"/>
                <a:cs typeface="Calibri"/>
              </a:rPr>
              <a:t>ứ</a:t>
            </a:r>
            <a:r>
              <a:rPr sz="2800" spc="-10" dirty="0">
                <a:latin typeface="Gill Sans MT"/>
                <a:cs typeface="Gill Sans MT"/>
              </a:rPr>
              <a:t>ng,</a:t>
            </a:r>
            <a:r>
              <a:rPr sz="2800" spc="-29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cùng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</a:t>
            </a:r>
            <a:r>
              <a:rPr sz="2800" dirty="0">
                <a:latin typeface="Calibri"/>
                <a:cs typeface="Calibri"/>
              </a:rPr>
              <a:t>ử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d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10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dirty="0">
                <a:latin typeface="Calibri"/>
                <a:cs typeface="Calibri"/>
              </a:rPr>
              <a:t>ộ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chi</a:t>
            </a:r>
            <a:r>
              <a:rPr sz="2800" dirty="0">
                <a:latin typeface="Calibri"/>
                <a:cs typeface="Calibri"/>
              </a:rPr>
              <a:t>ế</a:t>
            </a:r>
            <a:r>
              <a:rPr sz="2800" dirty="0">
                <a:latin typeface="Gill Sans MT"/>
                <a:cs typeface="Gill Sans MT"/>
              </a:rPr>
              <a:t>n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l</a:t>
            </a:r>
            <a:r>
              <a:rPr sz="2800" dirty="0">
                <a:latin typeface="Calibri"/>
                <a:cs typeface="Calibri"/>
              </a:rPr>
              <a:t>ượ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4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phân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ụ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-85" dirty="0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dl.</a:t>
            </a:r>
            <a:endParaRPr sz="28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30" dirty="0"/>
              <a:t> </a:t>
            </a:r>
            <a:r>
              <a:rPr spc="-25" dirty="0"/>
              <a:t>m</a:t>
            </a:r>
            <a:r>
              <a:rPr spc="-25" dirty="0">
                <a:latin typeface="Calibri"/>
                <a:cs typeface="Calibri"/>
              </a:rPr>
              <a:t>ờ</a:t>
            </a:r>
            <a:r>
              <a:rPr spc="-25" dirty="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72640" y="1963421"/>
            <a:ext cx="7823834" cy="39744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19100" marR="81280" indent="-342900">
              <a:lnSpc>
                <a:spcPts val="2600"/>
              </a:lnSpc>
              <a:spcBef>
                <a:spcPts val="420"/>
              </a:spcBef>
              <a:buFont typeface="Arial"/>
              <a:buChar char="•"/>
              <a:tabLst>
                <a:tab pos="419100" algn="l"/>
              </a:tabLst>
            </a:pPr>
            <a:r>
              <a:rPr sz="2400" dirty="0">
                <a:latin typeface="Gill Sans MT"/>
                <a:cs typeface="Gill Sans MT"/>
              </a:rPr>
              <a:t>c-</a:t>
            </a:r>
            <a:r>
              <a:rPr sz="2400" spc="-10" dirty="0">
                <a:latin typeface="Gill Sans MT"/>
                <a:cs typeface="Gill Sans MT"/>
              </a:rPr>
              <a:t>means</a:t>
            </a:r>
            <a:r>
              <a:rPr sz="2400" spc="-114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dirty="0">
                <a:latin typeface="Calibri"/>
                <a:cs typeface="Calibri"/>
              </a:rPr>
              <a:t>ờ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Gill Sans MT"/>
                <a:cs typeface="Gill Sans MT"/>
              </a:rPr>
              <a:t>g</a:t>
            </a:r>
            <a:r>
              <a:rPr sz="2400" dirty="0">
                <a:latin typeface="Calibri"/>
                <a:cs typeface="Calibri"/>
              </a:rPr>
              <a:t>ọ</a:t>
            </a:r>
            <a:r>
              <a:rPr sz="2400" dirty="0">
                <a:latin typeface="Gill Sans MT"/>
                <a:cs typeface="Gill Sans MT"/>
              </a:rPr>
              <a:t>i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</a:t>
            </a:r>
            <a:r>
              <a:rPr sz="2400" dirty="0">
                <a:latin typeface="Calibri"/>
                <a:cs typeface="Calibri"/>
              </a:rPr>
              <a:t>ắ</a:t>
            </a:r>
            <a:r>
              <a:rPr sz="2400" dirty="0">
                <a:latin typeface="Gill Sans MT"/>
                <a:cs typeface="Gill Sans MT"/>
              </a:rPr>
              <a:t>t</a:t>
            </a:r>
            <a:r>
              <a:rPr sz="2400" spc="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là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FCM</a:t>
            </a:r>
            <a:r>
              <a:rPr sz="2400" spc="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(Fuzzy</a:t>
            </a:r>
            <a:r>
              <a:rPr sz="2400" spc="-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10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means-</a:t>
            </a:r>
            <a:r>
              <a:rPr sz="2400" dirty="0">
                <a:latin typeface="Gill Sans MT"/>
                <a:cs typeface="Gill Sans MT"/>
              </a:rPr>
              <a:t>FCM)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đã</a:t>
            </a:r>
            <a:r>
              <a:rPr sz="2400" spc="80" dirty="0">
                <a:latin typeface="Gill Sans MT"/>
                <a:cs typeface="Gill Sans MT"/>
              </a:rPr>
              <a:t> </a:t>
            </a:r>
            <a:r>
              <a:rPr sz="2400" spc="-175" dirty="0">
                <a:latin typeface="Gill Sans MT"/>
                <a:cs typeface="Gill Sans MT"/>
              </a:rPr>
              <a:t>thành </a:t>
            </a:r>
            <a:r>
              <a:rPr sz="2400" dirty="0">
                <a:latin typeface="Gill Sans MT"/>
                <a:cs typeface="Gill Sans MT"/>
              </a:rPr>
              <a:t>công</a:t>
            </a:r>
            <a:r>
              <a:rPr sz="2400" spc="-8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trong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nh</a:t>
            </a:r>
            <a:r>
              <a:rPr sz="2400" dirty="0">
                <a:latin typeface="Calibri"/>
                <a:cs typeface="Calibri"/>
              </a:rPr>
              <a:t>ậ</a:t>
            </a:r>
            <a:r>
              <a:rPr sz="2400" dirty="0">
                <a:latin typeface="Gill Sans MT"/>
                <a:cs typeface="Gill Sans MT"/>
              </a:rPr>
              <a:t>n d</a:t>
            </a:r>
            <a:r>
              <a:rPr sz="2400" dirty="0">
                <a:latin typeface="Calibri"/>
                <a:cs typeface="Calibri"/>
              </a:rPr>
              <a:t>ạ</a:t>
            </a:r>
            <a:r>
              <a:rPr sz="2400" dirty="0">
                <a:latin typeface="Gill Sans MT"/>
                <a:cs typeface="Gill Sans MT"/>
              </a:rPr>
              <a:t>ng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m</a:t>
            </a:r>
            <a:r>
              <a:rPr sz="2400" spc="-10" dirty="0">
                <a:latin typeface="Calibri"/>
                <a:cs typeface="Calibri"/>
              </a:rPr>
              <a:t>ẫ</a:t>
            </a:r>
            <a:r>
              <a:rPr sz="2400" spc="-10" dirty="0">
                <a:latin typeface="Gill Sans MT"/>
                <a:cs typeface="Gill Sans MT"/>
              </a:rPr>
              <a:t>u,</a:t>
            </a:r>
            <a:r>
              <a:rPr sz="2400" spc="-1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x</a:t>
            </a:r>
            <a:r>
              <a:rPr sz="2400" dirty="0">
                <a:latin typeface="Calibri"/>
                <a:cs typeface="Calibri"/>
              </a:rPr>
              <a:t>ử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Gill Sans MT"/>
                <a:cs typeface="Gill Sans MT"/>
              </a:rPr>
              <a:t>lý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Calibri"/>
                <a:cs typeface="Calibri"/>
              </a:rPr>
              <a:t>ả</a:t>
            </a:r>
            <a:r>
              <a:rPr sz="2400" spc="-25" dirty="0">
                <a:latin typeface="Gill Sans MT"/>
                <a:cs typeface="Gill Sans MT"/>
              </a:rPr>
              <a:t>nh,</a:t>
            </a:r>
            <a:r>
              <a:rPr sz="2400" spc="-1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y</a:t>
            </a:r>
            <a:r>
              <a:rPr sz="2400" spc="5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h</a:t>
            </a:r>
            <a:r>
              <a:rPr sz="2400" dirty="0">
                <a:latin typeface="Calibri"/>
                <a:cs typeface="Calibri"/>
              </a:rPr>
              <a:t>ọ</a:t>
            </a:r>
            <a:r>
              <a:rPr sz="2400" dirty="0">
                <a:latin typeface="Gill Sans MT"/>
                <a:cs typeface="Gill Sans MT"/>
              </a:rPr>
              <a:t>c,</a:t>
            </a:r>
            <a:r>
              <a:rPr sz="2400" spc="-295" dirty="0">
                <a:latin typeface="Gill Sans MT"/>
                <a:cs typeface="Gill Sans MT"/>
              </a:rPr>
              <a:t> </a:t>
            </a:r>
            <a:r>
              <a:rPr sz="2400" spc="-50" dirty="0">
                <a:latin typeface="Gill Sans MT"/>
                <a:cs typeface="Gill Sans MT"/>
              </a:rPr>
              <a:t>…</a:t>
            </a:r>
            <a:endParaRPr sz="2400" dirty="0">
              <a:latin typeface="Gill Sans MT"/>
              <a:cs typeface="Gill Sans MT"/>
            </a:endParaRPr>
          </a:p>
          <a:p>
            <a:pPr marL="419100" marR="112395" indent="-342900">
              <a:lnSpc>
                <a:spcPts val="2600"/>
              </a:lnSpc>
              <a:spcBef>
                <a:spcPts val="500"/>
              </a:spcBef>
              <a:buFont typeface="Arial"/>
              <a:buChar char="•"/>
              <a:tabLst>
                <a:tab pos="419100" algn="l"/>
              </a:tabLst>
            </a:pPr>
            <a:r>
              <a:rPr sz="2400" spc="-10" dirty="0">
                <a:solidFill>
                  <a:srgbClr val="FF0066"/>
                </a:solidFill>
                <a:latin typeface="Gill Sans MT"/>
                <a:cs typeface="Gill Sans MT"/>
              </a:rPr>
              <a:t>Nh</a:t>
            </a:r>
            <a:r>
              <a:rPr sz="2400" spc="-10" dirty="0">
                <a:solidFill>
                  <a:srgbClr val="FF0066"/>
                </a:solidFill>
                <a:latin typeface="Calibri"/>
                <a:cs typeface="Calibri"/>
              </a:rPr>
              <a:t>ượ</a:t>
            </a:r>
            <a:r>
              <a:rPr sz="2400" spc="-10" dirty="0">
                <a:solidFill>
                  <a:srgbClr val="FF0066"/>
                </a:solidFill>
                <a:latin typeface="Gill Sans MT"/>
                <a:cs typeface="Gill Sans MT"/>
              </a:rPr>
              <a:t>c:</a:t>
            </a:r>
            <a:r>
              <a:rPr sz="2400" spc="-295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ủ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FCM</a:t>
            </a:r>
            <a:r>
              <a:rPr sz="2400" spc="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là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nh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ạ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y</a:t>
            </a:r>
            <a:r>
              <a:rPr sz="2400" spc="-45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c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ả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m</a:t>
            </a:r>
            <a:r>
              <a:rPr sz="2400" spc="50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v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ớ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i</a:t>
            </a:r>
            <a:r>
              <a:rPr sz="2400" spc="-120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nhi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ễ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u/ph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ầ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n t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ử</a:t>
            </a:r>
            <a:r>
              <a:rPr sz="2400" spc="8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ngo</a:t>
            </a:r>
            <a:r>
              <a:rPr sz="2400" dirty="0">
                <a:solidFill>
                  <a:srgbClr val="FF0066"/>
                </a:solidFill>
                <a:latin typeface="Calibri"/>
                <a:cs typeface="Calibri"/>
              </a:rPr>
              <a:t>ạ</a:t>
            </a:r>
            <a:r>
              <a:rPr sz="2400" dirty="0">
                <a:solidFill>
                  <a:srgbClr val="FF0066"/>
                </a:solidFill>
                <a:latin typeface="Gill Sans MT"/>
                <a:cs typeface="Gill Sans MT"/>
              </a:rPr>
              <a:t>i</a:t>
            </a:r>
            <a:r>
              <a:rPr sz="2400" spc="70" dirty="0">
                <a:solidFill>
                  <a:srgbClr val="FF0066"/>
                </a:solidFill>
                <a:latin typeface="Gill Sans MT"/>
                <a:cs typeface="Gill Sans MT"/>
              </a:rPr>
              <a:t> </a:t>
            </a:r>
            <a:r>
              <a:rPr sz="2400" spc="-20" dirty="0">
                <a:solidFill>
                  <a:srgbClr val="FF0066"/>
                </a:solidFill>
                <a:latin typeface="Gill Sans MT"/>
                <a:cs typeface="Gill Sans MT"/>
              </a:rPr>
              <a:t>lai</a:t>
            </a:r>
            <a:r>
              <a:rPr sz="2400" spc="-20" dirty="0">
                <a:latin typeface="Gill Sans MT"/>
                <a:cs typeface="Gill Sans MT"/>
              </a:rPr>
              <a:t>, </a:t>
            </a:r>
            <a:r>
              <a:rPr sz="2400" dirty="0">
                <a:latin typeface="Gill Sans MT"/>
                <a:cs typeface="Gill Sans MT"/>
              </a:rPr>
              <a:t>ngh</a:t>
            </a:r>
            <a:r>
              <a:rPr sz="2400" dirty="0">
                <a:latin typeface="Calibri"/>
                <a:cs typeface="Calibri"/>
              </a:rPr>
              <a:t>ĩ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là các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trung</a:t>
            </a:r>
            <a:r>
              <a:rPr sz="2400" spc="-10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tâm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ụ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có</a:t>
            </a:r>
            <a:r>
              <a:rPr sz="2400" spc="-10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</a:t>
            </a:r>
            <a:r>
              <a:rPr sz="2400" dirty="0">
                <a:latin typeface="Calibri"/>
                <a:cs typeface="Calibri"/>
              </a:rPr>
              <a:t>ể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dirty="0">
                <a:latin typeface="Calibri"/>
                <a:cs typeface="Calibri"/>
              </a:rPr>
              <a:t>ằ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xa so v</a:t>
            </a:r>
            <a:r>
              <a:rPr sz="2400" dirty="0">
                <a:latin typeface="Calibri"/>
                <a:cs typeface="Calibri"/>
              </a:rPr>
              <a:t>ớ</a:t>
            </a:r>
            <a:r>
              <a:rPr sz="2400" dirty="0">
                <a:latin typeface="Gill Sans MT"/>
                <a:cs typeface="Gill Sans MT"/>
              </a:rPr>
              <a:t>i trung</a:t>
            </a:r>
            <a:r>
              <a:rPr sz="2400" spc="-100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tâm </a:t>
            </a:r>
            <a:r>
              <a:rPr sz="2400" dirty="0">
                <a:latin typeface="Gill Sans MT"/>
                <a:cs typeface="Gill Sans MT"/>
              </a:rPr>
              <a:t>th</a:t>
            </a:r>
            <a:r>
              <a:rPr sz="2400" dirty="0">
                <a:latin typeface="Calibri"/>
                <a:cs typeface="Calibri"/>
              </a:rPr>
              <a:t>ự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ủ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0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c</a:t>
            </a:r>
            <a:r>
              <a:rPr sz="2400" spc="-20" dirty="0">
                <a:latin typeface="Calibri"/>
                <a:cs typeface="Calibri"/>
              </a:rPr>
              <a:t>ụ</a:t>
            </a:r>
            <a:r>
              <a:rPr sz="2400" spc="-20" dirty="0">
                <a:latin typeface="Gill Sans MT"/>
                <a:cs typeface="Gill Sans MT"/>
              </a:rPr>
              <a:t>m.</a:t>
            </a:r>
            <a:endParaRPr sz="2400" dirty="0">
              <a:latin typeface="Gill Sans MT"/>
              <a:cs typeface="Gill Sans MT"/>
            </a:endParaRPr>
          </a:p>
          <a:p>
            <a:pPr marL="419100" marR="611505" indent="-342900">
              <a:lnSpc>
                <a:spcPts val="2600"/>
              </a:lnSpc>
              <a:spcBef>
                <a:spcPts val="600"/>
              </a:spcBef>
              <a:buFont typeface="Arial"/>
              <a:buChar char="•"/>
              <a:tabLst>
                <a:tab pos="419100" algn="l"/>
              </a:tabLst>
            </a:pPr>
            <a:r>
              <a:rPr sz="2400" dirty="0">
                <a:latin typeface="Gill Sans MT"/>
                <a:cs typeface="Gill Sans MT"/>
              </a:rPr>
              <a:t>Có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nhi</a:t>
            </a:r>
            <a:r>
              <a:rPr sz="2400" dirty="0">
                <a:latin typeface="Calibri"/>
                <a:cs typeface="Calibri"/>
              </a:rPr>
              <a:t>ề</a:t>
            </a:r>
            <a:r>
              <a:rPr sz="2400" dirty="0">
                <a:latin typeface="Gill Sans MT"/>
                <a:cs typeface="Gill Sans MT"/>
              </a:rPr>
              <a:t>u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ả</a:t>
            </a:r>
            <a:r>
              <a:rPr sz="2400" dirty="0">
                <a:latin typeface="Gill Sans MT"/>
                <a:cs typeface="Gill Sans MT"/>
              </a:rPr>
              <a:t>i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ti</a:t>
            </a:r>
            <a:r>
              <a:rPr sz="2400" spc="-10" dirty="0">
                <a:latin typeface="Calibri"/>
                <a:cs typeface="Calibri"/>
              </a:rPr>
              <a:t>ế</a:t>
            </a:r>
            <a:r>
              <a:rPr sz="2400" spc="-10" dirty="0">
                <a:latin typeface="Gill Sans MT"/>
                <a:cs typeface="Gill Sans MT"/>
              </a:rPr>
              <a:t>n:</a:t>
            </a:r>
            <a:r>
              <a:rPr sz="2400" spc="-2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Phân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ụ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</a:t>
            </a:r>
            <a:r>
              <a:rPr sz="2400" dirty="0">
                <a:latin typeface="Calibri"/>
                <a:cs typeface="Calibri"/>
              </a:rPr>
              <a:t>ự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trên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xác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su</a:t>
            </a:r>
            <a:r>
              <a:rPr sz="2400" dirty="0">
                <a:latin typeface="Calibri"/>
                <a:cs typeface="Calibri"/>
              </a:rPr>
              <a:t>ấ</a:t>
            </a:r>
            <a:r>
              <a:rPr sz="2400" dirty="0">
                <a:latin typeface="Gill Sans MT"/>
                <a:cs typeface="Gill Sans MT"/>
              </a:rPr>
              <a:t>t</a:t>
            </a:r>
            <a:r>
              <a:rPr sz="2400" spc="8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(keller, </a:t>
            </a:r>
            <a:r>
              <a:rPr sz="2400" dirty="0">
                <a:latin typeface="Gill Sans MT"/>
                <a:cs typeface="Gill Sans MT"/>
              </a:rPr>
              <a:t>1993),</a:t>
            </a:r>
            <a:r>
              <a:rPr sz="2400" spc="-2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phân</a:t>
            </a:r>
            <a:r>
              <a:rPr sz="2400" spc="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ụ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spc="-114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nhi</a:t>
            </a:r>
            <a:r>
              <a:rPr sz="2400" dirty="0">
                <a:latin typeface="Calibri"/>
                <a:cs typeface="Calibri"/>
              </a:rPr>
              <a:t>ễ</a:t>
            </a:r>
            <a:r>
              <a:rPr sz="2400" dirty="0">
                <a:latin typeface="Gill Sans MT"/>
                <a:cs typeface="Gill Sans MT"/>
              </a:rPr>
              <a:t>u</a:t>
            </a:r>
            <a:r>
              <a:rPr sz="2400" spc="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dirty="0">
                <a:latin typeface="Calibri"/>
                <a:cs typeface="Calibri"/>
              </a:rPr>
              <a:t>ờ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30" dirty="0">
                <a:latin typeface="Gill Sans MT"/>
                <a:cs typeface="Gill Sans MT"/>
              </a:rPr>
              <a:t>(Dave,</a:t>
            </a:r>
            <a:r>
              <a:rPr sz="2400" spc="-19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1991),</a:t>
            </a:r>
            <a:r>
              <a:rPr sz="2400" spc="-29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Phân</a:t>
            </a:r>
            <a:r>
              <a:rPr sz="2400" spc="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dirty="0">
                <a:latin typeface="Calibri"/>
                <a:cs typeface="Calibri"/>
              </a:rPr>
              <a:t>ụ</a:t>
            </a:r>
            <a:r>
              <a:rPr sz="2400" dirty="0">
                <a:latin typeface="Gill Sans MT"/>
                <a:cs typeface="Gill Sans MT"/>
              </a:rPr>
              <a:t>m</a:t>
            </a:r>
            <a:r>
              <a:rPr sz="2400" spc="-114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d</a:t>
            </a:r>
            <a:r>
              <a:rPr sz="2400" spc="-25" dirty="0">
                <a:latin typeface="Calibri"/>
                <a:cs typeface="Calibri"/>
              </a:rPr>
              <a:t>ự</a:t>
            </a:r>
            <a:r>
              <a:rPr sz="2400" spc="-25" dirty="0">
                <a:latin typeface="Gill Sans MT"/>
                <a:cs typeface="Gill Sans MT"/>
              </a:rPr>
              <a:t>a </a:t>
            </a:r>
            <a:r>
              <a:rPr sz="2400" dirty="0">
                <a:latin typeface="Gill Sans MT"/>
                <a:cs typeface="Gill Sans MT"/>
              </a:rPr>
              <a:t>trên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toán t</a:t>
            </a:r>
            <a:r>
              <a:rPr sz="2400" dirty="0">
                <a:latin typeface="Calibri"/>
                <a:cs typeface="Calibri"/>
              </a:rPr>
              <a:t>ử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Gill Sans MT"/>
                <a:cs typeface="Gill Sans MT"/>
              </a:rPr>
              <a:t>L</a:t>
            </a:r>
            <a:r>
              <a:rPr sz="2400" baseline="-17361" dirty="0">
                <a:latin typeface="Gill Sans MT"/>
                <a:cs typeface="Gill Sans MT"/>
              </a:rPr>
              <a:t>P</a:t>
            </a:r>
            <a:r>
              <a:rPr sz="2400" spc="165" baseline="-17361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Norm</a:t>
            </a:r>
            <a:r>
              <a:rPr sz="2400" spc="-50" dirty="0">
                <a:latin typeface="Gill Sans MT"/>
                <a:cs typeface="Gill Sans MT"/>
              </a:rPr>
              <a:t> </a:t>
            </a:r>
            <a:r>
              <a:rPr sz="2400" spc="-30" dirty="0">
                <a:latin typeface="Gill Sans MT"/>
                <a:cs typeface="Gill Sans MT"/>
              </a:rPr>
              <a:t>(Kersten,</a:t>
            </a:r>
            <a:r>
              <a:rPr sz="2400" spc="-2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1999).</a:t>
            </a:r>
            <a:r>
              <a:rPr sz="2400" spc="-4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Thu</a:t>
            </a:r>
            <a:r>
              <a:rPr sz="2400" dirty="0">
                <a:latin typeface="Calibri"/>
                <a:cs typeface="Calibri"/>
              </a:rPr>
              <a:t>ậ</a:t>
            </a:r>
            <a:r>
              <a:rPr sz="2400" dirty="0">
                <a:latin typeface="Gill Sans MT"/>
                <a:cs typeface="Gill Sans MT"/>
              </a:rPr>
              <a:t>t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toán </a:t>
            </a:r>
            <a:r>
              <a:rPr sz="2400" spc="-35" dirty="0">
                <a:latin typeface="Symbol"/>
                <a:cs typeface="Symbol"/>
              </a:rPr>
              <a:t></a:t>
            </a:r>
            <a:r>
              <a:rPr sz="2400" spc="-35" dirty="0">
                <a:latin typeface="Gill Sans MT"/>
                <a:cs typeface="Gill Sans MT"/>
              </a:rPr>
              <a:t>- </a:t>
            </a:r>
            <a:r>
              <a:rPr sz="2400" dirty="0">
                <a:latin typeface="Gill Sans MT"/>
                <a:cs typeface="Gill Sans MT"/>
              </a:rPr>
              <a:t>Insensitive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Fuzzy</a:t>
            </a:r>
            <a:r>
              <a:rPr sz="2400" spc="-114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C-</a:t>
            </a:r>
            <a:r>
              <a:rPr sz="2400" dirty="0">
                <a:latin typeface="Gill Sans MT"/>
                <a:cs typeface="Gill Sans MT"/>
              </a:rPr>
              <a:t>means</a:t>
            </a:r>
            <a:r>
              <a:rPr sz="2400" spc="-8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(</a:t>
            </a:r>
            <a:r>
              <a:rPr sz="2400" spc="-10" dirty="0">
                <a:latin typeface="Symbol"/>
                <a:cs typeface="Symbol"/>
              </a:rPr>
              <a:t></a:t>
            </a:r>
            <a:r>
              <a:rPr sz="2400" spc="-10" dirty="0">
                <a:latin typeface="Gill Sans MT"/>
                <a:cs typeface="Gill Sans MT"/>
              </a:rPr>
              <a:t>FCM).</a:t>
            </a:r>
            <a:endParaRPr sz="2400" dirty="0">
              <a:latin typeface="Gill Sans MT"/>
              <a:cs typeface="Gill Sans MT"/>
            </a:endParaRPr>
          </a:p>
          <a:p>
            <a:pPr>
              <a:spcBef>
                <a:spcPts val="545"/>
              </a:spcBef>
              <a:buFont typeface="Arial"/>
              <a:buChar char="•"/>
            </a:pPr>
            <a:endParaRPr sz="2400" dirty="0">
              <a:latin typeface="Gill Sans MT"/>
              <a:cs typeface="Gill Sans MT"/>
            </a:endParaRPr>
          </a:p>
          <a:p>
            <a:pPr marL="418465" indent="-342265">
              <a:buSzPct val="97959"/>
              <a:buFont typeface="Arial"/>
              <a:buChar char="•"/>
              <a:tabLst>
                <a:tab pos="418465" algn="l"/>
              </a:tabLst>
            </a:pPr>
            <a:r>
              <a:rPr sz="2400" i="1" dirty="0" err="1">
                <a:solidFill>
                  <a:srgbClr val="FF9900"/>
                </a:solidFill>
                <a:latin typeface="Gill Sans MT Italic"/>
                <a:cs typeface="Gill Sans MT Italic"/>
              </a:rPr>
              <a:t>Đi</a:t>
            </a:r>
            <a:r>
              <a:rPr sz="2400" i="1" spc="-65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sâu</a:t>
            </a:r>
            <a:r>
              <a:rPr sz="2400" i="1" spc="-4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vào</a:t>
            </a:r>
            <a:r>
              <a:rPr sz="2400" i="1" spc="1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hai</a:t>
            </a:r>
            <a:r>
              <a:rPr sz="2400" i="1" spc="-65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thu</a:t>
            </a:r>
            <a:r>
              <a:rPr sz="2400" i="1" dirty="0">
                <a:solidFill>
                  <a:srgbClr val="FF9900"/>
                </a:solidFill>
                <a:latin typeface="Calibri"/>
                <a:cs typeface="Calibri"/>
              </a:rPr>
              <a:t>ậ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t</a:t>
            </a:r>
            <a:r>
              <a:rPr sz="2400" i="1" spc="1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toán</a:t>
            </a:r>
            <a:r>
              <a:rPr sz="2400" i="1" spc="-4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FCM</a:t>
            </a:r>
            <a:r>
              <a:rPr sz="2400" i="1" spc="-6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00" i="1" dirty="0">
                <a:solidFill>
                  <a:srgbClr val="FF9900"/>
                </a:solidFill>
                <a:latin typeface="Gill Sans MT Italic"/>
                <a:cs typeface="Gill Sans MT Italic"/>
              </a:rPr>
              <a:t>và</a:t>
            </a:r>
            <a:r>
              <a:rPr sz="2400" i="1" spc="-40" dirty="0">
                <a:solidFill>
                  <a:srgbClr val="FF9900"/>
                </a:solidFill>
                <a:latin typeface="Gill Sans MT Italic"/>
                <a:cs typeface="Gill Sans MT Italic"/>
              </a:rPr>
              <a:t> </a:t>
            </a:r>
            <a:r>
              <a:rPr sz="2450" i="1" spc="-20" dirty="0">
                <a:solidFill>
                  <a:srgbClr val="FF9900"/>
                </a:solidFill>
                <a:latin typeface="Symbol"/>
                <a:cs typeface="Symbol"/>
              </a:rPr>
              <a:t></a:t>
            </a:r>
            <a:r>
              <a:rPr sz="2400" i="1" spc="-20" dirty="0">
                <a:solidFill>
                  <a:srgbClr val="FF9900"/>
                </a:solidFill>
                <a:latin typeface="Gill Sans MT Italic"/>
                <a:cs typeface="Gill Sans MT Italic"/>
              </a:rPr>
              <a:t>FCM</a:t>
            </a:r>
            <a:endParaRPr sz="2400" dirty="0">
              <a:latin typeface="Gill Sans MT Italic"/>
              <a:cs typeface="Gill Sans MT It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200" y="1638300"/>
            <a:ext cx="7950200" cy="4978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30" dirty="0"/>
              <a:t> </a:t>
            </a:r>
            <a:r>
              <a:rPr spc="-25" dirty="0"/>
              <a:t>m</a:t>
            </a:r>
            <a:r>
              <a:rPr spc="-25" dirty="0">
                <a:latin typeface="Calibri"/>
                <a:cs typeface="Calibri"/>
              </a:rPr>
              <a:t>ờ</a:t>
            </a:r>
            <a:r>
              <a:rPr spc="-25" dirty="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311399"/>
            <a:ext cx="7899398" cy="387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30" dirty="0"/>
              <a:t> </a:t>
            </a:r>
            <a:r>
              <a:rPr spc="-25" dirty="0"/>
              <a:t>m</a:t>
            </a:r>
            <a:r>
              <a:rPr spc="-25" dirty="0">
                <a:latin typeface="Calibri"/>
                <a:cs typeface="Calibri"/>
              </a:rPr>
              <a:t>ờ</a:t>
            </a:r>
            <a:r>
              <a:rPr spc="-25" dirty="0"/>
              <a:t>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59941" y="1607820"/>
            <a:ext cx="359282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Ướ</a:t>
            </a:r>
            <a:r>
              <a:rPr sz="3200" dirty="0">
                <a:latin typeface="Gill Sans MT"/>
                <a:cs typeface="Gill Sans MT"/>
              </a:rPr>
              <a:t>c</a:t>
            </a:r>
            <a:r>
              <a:rPr sz="3200" spc="-10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l</a:t>
            </a:r>
            <a:r>
              <a:rPr sz="3200" dirty="0">
                <a:latin typeface="Calibri"/>
                <a:cs typeface="Calibri"/>
              </a:rPr>
              <a:t>ượ</a:t>
            </a:r>
            <a:r>
              <a:rPr sz="3200" dirty="0">
                <a:latin typeface="Gill Sans MT"/>
                <a:cs typeface="Gill Sans MT"/>
              </a:rPr>
              <a:t>ng</a:t>
            </a:r>
            <a:r>
              <a:rPr sz="3200" spc="-7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tr</a:t>
            </a:r>
            <a:r>
              <a:rPr sz="3200" dirty="0">
                <a:latin typeface="Calibri"/>
                <a:cs typeface="Calibri"/>
              </a:rPr>
              <a:t>ọ</a:t>
            </a:r>
            <a:r>
              <a:rPr sz="3200" dirty="0">
                <a:latin typeface="Gill Sans MT"/>
                <a:cs typeface="Gill Sans MT"/>
              </a:rPr>
              <a:t>ng</a:t>
            </a:r>
            <a:r>
              <a:rPr sz="3200" spc="-70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s</a:t>
            </a:r>
            <a:r>
              <a:rPr sz="3200" spc="-25" dirty="0">
                <a:latin typeface="Calibri"/>
                <a:cs typeface="Calibri"/>
              </a:rPr>
              <a:t>ố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6599" y="1371600"/>
            <a:ext cx="7988298" cy="4648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59941" y="403541"/>
            <a:ext cx="106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spc="-25" dirty="0">
                <a:solidFill>
                  <a:srgbClr val="0B1AE3"/>
                </a:solidFill>
                <a:latin typeface="Gill Sans MT Bold"/>
                <a:cs typeface="Gill Sans MT Bold"/>
              </a:rPr>
              <a:t>FCM</a:t>
            </a:r>
            <a:endParaRPr sz="3600">
              <a:latin typeface="Gill Sans MT Bold"/>
              <a:cs typeface="Gill Sans MT Bold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2800" y="2273300"/>
            <a:ext cx="7670800" cy="402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78141"/>
            <a:ext cx="10515600" cy="899530"/>
          </a:xfrm>
          <a:prstGeom prst="rect">
            <a:avLst/>
          </a:prstGeom>
        </p:spPr>
        <p:txBody>
          <a:bodyPr vert="horz" wrap="square" lIns="0" tIns="2202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FCM…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59941" y="1607820"/>
            <a:ext cx="1321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Ví</a:t>
            </a:r>
            <a:r>
              <a:rPr sz="3200" spc="-5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d</a:t>
            </a:r>
            <a:r>
              <a:rPr sz="3200" spc="-25" dirty="0">
                <a:latin typeface="Calibri"/>
                <a:cs typeface="Calibri"/>
              </a:rPr>
              <a:t>ụ</a:t>
            </a:r>
            <a:r>
              <a:rPr sz="3200" spc="-25" dirty="0">
                <a:latin typeface="Gill Sans MT"/>
                <a:cs typeface="Gill Sans MT"/>
              </a:rPr>
              <a:t>:</a:t>
            </a:r>
            <a:endParaRPr sz="3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600" y="1676400"/>
            <a:ext cx="7581900" cy="5130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78141"/>
            <a:ext cx="10515600" cy="899530"/>
          </a:xfrm>
          <a:prstGeom prst="rect">
            <a:avLst/>
          </a:prstGeom>
        </p:spPr>
        <p:txBody>
          <a:bodyPr vert="horz" wrap="square" lIns="0" tIns="2202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FCM…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78141"/>
            <a:ext cx="10515600" cy="899530"/>
          </a:xfrm>
          <a:prstGeom prst="rect">
            <a:avLst/>
          </a:prstGeom>
        </p:spPr>
        <p:txBody>
          <a:bodyPr vert="horz" wrap="square" lIns="0" tIns="2202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FCM…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88541" y="1950720"/>
            <a:ext cx="466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Gill Sans MT"/>
                <a:cs typeface="Gill Sans MT"/>
              </a:rPr>
              <a:t>Mô</a:t>
            </a:r>
            <a:r>
              <a:rPr spc="-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ph</a:t>
            </a:r>
            <a:r>
              <a:rPr dirty="0">
                <a:latin typeface="Calibri"/>
                <a:cs typeface="Calibri"/>
              </a:rPr>
              <a:t>ỏ</a:t>
            </a:r>
            <a:r>
              <a:rPr dirty="0">
                <a:latin typeface="Gill Sans MT"/>
                <a:cs typeface="Gill Sans MT"/>
              </a:rPr>
              <a:t>ng</a:t>
            </a:r>
            <a:r>
              <a:rPr spc="2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các</a:t>
            </a:r>
            <a:r>
              <a:rPr spc="-9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>
                <a:latin typeface="Gill Sans MT"/>
                <a:cs typeface="Gill Sans MT"/>
              </a:rPr>
              <a:t>m</a:t>
            </a:r>
            <a:r>
              <a:rPr spc="10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khám</a:t>
            </a:r>
            <a:r>
              <a:rPr spc="-10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phá</a:t>
            </a:r>
            <a:r>
              <a:rPr spc="-7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đ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spc="10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theo</a:t>
            </a:r>
            <a:r>
              <a:rPr spc="-105" dirty="0">
                <a:latin typeface="Gill Sans MT"/>
                <a:cs typeface="Gill Sans MT"/>
              </a:rPr>
              <a:t> </a:t>
            </a:r>
            <a:r>
              <a:rPr spc="-185" dirty="0">
                <a:latin typeface="Gill Sans MT"/>
                <a:cs typeface="Gill Sans MT"/>
              </a:rPr>
              <a:t>FCM:</a:t>
            </a:r>
            <a:endParaRPr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541" y="4414520"/>
            <a:ext cx="720026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>
              <a:spcBef>
                <a:spcPts val="100"/>
              </a:spcBef>
            </a:pP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Hình</a:t>
            </a:r>
            <a:r>
              <a:rPr sz="1600" b="1" spc="-50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25:</a:t>
            </a:r>
            <a:r>
              <a:rPr sz="1600" b="1" spc="-180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Các</a:t>
            </a:r>
            <a:r>
              <a:rPr sz="1600" b="1" spc="-2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c</a:t>
            </a:r>
            <a:r>
              <a:rPr sz="1600" b="1" dirty="0">
                <a:solidFill>
                  <a:srgbClr val="FF9900"/>
                </a:solidFill>
                <a:latin typeface="Calibri"/>
                <a:cs typeface="Calibri"/>
              </a:rPr>
              <a:t>ụ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m</a:t>
            </a:r>
            <a:r>
              <a:rPr sz="1600" b="1" spc="-5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khám</a:t>
            </a:r>
            <a:r>
              <a:rPr sz="1600" b="1" spc="2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phá</a:t>
            </a:r>
            <a:r>
              <a:rPr sz="1600" b="1" spc="-70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đ</a:t>
            </a:r>
            <a:r>
              <a:rPr sz="1600" b="1" dirty="0">
                <a:solidFill>
                  <a:srgbClr val="FF9900"/>
                </a:solidFill>
                <a:latin typeface="Calibri"/>
                <a:cs typeface="Calibri"/>
              </a:rPr>
              <a:t>ượ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c</a:t>
            </a:r>
            <a:r>
              <a:rPr sz="1600" b="1" spc="5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b</a:t>
            </a:r>
            <a:r>
              <a:rPr sz="1600" b="1" dirty="0">
                <a:solidFill>
                  <a:srgbClr val="FF9900"/>
                </a:solidFill>
                <a:latin typeface="Calibri"/>
                <a:cs typeface="Calibri"/>
              </a:rPr>
              <a:t>ở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i</a:t>
            </a:r>
            <a:r>
              <a:rPr sz="1600" b="1" spc="-5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thu</a:t>
            </a:r>
            <a:r>
              <a:rPr sz="1600" b="1" dirty="0">
                <a:solidFill>
                  <a:srgbClr val="FF9900"/>
                </a:solidFill>
                <a:latin typeface="Calibri"/>
                <a:cs typeface="Calibri"/>
              </a:rPr>
              <a:t>ậ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t</a:t>
            </a:r>
            <a:r>
              <a:rPr sz="1600" b="1" spc="1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toán</a:t>
            </a:r>
            <a:r>
              <a:rPr sz="1600" b="1" spc="2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phân</a:t>
            </a:r>
            <a:r>
              <a:rPr sz="1600" b="1" spc="25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c</a:t>
            </a:r>
            <a:r>
              <a:rPr sz="1600" b="1" dirty="0">
                <a:solidFill>
                  <a:srgbClr val="FF9900"/>
                </a:solidFill>
                <a:latin typeface="Calibri"/>
                <a:cs typeface="Calibri"/>
              </a:rPr>
              <a:t>ụ</a:t>
            </a:r>
            <a:r>
              <a:rPr sz="1600" b="1" dirty="0">
                <a:solidFill>
                  <a:srgbClr val="FF9900"/>
                </a:solidFill>
                <a:latin typeface="Gill Sans MT Bold"/>
                <a:cs typeface="Gill Sans MT Bold"/>
              </a:rPr>
              <a:t>m</a:t>
            </a:r>
            <a:r>
              <a:rPr sz="1600" b="1" spc="-110" dirty="0">
                <a:solidFill>
                  <a:srgbClr val="FF9900"/>
                </a:solidFill>
                <a:latin typeface="Gill Sans MT Bold"/>
                <a:cs typeface="Gill Sans MT Bold"/>
              </a:rPr>
              <a:t> </a:t>
            </a:r>
            <a:r>
              <a:rPr sz="1600" b="1" spc="-25" dirty="0">
                <a:solidFill>
                  <a:srgbClr val="FF9900"/>
                </a:solidFill>
                <a:latin typeface="Gill Sans MT Bold"/>
                <a:cs typeface="Gill Sans MT Bold"/>
              </a:rPr>
              <a:t>m</a:t>
            </a:r>
            <a:r>
              <a:rPr sz="1600" b="1" spc="-25" dirty="0">
                <a:solidFill>
                  <a:srgbClr val="FF9900"/>
                </a:solidFill>
                <a:latin typeface="Calibri"/>
                <a:cs typeface="Calibri"/>
              </a:rPr>
              <a:t>ờ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ts val="2130"/>
              </a:lnSpc>
              <a:spcBef>
                <a:spcPts val="8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Gill Sans MT"/>
                <a:cs typeface="Gill Sans MT"/>
              </a:rPr>
              <a:t>Đ</a:t>
            </a:r>
            <a:r>
              <a:rPr dirty="0">
                <a:latin typeface="Calibri"/>
                <a:cs typeface="Calibri"/>
              </a:rPr>
              <a:t>ộ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Gill Sans MT"/>
                <a:cs typeface="Gill Sans MT"/>
              </a:rPr>
              <a:t>ph</a:t>
            </a:r>
            <a:r>
              <a:rPr dirty="0">
                <a:latin typeface="Calibri"/>
                <a:cs typeface="Calibri"/>
              </a:rPr>
              <a:t>ứ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spc="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t</a:t>
            </a:r>
            <a:r>
              <a:rPr dirty="0">
                <a:latin typeface="Calibri"/>
                <a:cs typeface="Calibri"/>
              </a:rPr>
              <a:t>ạ</a:t>
            </a:r>
            <a:r>
              <a:rPr dirty="0">
                <a:latin typeface="Gill Sans MT"/>
                <a:cs typeface="Gill Sans MT"/>
              </a:rPr>
              <a:t>p</a:t>
            </a:r>
            <a:r>
              <a:rPr spc="-10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>
                <a:latin typeface="Gill Sans MT"/>
                <a:cs typeface="Gill Sans MT"/>
              </a:rPr>
              <a:t>a</a:t>
            </a:r>
            <a:r>
              <a:rPr spc="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FCM</a:t>
            </a:r>
            <a:r>
              <a:rPr spc="9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ũ</a:t>
            </a:r>
            <a:r>
              <a:rPr dirty="0">
                <a:latin typeface="Gill Sans MT"/>
                <a:cs typeface="Gill Sans MT"/>
              </a:rPr>
              <a:t>ng</a:t>
            </a:r>
            <a:r>
              <a:rPr spc="3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nh</a:t>
            </a:r>
            <a:r>
              <a:rPr dirty="0">
                <a:latin typeface="Calibri"/>
                <a:cs typeface="Calibri"/>
              </a:rPr>
              <a:t>ư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Gill Sans MT"/>
                <a:cs typeface="Gill Sans MT"/>
              </a:rPr>
              <a:t>k-means</a:t>
            </a:r>
            <a:r>
              <a:rPr spc="-19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là</a:t>
            </a:r>
            <a:r>
              <a:rPr spc="30" dirty="0">
                <a:latin typeface="Gill Sans MT"/>
                <a:cs typeface="Gill Sans MT"/>
              </a:rPr>
              <a:t> </a:t>
            </a:r>
            <a:r>
              <a:rPr spc="-10" dirty="0">
                <a:solidFill>
                  <a:srgbClr val="FF0066"/>
                </a:solidFill>
                <a:latin typeface="Gill Sans MT"/>
                <a:cs typeface="Gill Sans MT"/>
              </a:rPr>
              <a:t>O(Ikn)</a:t>
            </a:r>
            <a:r>
              <a:rPr spc="-10" dirty="0">
                <a:latin typeface="Gill Sans MT"/>
                <a:cs typeface="Gill Sans MT"/>
              </a:rPr>
              <a:t>.</a:t>
            </a:r>
            <a:endParaRPr>
              <a:latin typeface="Gill Sans MT"/>
              <a:cs typeface="Gill Sans MT"/>
            </a:endParaRPr>
          </a:p>
          <a:p>
            <a:pPr marL="354965" indent="-342265">
              <a:lnSpc>
                <a:spcPts val="2130"/>
              </a:lnSpc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Gill Sans MT"/>
                <a:cs typeface="Gill Sans MT"/>
              </a:rPr>
              <a:t>FCM</a:t>
            </a:r>
            <a:r>
              <a:rPr spc="-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là</a:t>
            </a:r>
            <a:r>
              <a:rPr spc="2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m</a:t>
            </a:r>
            <a:r>
              <a:rPr dirty="0">
                <a:latin typeface="Calibri"/>
                <a:cs typeface="Calibri"/>
              </a:rPr>
              <a:t>ở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dirty="0">
                <a:latin typeface="Gill Sans MT"/>
                <a:cs typeface="Gill Sans MT"/>
              </a:rPr>
              <a:t>r</a:t>
            </a:r>
            <a:r>
              <a:rPr dirty="0">
                <a:latin typeface="Calibri"/>
                <a:cs typeface="Calibri"/>
              </a:rPr>
              <a:t>ộ</a:t>
            </a:r>
            <a:r>
              <a:rPr dirty="0">
                <a:latin typeface="Gill Sans MT"/>
                <a:cs typeface="Gill Sans MT"/>
              </a:rPr>
              <a:t>ng</a:t>
            </a:r>
            <a:r>
              <a:rPr spc="2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>
                <a:latin typeface="Gill Sans MT"/>
                <a:cs typeface="Gill Sans MT"/>
              </a:rPr>
              <a:t>a</a:t>
            </a:r>
            <a:r>
              <a:rPr spc="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k-means</a:t>
            </a:r>
            <a:r>
              <a:rPr spc="-9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nh</a:t>
            </a:r>
            <a:r>
              <a:rPr dirty="0">
                <a:latin typeface="Calibri"/>
                <a:cs typeface="Calibri"/>
              </a:rPr>
              <a:t>ằ</a:t>
            </a:r>
            <a:r>
              <a:rPr dirty="0">
                <a:latin typeface="Gill Sans MT"/>
                <a:cs typeface="Gill Sans MT"/>
              </a:rPr>
              <a:t>m</a:t>
            </a:r>
            <a:r>
              <a:rPr spc="-9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khám</a:t>
            </a:r>
            <a:r>
              <a:rPr spc="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phá</a:t>
            </a:r>
            <a:r>
              <a:rPr spc="-7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ra</a:t>
            </a:r>
            <a:r>
              <a:rPr spc="3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các</a:t>
            </a:r>
            <a:r>
              <a:rPr spc="-9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>
                <a:latin typeface="Gill Sans MT"/>
                <a:cs typeface="Gill Sans MT"/>
              </a:rPr>
              <a:t>m</a:t>
            </a:r>
            <a:r>
              <a:rPr spc="1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ch</a:t>
            </a:r>
            <a:r>
              <a:rPr dirty="0">
                <a:latin typeface="Calibri"/>
                <a:cs typeface="Calibri"/>
              </a:rPr>
              <a:t>ồ</a:t>
            </a:r>
            <a:r>
              <a:rPr dirty="0">
                <a:latin typeface="Gill Sans MT"/>
                <a:cs typeface="Gill Sans MT"/>
              </a:rPr>
              <a:t>ng</a:t>
            </a:r>
            <a:r>
              <a:rPr spc="2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lên</a:t>
            </a:r>
            <a:r>
              <a:rPr spc="-105" dirty="0">
                <a:latin typeface="Gill Sans MT"/>
                <a:cs typeface="Gill Sans MT"/>
              </a:rPr>
              <a:t> </a:t>
            </a:r>
            <a:r>
              <a:rPr spc="-10" dirty="0">
                <a:latin typeface="Gill Sans MT"/>
                <a:cs typeface="Gill Sans MT"/>
              </a:rPr>
              <a:t>nhau.</a:t>
            </a:r>
            <a:endParaRPr>
              <a:latin typeface="Gill Sans MT"/>
              <a:cs typeface="Gill Sans MT"/>
            </a:endParaRPr>
          </a:p>
          <a:p>
            <a:pPr marL="354965" indent="-342265">
              <a:spcBef>
                <a:spcPts val="4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Gill Sans MT"/>
                <a:cs typeface="Gill Sans MT"/>
              </a:rPr>
              <a:t>FCM</a:t>
            </a:r>
            <a:r>
              <a:rPr spc="-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v</a:t>
            </a:r>
            <a:r>
              <a:rPr dirty="0">
                <a:latin typeface="Calibri"/>
                <a:cs typeface="Calibri"/>
              </a:rPr>
              <a:t>ẫ</a:t>
            </a:r>
            <a:r>
              <a:rPr dirty="0">
                <a:latin typeface="Gill Sans MT"/>
                <a:cs typeface="Gill Sans MT"/>
              </a:rPr>
              <a:t>n</a:t>
            </a:r>
            <a:r>
              <a:rPr spc="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có</a:t>
            </a:r>
            <a:r>
              <a:rPr spc="1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các</a:t>
            </a:r>
            <a:r>
              <a:rPr spc="-8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nh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spc="2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đi</a:t>
            </a:r>
            <a:r>
              <a:rPr dirty="0">
                <a:latin typeface="Calibri"/>
                <a:cs typeface="Calibri"/>
              </a:rPr>
              <a:t>ể</a:t>
            </a:r>
            <a:r>
              <a:rPr dirty="0">
                <a:latin typeface="Gill Sans MT"/>
                <a:cs typeface="Gill Sans MT"/>
              </a:rPr>
              <a:t>m</a:t>
            </a:r>
            <a:r>
              <a:rPr spc="2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>
                <a:latin typeface="Gill Sans MT"/>
                <a:cs typeface="Gill Sans MT"/>
              </a:rPr>
              <a:t>a</a:t>
            </a:r>
            <a:r>
              <a:rPr spc="3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k-means</a:t>
            </a:r>
            <a:r>
              <a:rPr spc="-90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v</a:t>
            </a:r>
            <a:r>
              <a:rPr dirty="0">
                <a:latin typeface="Calibri"/>
                <a:cs typeface="Calibri"/>
              </a:rPr>
              <a:t>ớ</a:t>
            </a:r>
            <a:r>
              <a:rPr dirty="0">
                <a:latin typeface="Gill Sans MT"/>
                <a:cs typeface="Gill Sans MT"/>
              </a:rPr>
              <a:t>i</a:t>
            </a:r>
            <a:r>
              <a:rPr spc="1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các</a:t>
            </a:r>
            <a:r>
              <a:rPr spc="-8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ph</a:t>
            </a:r>
            <a:r>
              <a:rPr dirty="0">
                <a:latin typeface="Calibri"/>
                <a:cs typeface="Calibri"/>
              </a:rPr>
              <a:t>ầ</a:t>
            </a:r>
            <a:r>
              <a:rPr dirty="0">
                <a:latin typeface="Gill Sans MT"/>
                <a:cs typeface="Gill Sans MT"/>
              </a:rPr>
              <a:t>n</a:t>
            </a:r>
            <a:r>
              <a:rPr spc="5" dirty="0">
                <a:latin typeface="Gill Sans MT"/>
                <a:cs typeface="Gill Sans MT"/>
              </a:rPr>
              <a:t> </a:t>
            </a:r>
            <a:r>
              <a:rPr dirty="0">
                <a:latin typeface="Gill Sans MT"/>
                <a:cs typeface="Gill Sans MT"/>
              </a:rPr>
              <a:t>t</a:t>
            </a:r>
            <a:r>
              <a:rPr dirty="0">
                <a:latin typeface="Calibri"/>
                <a:cs typeface="Calibri"/>
              </a:rPr>
              <a:t>ử</a:t>
            </a:r>
            <a:r>
              <a:rPr spc="110" dirty="0">
                <a:latin typeface="Calibri"/>
                <a:cs typeface="Calibri"/>
              </a:rPr>
              <a:t> </a:t>
            </a:r>
            <a:r>
              <a:rPr dirty="0">
                <a:latin typeface="Gill Sans MT"/>
                <a:cs typeface="Gill Sans MT"/>
              </a:rPr>
              <a:t>ngo</a:t>
            </a:r>
            <a:r>
              <a:rPr dirty="0">
                <a:latin typeface="Calibri"/>
                <a:cs typeface="Calibri"/>
              </a:rPr>
              <a:t>ạ</a:t>
            </a:r>
            <a:r>
              <a:rPr dirty="0">
                <a:latin typeface="Gill Sans MT"/>
                <a:cs typeface="Gill Sans MT"/>
              </a:rPr>
              <a:t>i</a:t>
            </a:r>
            <a:r>
              <a:rPr spc="-85" dirty="0">
                <a:latin typeface="Gill Sans MT"/>
                <a:cs typeface="Gill Sans MT"/>
              </a:rPr>
              <a:t> </a:t>
            </a:r>
            <a:r>
              <a:rPr spc="-65" dirty="0">
                <a:latin typeface="Gill Sans MT"/>
                <a:cs typeface="Gill Sans MT"/>
              </a:rPr>
              <a:t>lai/nhi</a:t>
            </a:r>
            <a:r>
              <a:rPr spc="-65" dirty="0">
                <a:latin typeface="Calibri"/>
                <a:cs typeface="Calibri"/>
              </a:rPr>
              <a:t>ế</a:t>
            </a:r>
            <a:r>
              <a:rPr spc="-65" dirty="0">
                <a:latin typeface="Gill Sans MT"/>
                <a:cs typeface="Gill Sans MT"/>
              </a:rPr>
              <a:t>u.</a:t>
            </a:r>
            <a:endParaRPr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500" y="2387600"/>
            <a:ext cx="60325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20" dirty="0"/>
              <a:t> </a:t>
            </a:r>
            <a:r>
              <a:rPr dirty="0"/>
              <a:t>xác</a:t>
            </a:r>
            <a:r>
              <a:rPr spc="-65" dirty="0"/>
              <a:t> </a:t>
            </a:r>
            <a:r>
              <a:rPr spc="-20" dirty="0"/>
              <a:t>su</a:t>
            </a:r>
            <a:r>
              <a:rPr spc="-20" dirty="0">
                <a:latin typeface="Calibri"/>
                <a:cs typeface="Calibri"/>
              </a:rPr>
              <a:t>ấ</a:t>
            </a:r>
            <a:r>
              <a:rPr spc="-20" dirty="0"/>
              <a:t>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300" y="1219200"/>
            <a:ext cx="7899401" cy="481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400" y="1968500"/>
            <a:ext cx="7899400" cy="488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20" dirty="0"/>
              <a:t> </a:t>
            </a:r>
            <a:r>
              <a:rPr dirty="0"/>
              <a:t>xác</a:t>
            </a:r>
            <a:r>
              <a:rPr spc="-65" dirty="0"/>
              <a:t> </a:t>
            </a:r>
            <a:r>
              <a:rPr spc="-20" dirty="0"/>
              <a:t>su</a:t>
            </a:r>
            <a:r>
              <a:rPr spc="-20" dirty="0">
                <a:latin typeface="Calibri"/>
                <a:cs typeface="Calibri"/>
              </a:rPr>
              <a:t>ấ</a:t>
            </a:r>
            <a:r>
              <a:rPr spc="-20" dirty="0"/>
              <a:t>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40021" y="1323009"/>
            <a:ext cx="402462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D</a:t>
            </a:r>
            <a:r>
              <a:rPr sz="3200" dirty="0">
                <a:latin typeface="Calibri"/>
                <a:cs typeface="Calibri"/>
              </a:rPr>
              <a:t>ự</a:t>
            </a:r>
            <a:r>
              <a:rPr sz="3200" dirty="0">
                <a:latin typeface="Gill Sans MT"/>
                <a:cs typeface="Gill Sans MT"/>
              </a:rPr>
              <a:t>a</a:t>
            </a:r>
            <a:r>
              <a:rPr sz="3200" spc="7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vào</a:t>
            </a:r>
            <a:r>
              <a:rPr sz="3200" spc="-4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tr</a:t>
            </a:r>
            <a:r>
              <a:rPr sz="3200" dirty="0">
                <a:latin typeface="Calibri"/>
                <a:cs typeface="Calibri"/>
              </a:rPr>
              <a:t>ộ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-6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phân</a:t>
            </a:r>
            <a:r>
              <a:rPr sz="3200" spc="-70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b</a:t>
            </a:r>
            <a:r>
              <a:rPr sz="3200" spc="-25" dirty="0">
                <a:latin typeface="Calibri"/>
                <a:cs typeface="Calibri"/>
              </a:rPr>
              <a:t>ố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9300" y="1803400"/>
            <a:ext cx="7315200" cy="502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20" dirty="0"/>
              <a:t> </a:t>
            </a:r>
            <a:r>
              <a:rPr dirty="0"/>
              <a:t>xác</a:t>
            </a:r>
            <a:r>
              <a:rPr spc="-65" dirty="0"/>
              <a:t> </a:t>
            </a:r>
            <a:r>
              <a:rPr spc="-10" dirty="0"/>
              <a:t>su</a:t>
            </a:r>
            <a:r>
              <a:rPr spc="-10" dirty="0">
                <a:latin typeface="Calibri"/>
                <a:cs typeface="Calibri"/>
              </a:rPr>
              <a:t>ấ</a:t>
            </a:r>
            <a:r>
              <a:rPr spc="-10" dirty="0"/>
              <a:t>t…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40021" y="1323009"/>
            <a:ext cx="12299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Ví</a:t>
            </a:r>
            <a:r>
              <a:rPr sz="3200" spc="-5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d</a:t>
            </a:r>
            <a:r>
              <a:rPr sz="3200" spc="-25" dirty="0">
                <a:latin typeface="Calibri"/>
                <a:cs typeface="Calibri"/>
              </a:rPr>
              <a:t>ụ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397000"/>
            <a:ext cx="8229598" cy="520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584555"/>
            <a:ext cx="10515600" cy="886705"/>
          </a:xfrm>
          <a:prstGeom prst="rect">
            <a:avLst/>
          </a:prstGeom>
        </p:spPr>
        <p:txBody>
          <a:bodyPr vert="horz" wrap="square" lIns="0" tIns="207570" rIns="0" bIns="0" rtlCol="0" anchor="ctr">
            <a:spAutoFit/>
          </a:bodyPr>
          <a:lstStyle/>
          <a:p>
            <a:pPr marL="417195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 xác</a:t>
            </a:r>
            <a:r>
              <a:rPr spc="-45" dirty="0"/>
              <a:t> </a:t>
            </a:r>
            <a:r>
              <a:rPr dirty="0"/>
              <a:t>su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-105" dirty="0"/>
              <a:t> </a:t>
            </a:r>
            <a:r>
              <a:rPr spc="-20" dirty="0"/>
              <a:t>-</a:t>
            </a:r>
            <a:r>
              <a:rPr spc="-500" dirty="0"/>
              <a:t> </a:t>
            </a:r>
            <a:r>
              <a:rPr dirty="0"/>
              <a:t>TT</a:t>
            </a:r>
            <a:r>
              <a:rPr spc="-40" dirty="0"/>
              <a:t> </a:t>
            </a:r>
            <a:r>
              <a:rPr spc="-25" dirty="0"/>
              <a:t>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2738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 xác</a:t>
            </a:r>
            <a:r>
              <a:rPr spc="-45" dirty="0"/>
              <a:t> </a:t>
            </a:r>
            <a:r>
              <a:rPr dirty="0"/>
              <a:t>su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-105" dirty="0"/>
              <a:t> </a:t>
            </a:r>
            <a:r>
              <a:rPr spc="-20" dirty="0"/>
              <a:t>-</a:t>
            </a:r>
            <a:r>
              <a:rPr spc="-500" dirty="0"/>
              <a:t> </a:t>
            </a:r>
            <a:r>
              <a:rPr dirty="0"/>
              <a:t>TT</a:t>
            </a:r>
            <a:r>
              <a:rPr spc="-40" dirty="0"/>
              <a:t> </a:t>
            </a:r>
            <a:r>
              <a:rPr spc="-25" dirty="0"/>
              <a:t>EM…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40020" y="1203088"/>
            <a:ext cx="3463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C</a:t>
            </a:r>
            <a:r>
              <a:rPr sz="3200" dirty="0">
                <a:latin typeface="Calibri"/>
                <a:cs typeface="Calibri"/>
              </a:rPr>
              <a:t>ậ</a:t>
            </a:r>
            <a:r>
              <a:rPr sz="3200" dirty="0">
                <a:latin typeface="Gill Sans MT"/>
                <a:cs typeface="Gill Sans MT"/>
              </a:rPr>
              <a:t>p</a:t>
            </a:r>
            <a:r>
              <a:rPr sz="3200" spc="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nh</a:t>
            </a:r>
            <a:r>
              <a:rPr sz="3200" dirty="0">
                <a:latin typeface="Calibri"/>
                <a:cs typeface="Calibri"/>
              </a:rPr>
              <a:t>ậ</a:t>
            </a:r>
            <a:r>
              <a:rPr sz="3200" dirty="0">
                <a:latin typeface="Gill Sans MT"/>
                <a:cs typeface="Gill Sans MT"/>
              </a:rPr>
              <a:t>t</a:t>
            </a:r>
            <a:r>
              <a:rPr sz="3200" spc="4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tâm</a:t>
            </a:r>
            <a:r>
              <a:rPr sz="3200" spc="-6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c</a:t>
            </a:r>
            <a:r>
              <a:rPr sz="3200" spc="-25" dirty="0">
                <a:latin typeface="Calibri"/>
                <a:cs typeface="Calibri"/>
              </a:rPr>
              <a:t>ụ</a:t>
            </a:r>
            <a:r>
              <a:rPr sz="3200" spc="-25" dirty="0">
                <a:latin typeface="Gill Sans MT"/>
                <a:cs typeface="Gill Sans MT"/>
              </a:rPr>
              <a:t>m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065" y="1882360"/>
            <a:ext cx="5561434" cy="48712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2738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 xác</a:t>
            </a:r>
            <a:r>
              <a:rPr spc="-45" dirty="0"/>
              <a:t> </a:t>
            </a:r>
            <a:r>
              <a:rPr dirty="0"/>
              <a:t>su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-105" dirty="0"/>
              <a:t> </a:t>
            </a:r>
            <a:r>
              <a:rPr spc="-20" dirty="0"/>
              <a:t>-</a:t>
            </a:r>
            <a:r>
              <a:rPr spc="-500" dirty="0"/>
              <a:t> </a:t>
            </a:r>
            <a:r>
              <a:rPr dirty="0"/>
              <a:t>TT</a:t>
            </a:r>
            <a:r>
              <a:rPr spc="-40" dirty="0"/>
              <a:t> </a:t>
            </a:r>
            <a:r>
              <a:rPr spc="-25" dirty="0"/>
              <a:t>EM…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40020" y="1203088"/>
            <a:ext cx="3463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Thu</a:t>
            </a:r>
            <a:r>
              <a:rPr sz="3200" dirty="0">
                <a:latin typeface="Calibri"/>
                <a:cs typeface="Calibri"/>
              </a:rPr>
              <a:t>ậ</a:t>
            </a:r>
            <a:r>
              <a:rPr sz="3200" dirty="0">
                <a:latin typeface="Gill Sans MT"/>
                <a:cs typeface="Gill Sans MT"/>
              </a:rPr>
              <a:t>t</a:t>
            </a:r>
            <a:r>
              <a:rPr sz="3200" spc="3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toán</a:t>
            </a:r>
            <a:r>
              <a:rPr sz="3200" spc="-10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chi</a:t>
            </a:r>
            <a:r>
              <a:rPr sz="3200" spc="5" dirty="0">
                <a:latin typeface="Gill Sans MT"/>
                <a:cs typeface="Gill Sans MT"/>
              </a:rPr>
              <a:t> </a:t>
            </a:r>
            <a:r>
              <a:rPr sz="3200" spc="-20" dirty="0">
                <a:latin typeface="Gill Sans MT"/>
                <a:cs typeface="Gill Sans MT"/>
              </a:rPr>
              <a:t>ti</a:t>
            </a:r>
            <a:r>
              <a:rPr sz="3200" spc="-20" dirty="0">
                <a:latin typeface="Calibri"/>
                <a:cs typeface="Calibri"/>
              </a:rPr>
              <a:t>ế</a:t>
            </a:r>
            <a:r>
              <a:rPr sz="3200" spc="-20" dirty="0">
                <a:latin typeface="Gill Sans MT"/>
                <a:cs typeface="Gill Sans MT"/>
              </a:rPr>
              <a:t>t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0466" y="2233752"/>
            <a:ext cx="7274042" cy="3297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2738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 xác</a:t>
            </a:r>
            <a:r>
              <a:rPr spc="-45" dirty="0"/>
              <a:t> </a:t>
            </a:r>
            <a:r>
              <a:rPr dirty="0"/>
              <a:t>su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-105" dirty="0"/>
              <a:t> </a:t>
            </a:r>
            <a:r>
              <a:rPr spc="-20" dirty="0"/>
              <a:t>-</a:t>
            </a:r>
            <a:r>
              <a:rPr spc="-500" dirty="0"/>
              <a:t> </a:t>
            </a:r>
            <a:r>
              <a:rPr dirty="0"/>
              <a:t>TT</a:t>
            </a:r>
            <a:r>
              <a:rPr spc="-40" dirty="0"/>
              <a:t> </a:t>
            </a:r>
            <a:r>
              <a:rPr spc="-25" dirty="0"/>
              <a:t>EM…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40021" y="1100038"/>
            <a:ext cx="7731759" cy="436657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spcBef>
                <a:spcPts val="50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Nh</a:t>
            </a:r>
            <a:r>
              <a:rPr sz="3200" dirty="0">
                <a:latin typeface="Calibri"/>
                <a:cs typeface="Calibri"/>
              </a:rPr>
              <a:t>ậ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-8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xét</a:t>
            </a:r>
            <a:endParaRPr sz="3200">
              <a:latin typeface="Gill Sans MT"/>
              <a:cs typeface="Gill Sans MT"/>
            </a:endParaRPr>
          </a:p>
          <a:p>
            <a:pPr marL="761365" lvl="1" indent="-393065">
              <a:spcBef>
                <a:spcPts val="36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Gill Sans MT"/>
                <a:cs typeface="Gill Sans MT"/>
              </a:rPr>
              <a:t>Co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th</a:t>
            </a:r>
            <a:r>
              <a:rPr sz="2800" dirty="0">
                <a:latin typeface="Calibri"/>
                <a:cs typeface="Calibri"/>
              </a:rPr>
              <a:t>ể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h</a:t>
            </a:r>
            <a:r>
              <a:rPr sz="2800" dirty="0">
                <a:latin typeface="Calibri"/>
                <a:cs typeface="Calibri"/>
              </a:rPr>
              <a:t>ộ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tu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ch</a:t>
            </a:r>
            <a:r>
              <a:rPr sz="2800" spc="-20" dirty="0">
                <a:latin typeface="Calibri"/>
                <a:cs typeface="Calibri"/>
              </a:rPr>
              <a:t>ậ</a:t>
            </a:r>
            <a:r>
              <a:rPr sz="2800" spc="-20" dirty="0">
                <a:latin typeface="Gill Sans MT"/>
                <a:cs typeface="Gill Sans MT"/>
              </a:rPr>
              <a:t>m</a:t>
            </a:r>
            <a:endParaRPr sz="2800">
              <a:latin typeface="Gill Sans MT"/>
              <a:cs typeface="Gill Sans MT"/>
            </a:endParaRPr>
          </a:p>
          <a:p>
            <a:pPr marL="761365" lvl="1" indent="-393065">
              <a:spcBef>
                <a:spcPts val="34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Gill Sans MT"/>
                <a:cs typeface="Gill Sans MT"/>
              </a:rPr>
              <a:t>Chi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ả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ba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dirty="0">
                <a:latin typeface="Gill Sans MT"/>
                <a:cs typeface="Gill Sans MT"/>
              </a:rPr>
              <a:t>o</a:t>
            </a:r>
            <a:r>
              <a:rPr sz="2800" spc="-8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ti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ượ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ạ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ị</a:t>
            </a: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ph</a:t>
            </a:r>
            <a:r>
              <a:rPr sz="2800" spc="-10" dirty="0">
                <a:latin typeface="Calibri"/>
                <a:cs typeface="Calibri"/>
              </a:rPr>
              <a:t>ươ</a:t>
            </a:r>
            <a:r>
              <a:rPr sz="2800" spc="-10" dirty="0">
                <a:latin typeface="Gill Sans MT"/>
                <a:cs typeface="Gill Sans MT"/>
              </a:rPr>
              <a:t>ng</a:t>
            </a:r>
            <a:endParaRPr sz="2800">
              <a:latin typeface="Gill Sans MT"/>
              <a:cs typeface="Gill Sans MT"/>
            </a:endParaRPr>
          </a:p>
          <a:p>
            <a:pPr marL="762000" marR="27305" lvl="1" indent="-393700">
              <a:lnSpc>
                <a:spcPts val="3000"/>
              </a:lnSpc>
              <a:spcBef>
                <a:spcPts val="74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>
                <a:latin typeface="Gill Sans MT"/>
                <a:cs typeface="Gill Sans MT"/>
              </a:rPr>
              <a:t>Du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ca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gia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thi</a:t>
            </a:r>
            <a:r>
              <a:rPr sz="2800" dirty="0">
                <a:latin typeface="Calibri"/>
                <a:cs typeface="Calibri"/>
              </a:rPr>
              <a:t>ế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spc="-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</a:t>
            </a:r>
            <a:r>
              <a:rPr sz="2800" dirty="0">
                <a:latin typeface="Calibri"/>
                <a:cs typeface="Calibri"/>
              </a:rPr>
              <a:t>ố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4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ke</a:t>
            </a:r>
            <a:r>
              <a:rPr sz="2800" dirty="0">
                <a:latin typeface="Calibri"/>
                <a:cs typeface="Calibri"/>
              </a:rPr>
              <a:t>̂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quan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tro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(</a:t>
            </a:r>
            <a:r>
              <a:rPr sz="2800">
                <a:latin typeface="Gill Sans MT"/>
                <a:cs typeface="Gill Sans MT"/>
              </a:rPr>
              <a:t>v</a:t>
            </a:r>
            <a:r>
              <a:rPr sz="2800">
                <a:latin typeface="Calibri"/>
                <a:cs typeface="Calibri"/>
              </a:rPr>
              <a:t>ề</a:t>
            </a:r>
            <a:r>
              <a:rPr sz="2800" spc="100">
                <a:latin typeface="Calibri"/>
                <a:cs typeface="Calibri"/>
              </a:rPr>
              <a:t> </a:t>
            </a:r>
            <a:r>
              <a:rPr sz="2800" spc="-20">
                <a:latin typeface="Gill Sans MT"/>
                <a:cs typeface="Gill Sans MT"/>
              </a:rPr>
              <a:t>ph</a:t>
            </a:r>
            <a:r>
              <a:rPr lang="en-US" sz="2800" spc="-20">
                <a:latin typeface="Calibri"/>
                <a:cs typeface="Calibri"/>
              </a:rPr>
              <a:t>ân </a:t>
            </a:r>
            <a:r>
              <a:rPr sz="2800" spc="-20">
                <a:latin typeface="Gill Sans MT"/>
                <a:cs typeface="Gill Sans MT"/>
              </a:rPr>
              <a:t>bô</a:t>
            </a:r>
            <a:r>
              <a:rPr sz="2800" spc="-20">
                <a:latin typeface="Calibri"/>
                <a:cs typeface="Calibri"/>
              </a:rPr>
              <a:t>́</a:t>
            </a:r>
            <a:r>
              <a:rPr sz="2800" spc="-20" dirty="0">
                <a:latin typeface="Gill Sans MT"/>
                <a:cs typeface="Gill Sans MT"/>
              </a:rPr>
              <a:t>)</a:t>
            </a:r>
            <a:endParaRPr sz="2800">
              <a:latin typeface="Gill Sans MT"/>
              <a:cs typeface="Gill Sans MT"/>
            </a:endParaRPr>
          </a:p>
          <a:p>
            <a:pPr marL="762000" marR="5080" lvl="1" indent="-393700">
              <a:lnSpc>
                <a:spcPts val="3100"/>
              </a:lnSpc>
              <a:spcBef>
                <a:spcPts val="62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>
                <a:latin typeface="Gill Sans MT"/>
                <a:cs typeface="Gill Sans MT"/>
              </a:rPr>
              <a:t>S</a:t>
            </a:r>
            <a:r>
              <a:rPr lang="en-US" sz="2800">
                <a:latin typeface="Calibri"/>
                <a:cs typeface="Calibri"/>
              </a:rPr>
              <a:t>ố </a:t>
            </a:r>
            <a:r>
              <a:rPr sz="2800">
                <a:latin typeface="Gill Sans MT"/>
                <a:cs typeface="Gill Sans MT"/>
              </a:rPr>
              <a:t>tham</a:t>
            </a:r>
            <a:r>
              <a:rPr sz="2800" spc="-60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s</a:t>
            </a:r>
            <a:r>
              <a:rPr lang="en-US" sz="2800">
                <a:latin typeface="Calibri"/>
                <a:cs typeface="Calibri"/>
              </a:rPr>
              <a:t>ố </a:t>
            </a:r>
            <a:r>
              <a:rPr sz="2800">
                <a:latin typeface="Gill Sans MT"/>
                <a:cs typeface="Gill Sans MT"/>
              </a:rPr>
              <a:t>cho</a:t>
            </a:r>
            <a:r>
              <a:rPr sz="2800" spc="-4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ph</a:t>
            </a:r>
            <a:r>
              <a:rPr lang="en-US" sz="2800">
                <a:latin typeface="Calibri"/>
                <a:cs typeface="Calibri"/>
              </a:rPr>
              <a:t>ân </a:t>
            </a:r>
            <a:r>
              <a:rPr sz="2800">
                <a:latin typeface="Gill Sans MT"/>
                <a:cs typeface="Gill Sans MT"/>
              </a:rPr>
              <a:t>b</a:t>
            </a:r>
            <a:r>
              <a:rPr sz="2800">
                <a:latin typeface="Calibri"/>
                <a:cs typeface="Calibri"/>
              </a:rPr>
              <a:t>ố</a:t>
            </a:r>
            <a:r>
              <a:rPr sz="2800" spc="165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chu</a:t>
            </a:r>
            <a:r>
              <a:rPr sz="2800" dirty="0">
                <a:latin typeface="Calibri"/>
                <a:cs typeface="Calibri"/>
              </a:rPr>
              <a:t>ẩ</a:t>
            </a:r>
            <a:r>
              <a:rPr sz="2800" dirty="0">
                <a:latin typeface="Gill Sans MT"/>
                <a:cs typeface="Gill Sans MT"/>
              </a:rPr>
              <a:t>n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i="1" spc="-25" dirty="0">
                <a:latin typeface="Gill Sans MT Italic"/>
                <a:cs typeface="Gill Sans MT Italic"/>
              </a:rPr>
              <a:t>O</a:t>
            </a:r>
            <a:r>
              <a:rPr sz="2800" spc="-25" dirty="0">
                <a:latin typeface="Gill Sans MT"/>
                <a:cs typeface="Gill Sans MT"/>
              </a:rPr>
              <a:t>(</a:t>
            </a:r>
            <a:r>
              <a:rPr sz="2800" i="1" spc="-25" dirty="0">
                <a:latin typeface="Gill Sans MT Italic"/>
                <a:cs typeface="Gill Sans MT Italic"/>
              </a:rPr>
              <a:t>d</a:t>
            </a:r>
            <a:r>
              <a:rPr sz="2800" spc="-25" dirty="0">
                <a:latin typeface="Gill Sans MT"/>
                <a:cs typeface="Gill Sans MT"/>
              </a:rPr>
              <a:t>2),</a:t>
            </a:r>
            <a:r>
              <a:rPr sz="2800" spc="-29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v</a:t>
            </a:r>
            <a:r>
              <a:rPr sz="2800" dirty="0">
                <a:latin typeface="Calibri"/>
                <a:cs typeface="Calibri"/>
              </a:rPr>
              <a:t>ớ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80" dirty="0">
                <a:latin typeface="Gill Sans MT"/>
                <a:cs typeface="Gill Sans MT"/>
              </a:rPr>
              <a:t> </a:t>
            </a:r>
            <a:r>
              <a:rPr sz="2800" i="1" dirty="0">
                <a:latin typeface="Gill Sans MT Italic"/>
                <a:cs typeface="Gill Sans MT Italic"/>
              </a:rPr>
              <a:t>d</a:t>
            </a:r>
            <a:r>
              <a:rPr sz="2800" i="1" spc="-15" dirty="0">
                <a:latin typeface="Gill Sans MT Italic"/>
                <a:cs typeface="Gill Sans MT Italic"/>
              </a:rPr>
              <a:t> </a:t>
            </a:r>
            <a:r>
              <a:rPr sz="2800" dirty="0">
                <a:latin typeface="Gill Sans MT"/>
                <a:cs typeface="Gill Sans MT"/>
              </a:rPr>
              <a:t>la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s</a:t>
            </a:r>
            <a:r>
              <a:rPr sz="2800" spc="-25" dirty="0">
                <a:latin typeface="Calibri"/>
                <a:cs typeface="Calibri"/>
              </a:rPr>
              <a:t>ố </a:t>
            </a:r>
            <a:r>
              <a:rPr sz="2800" spc="-10" dirty="0">
                <a:latin typeface="Gill Sans MT"/>
                <a:cs typeface="Gill Sans MT"/>
              </a:rPr>
              <a:t>chi</a:t>
            </a:r>
            <a:r>
              <a:rPr sz="2800" spc="-10" dirty="0">
                <a:latin typeface="Calibri"/>
                <a:cs typeface="Calibri"/>
              </a:rPr>
              <a:t>ề</a:t>
            </a:r>
            <a:r>
              <a:rPr sz="2800" spc="-10" dirty="0">
                <a:latin typeface="Gill Sans MT"/>
                <a:cs typeface="Gill Sans MT"/>
              </a:rPr>
              <a:t>u:</a:t>
            </a:r>
            <a:endParaRPr sz="2800">
              <a:latin typeface="Gill Sans MT"/>
              <a:cs typeface="Gill Sans MT"/>
            </a:endParaRPr>
          </a:p>
          <a:p>
            <a:pPr marL="1154430" lvl="2" indent="-227329">
              <a:spcBef>
                <a:spcPts val="1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Gill Sans MT"/>
                <a:cs typeface="Gill Sans MT"/>
              </a:rPr>
              <a:t>Ca</a:t>
            </a:r>
            <a:r>
              <a:rPr sz="2400" dirty="0">
                <a:latin typeface="Calibri"/>
                <a:cs typeface="Calibri"/>
              </a:rPr>
              <a:t>́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tham</a:t>
            </a:r>
            <a:r>
              <a:rPr sz="2400" spc="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bi</a:t>
            </a:r>
            <a:r>
              <a:rPr sz="2400" dirty="0">
                <a:latin typeface="Calibri"/>
                <a:cs typeface="Calibri"/>
              </a:rPr>
              <a:t>ế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g</a:t>
            </a:r>
            <a:r>
              <a:rPr sz="2400" dirty="0">
                <a:latin typeface="Calibri"/>
                <a:cs typeface="Calibri"/>
              </a:rPr>
              <a:t>ắ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v</a:t>
            </a:r>
            <a:r>
              <a:rPr sz="2400" dirty="0">
                <a:latin typeface="Calibri"/>
                <a:cs typeface="Calibri"/>
              </a:rPr>
              <a:t>ớ</a:t>
            </a:r>
            <a:r>
              <a:rPr sz="2400" dirty="0">
                <a:latin typeface="Gill Sans MT"/>
                <a:cs typeface="Gill Sans MT"/>
              </a:rPr>
              <a:t>i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ma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</a:t>
            </a:r>
            <a:r>
              <a:rPr sz="2400" dirty="0">
                <a:latin typeface="Calibri"/>
                <a:cs typeface="Calibri"/>
              </a:rPr>
              <a:t>ậ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hi</a:t>
            </a:r>
            <a:r>
              <a:rPr sz="2400" dirty="0">
                <a:latin typeface="Calibri"/>
                <a:cs typeface="Calibri"/>
              </a:rPr>
              <a:t>ệ</a:t>
            </a:r>
            <a:r>
              <a:rPr sz="2400" dirty="0">
                <a:latin typeface="Gill Sans MT"/>
                <a:cs typeface="Gill Sans MT"/>
              </a:rPr>
              <a:t>p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ph</a:t>
            </a:r>
            <a:r>
              <a:rPr sz="2400" dirty="0">
                <a:latin typeface="Calibri"/>
                <a:cs typeface="Calibri"/>
              </a:rPr>
              <a:t>ươ</a:t>
            </a:r>
            <a:r>
              <a:rPr sz="2400" dirty="0">
                <a:latin typeface="Gill Sans MT"/>
                <a:cs typeface="Gill Sans MT"/>
              </a:rPr>
              <a:t>ng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sai.</a:t>
            </a:r>
            <a:endParaRPr sz="2400">
              <a:latin typeface="Gill Sans MT"/>
              <a:cs typeface="Gill Sans MT"/>
            </a:endParaRPr>
          </a:p>
          <a:p>
            <a:pPr marL="1154430" lvl="2" indent="-227329">
              <a:lnSpc>
                <a:spcPts val="2740"/>
              </a:lnSpc>
              <a:spcBef>
                <a:spcPts val="32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i="1" dirty="0">
                <a:latin typeface="Gill Sans MT Italic"/>
                <a:cs typeface="Gill Sans MT Italic"/>
              </a:rPr>
              <a:t>k</a:t>
            </a:r>
            <a:r>
              <a:rPr sz="2400" dirty="0">
                <a:latin typeface="Gill Sans MT"/>
                <a:cs typeface="Gill Sans MT"/>
              </a:rPr>
              <a:t>-means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ch</a:t>
            </a:r>
            <a:r>
              <a:rPr sz="2400" dirty="0">
                <a:latin typeface="Calibri"/>
                <a:cs typeface="Calibri"/>
              </a:rPr>
              <a:t>ỉ̉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ướ</a:t>
            </a:r>
            <a:r>
              <a:rPr sz="2400" spc="-10" dirty="0">
                <a:latin typeface="Gill Sans MT"/>
                <a:cs typeface="Gill Sans MT"/>
              </a:rPr>
              <a:t>c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l</a:t>
            </a:r>
            <a:r>
              <a:rPr sz="2400" dirty="0">
                <a:latin typeface="Calibri"/>
                <a:cs typeface="Calibri"/>
              </a:rPr>
              <a:t>ượ</a:t>
            </a:r>
            <a:r>
              <a:rPr sz="2400" dirty="0">
                <a:latin typeface="Gill Sans MT"/>
                <a:cs typeface="Gill Sans MT"/>
              </a:rPr>
              <a:t>ng</a:t>
            </a:r>
            <a:r>
              <a:rPr sz="2400" spc="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ca</a:t>
            </a:r>
            <a:r>
              <a:rPr sz="2400" dirty="0">
                <a:latin typeface="Calibri"/>
                <a:cs typeface="Calibri"/>
              </a:rPr>
              <a:t>́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trung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bi</a:t>
            </a:r>
            <a:r>
              <a:rPr sz="2400" dirty="0">
                <a:latin typeface="Calibri"/>
                <a:cs typeface="Calibri"/>
              </a:rPr>
              <a:t>̀</a:t>
            </a:r>
            <a:r>
              <a:rPr sz="2400" dirty="0">
                <a:latin typeface="Gill Sans MT"/>
                <a:cs typeface="Gill Sans MT"/>
              </a:rPr>
              <a:t>nh</a:t>
            </a:r>
            <a:r>
              <a:rPr sz="2400" spc="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cu</a:t>
            </a:r>
            <a:r>
              <a:rPr sz="2400" dirty="0">
                <a:latin typeface="Calibri"/>
                <a:cs typeface="Calibri"/>
              </a:rPr>
              <a:t>̣</a:t>
            </a:r>
            <a:r>
              <a:rPr sz="2400" dirty="0">
                <a:latin typeface="Gill Sans MT"/>
                <a:cs typeface="Gill Sans MT"/>
              </a:rPr>
              <a:t>m,</a:t>
            </a:r>
            <a:r>
              <a:rPr sz="2400" spc="-3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dirty="0">
                <a:latin typeface="Calibri"/>
                <a:cs typeface="Calibri"/>
              </a:rPr>
              <a:t>ố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l</a:t>
            </a:r>
            <a:r>
              <a:rPr sz="2400" spc="-10" dirty="0">
                <a:latin typeface="Calibri"/>
                <a:cs typeface="Calibri"/>
              </a:rPr>
              <a:t>ượ</a:t>
            </a:r>
            <a:r>
              <a:rPr sz="2400" spc="-10" dirty="0">
                <a:latin typeface="Gill Sans MT"/>
                <a:cs typeface="Gill Sans MT"/>
              </a:rPr>
              <a:t>ng</a:t>
            </a:r>
            <a:endParaRPr sz="2400">
              <a:latin typeface="Gill Sans MT"/>
              <a:cs typeface="Gill Sans MT"/>
            </a:endParaRPr>
          </a:p>
          <a:p>
            <a:pPr marL="1155700">
              <a:lnSpc>
                <a:spcPts val="2740"/>
              </a:lnSpc>
            </a:pPr>
            <a:r>
              <a:rPr sz="2400" i="1" spc="-20" dirty="0">
                <a:latin typeface="Gill Sans MT Italic"/>
                <a:cs typeface="Gill Sans MT Italic"/>
              </a:rPr>
              <a:t>O</a:t>
            </a:r>
            <a:r>
              <a:rPr sz="2400" spc="-20" dirty="0">
                <a:latin typeface="Gill Sans MT"/>
                <a:cs typeface="Gill Sans MT"/>
              </a:rPr>
              <a:t>(</a:t>
            </a:r>
            <a:r>
              <a:rPr sz="2400" i="1" spc="-20" dirty="0">
                <a:latin typeface="Gill Sans MT Italic"/>
                <a:cs typeface="Gill Sans MT Italic"/>
              </a:rPr>
              <a:t>d</a:t>
            </a:r>
            <a:r>
              <a:rPr sz="2400" spc="-20" dirty="0">
                <a:latin typeface="Gill Sans MT"/>
                <a:cs typeface="Gill Sans MT"/>
              </a:rPr>
              <a:t>)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2738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7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 xác</a:t>
            </a:r>
            <a:r>
              <a:rPr spc="-45" dirty="0"/>
              <a:t> </a:t>
            </a:r>
            <a:r>
              <a:rPr dirty="0"/>
              <a:t>su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-105" dirty="0"/>
              <a:t> </a:t>
            </a:r>
            <a:r>
              <a:rPr spc="-20" dirty="0"/>
              <a:t>-</a:t>
            </a:r>
            <a:r>
              <a:rPr spc="-500" dirty="0"/>
              <a:t> </a:t>
            </a:r>
            <a:r>
              <a:rPr dirty="0"/>
              <a:t>TT</a:t>
            </a:r>
            <a:r>
              <a:rPr spc="-40" dirty="0"/>
              <a:t> </a:t>
            </a:r>
            <a:r>
              <a:rPr spc="-25" dirty="0"/>
              <a:t>EM…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40021" y="1100038"/>
            <a:ext cx="7731759" cy="436657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spcBef>
                <a:spcPts val="50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Nh</a:t>
            </a:r>
            <a:r>
              <a:rPr sz="3200" dirty="0">
                <a:latin typeface="Calibri"/>
                <a:cs typeface="Calibri"/>
              </a:rPr>
              <a:t>ậ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-8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xét</a:t>
            </a:r>
            <a:endParaRPr sz="3200">
              <a:latin typeface="Gill Sans MT"/>
              <a:cs typeface="Gill Sans MT"/>
            </a:endParaRPr>
          </a:p>
          <a:p>
            <a:pPr marL="761365" lvl="1" indent="-393065">
              <a:spcBef>
                <a:spcPts val="36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Gill Sans MT"/>
                <a:cs typeface="Gill Sans MT"/>
              </a:rPr>
              <a:t>Co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th</a:t>
            </a:r>
            <a:r>
              <a:rPr sz="2800" dirty="0">
                <a:latin typeface="Calibri"/>
                <a:cs typeface="Calibri"/>
              </a:rPr>
              <a:t>ể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h</a:t>
            </a:r>
            <a:r>
              <a:rPr sz="2800" dirty="0">
                <a:latin typeface="Calibri"/>
                <a:cs typeface="Calibri"/>
              </a:rPr>
              <a:t>ộ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tu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ch</a:t>
            </a:r>
            <a:r>
              <a:rPr sz="2800" spc="-20" dirty="0">
                <a:latin typeface="Calibri"/>
                <a:cs typeface="Calibri"/>
              </a:rPr>
              <a:t>ậ</a:t>
            </a:r>
            <a:r>
              <a:rPr sz="2800" spc="-20" dirty="0">
                <a:latin typeface="Gill Sans MT"/>
                <a:cs typeface="Gill Sans MT"/>
              </a:rPr>
              <a:t>m</a:t>
            </a:r>
            <a:endParaRPr sz="2800">
              <a:latin typeface="Gill Sans MT"/>
              <a:cs typeface="Gill Sans MT"/>
            </a:endParaRPr>
          </a:p>
          <a:p>
            <a:pPr marL="761365" lvl="1" indent="-393065">
              <a:spcBef>
                <a:spcPts val="34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Gill Sans MT"/>
                <a:cs typeface="Gill Sans MT"/>
              </a:rPr>
              <a:t>Chi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ả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ba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dirty="0">
                <a:latin typeface="Gill Sans MT"/>
                <a:cs typeface="Gill Sans MT"/>
              </a:rPr>
              <a:t>o</a:t>
            </a:r>
            <a:r>
              <a:rPr sz="2800" spc="-8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ti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dirty="0">
                <a:latin typeface="Gill Sans MT"/>
                <a:cs typeface="Gill Sans MT"/>
              </a:rPr>
              <a:t>m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ượ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ạ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ị</a:t>
            </a:r>
            <a:r>
              <a:rPr sz="2800" dirty="0">
                <a:latin typeface="Gill Sans MT"/>
                <a:cs typeface="Gill Sans MT"/>
              </a:rPr>
              <a:t>a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ph</a:t>
            </a:r>
            <a:r>
              <a:rPr sz="2800" spc="-10" dirty="0">
                <a:latin typeface="Calibri"/>
                <a:cs typeface="Calibri"/>
              </a:rPr>
              <a:t>ươ</a:t>
            </a:r>
            <a:r>
              <a:rPr sz="2800" spc="-10" dirty="0">
                <a:latin typeface="Gill Sans MT"/>
                <a:cs typeface="Gill Sans MT"/>
              </a:rPr>
              <a:t>ng</a:t>
            </a:r>
            <a:endParaRPr sz="2800">
              <a:latin typeface="Gill Sans MT"/>
              <a:cs typeface="Gill Sans MT"/>
            </a:endParaRPr>
          </a:p>
          <a:p>
            <a:pPr marL="762000" marR="27305" lvl="1" indent="-393700">
              <a:lnSpc>
                <a:spcPts val="3000"/>
              </a:lnSpc>
              <a:spcBef>
                <a:spcPts val="74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>
                <a:latin typeface="Gill Sans MT"/>
                <a:cs typeface="Gill Sans MT"/>
              </a:rPr>
              <a:t>Du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ca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gia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thi</a:t>
            </a:r>
            <a:r>
              <a:rPr sz="2800" dirty="0">
                <a:latin typeface="Calibri"/>
                <a:cs typeface="Calibri"/>
              </a:rPr>
              <a:t>ế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spc="-8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</a:t>
            </a:r>
            <a:r>
              <a:rPr sz="2800" dirty="0">
                <a:latin typeface="Calibri"/>
                <a:cs typeface="Calibri"/>
              </a:rPr>
              <a:t>ố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4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ke</a:t>
            </a:r>
            <a:r>
              <a:rPr sz="2800" dirty="0">
                <a:latin typeface="Calibri"/>
                <a:cs typeface="Calibri"/>
              </a:rPr>
              <a:t>̂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quan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tro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(</a:t>
            </a:r>
            <a:r>
              <a:rPr sz="2800">
                <a:latin typeface="Gill Sans MT"/>
                <a:cs typeface="Gill Sans MT"/>
              </a:rPr>
              <a:t>v</a:t>
            </a:r>
            <a:r>
              <a:rPr sz="2800">
                <a:latin typeface="Calibri"/>
                <a:cs typeface="Calibri"/>
              </a:rPr>
              <a:t>ề</a:t>
            </a:r>
            <a:r>
              <a:rPr sz="2800" spc="100">
                <a:latin typeface="Calibri"/>
                <a:cs typeface="Calibri"/>
              </a:rPr>
              <a:t> </a:t>
            </a:r>
            <a:r>
              <a:rPr sz="2800" spc="-20">
                <a:latin typeface="Gill Sans MT"/>
                <a:cs typeface="Gill Sans MT"/>
              </a:rPr>
              <a:t>ph</a:t>
            </a:r>
            <a:r>
              <a:rPr lang="en-US" sz="2800" spc="-20">
                <a:latin typeface="Calibri"/>
                <a:cs typeface="Calibri"/>
              </a:rPr>
              <a:t>ân </a:t>
            </a:r>
            <a:r>
              <a:rPr sz="2800" spc="-20">
                <a:latin typeface="Gill Sans MT"/>
                <a:cs typeface="Gill Sans MT"/>
              </a:rPr>
              <a:t>bô</a:t>
            </a:r>
            <a:r>
              <a:rPr sz="2800" spc="-20">
                <a:latin typeface="Calibri"/>
                <a:cs typeface="Calibri"/>
              </a:rPr>
              <a:t>́</a:t>
            </a:r>
            <a:r>
              <a:rPr sz="2800" spc="-20" dirty="0">
                <a:latin typeface="Gill Sans MT"/>
                <a:cs typeface="Gill Sans MT"/>
              </a:rPr>
              <a:t>)</a:t>
            </a:r>
            <a:endParaRPr sz="2800">
              <a:latin typeface="Gill Sans MT"/>
              <a:cs typeface="Gill Sans MT"/>
            </a:endParaRPr>
          </a:p>
          <a:p>
            <a:pPr marL="762000" marR="5080" lvl="1" indent="-393700">
              <a:lnSpc>
                <a:spcPts val="3100"/>
              </a:lnSpc>
              <a:spcBef>
                <a:spcPts val="62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>
                <a:latin typeface="Gill Sans MT"/>
                <a:cs typeface="Gill Sans MT"/>
              </a:rPr>
              <a:t>S</a:t>
            </a:r>
            <a:r>
              <a:rPr lang="en-US" sz="2800">
                <a:latin typeface="Calibri"/>
                <a:cs typeface="Calibri"/>
              </a:rPr>
              <a:t>ố </a:t>
            </a:r>
            <a:r>
              <a:rPr sz="2800">
                <a:latin typeface="Gill Sans MT"/>
                <a:cs typeface="Gill Sans MT"/>
              </a:rPr>
              <a:t>tham</a:t>
            </a:r>
            <a:r>
              <a:rPr sz="2800" spc="-60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s</a:t>
            </a:r>
            <a:r>
              <a:rPr lang="en-US" sz="2800">
                <a:latin typeface="Calibri"/>
                <a:cs typeface="Calibri"/>
              </a:rPr>
              <a:t>ố </a:t>
            </a:r>
            <a:r>
              <a:rPr sz="2800">
                <a:latin typeface="Gill Sans MT"/>
                <a:cs typeface="Gill Sans MT"/>
              </a:rPr>
              <a:t>cho</a:t>
            </a:r>
            <a:r>
              <a:rPr sz="2800" spc="-4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ph</a:t>
            </a:r>
            <a:r>
              <a:rPr lang="en-US" sz="2800">
                <a:latin typeface="Calibri"/>
                <a:cs typeface="Calibri"/>
              </a:rPr>
              <a:t>ân </a:t>
            </a:r>
            <a:r>
              <a:rPr sz="2800">
                <a:latin typeface="Gill Sans MT"/>
                <a:cs typeface="Gill Sans MT"/>
              </a:rPr>
              <a:t>b</a:t>
            </a:r>
            <a:r>
              <a:rPr sz="2800">
                <a:latin typeface="Calibri"/>
                <a:cs typeface="Calibri"/>
              </a:rPr>
              <a:t>ố</a:t>
            </a:r>
            <a:r>
              <a:rPr sz="2800" spc="165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chu</a:t>
            </a:r>
            <a:r>
              <a:rPr sz="2800" dirty="0">
                <a:latin typeface="Calibri"/>
                <a:cs typeface="Calibri"/>
              </a:rPr>
              <a:t>ẩ</a:t>
            </a:r>
            <a:r>
              <a:rPr sz="2800" dirty="0">
                <a:latin typeface="Gill Sans MT"/>
                <a:cs typeface="Gill Sans MT"/>
              </a:rPr>
              <a:t>n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i="1" spc="-25" dirty="0">
                <a:latin typeface="Gill Sans MT Italic"/>
                <a:cs typeface="Gill Sans MT Italic"/>
              </a:rPr>
              <a:t>O</a:t>
            </a:r>
            <a:r>
              <a:rPr sz="2800" spc="-25" dirty="0">
                <a:latin typeface="Gill Sans MT"/>
                <a:cs typeface="Gill Sans MT"/>
              </a:rPr>
              <a:t>(</a:t>
            </a:r>
            <a:r>
              <a:rPr sz="2800" i="1" spc="-25" dirty="0">
                <a:latin typeface="Gill Sans MT Italic"/>
                <a:cs typeface="Gill Sans MT Italic"/>
              </a:rPr>
              <a:t>d</a:t>
            </a:r>
            <a:r>
              <a:rPr sz="2800" spc="-25" dirty="0">
                <a:latin typeface="Gill Sans MT"/>
                <a:cs typeface="Gill Sans MT"/>
              </a:rPr>
              <a:t>2),</a:t>
            </a:r>
            <a:r>
              <a:rPr sz="2800" spc="-29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v</a:t>
            </a:r>
            <a:r>
              <a:rPr sz="2800" dirty="0">
                <a:latin typeface="Calibri"/>
                <a:cs typeface="Calibri"/>
              </a:rPr>
              <a:t>ớ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80" dirty="0">
                <a:latin typeface="Gill Sans MT"/>
                <a:cs typeface="Gill Sans MT"/>
              </a:rPr>
              <a:t> </a:t>
            </a:r>
            <a:r>
              <a:rPr sz="2800" i="1" dirty="0">
                <a:latin typeface="Gill Sans MT Italic"/>
                <a:cs typeface="Gill Sans MT Italic"/>
              </a:rPr>
              <a:t>d</a:t>
            </a:r>
            <a:r>
              <a:rPr sz="2800" i="1" spc="-15" dirty="0">
                <a:latin typeface="Gill Sans MT Italic"/>
                <a:cs typeface="Gill Sans MT Italic"/>
              </a:rPr>
              <a:t> </a:t>
            </a:r>
            <a:r>
              <a:rPr sz="2800" dirty="0">
                <a:latin typeface="Gill Sans MT"/>
                <a:cs typeface="Gill Sans MT"/>
              </a:rPr>
              <a:t>la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s</a:t>
            </a:r>
            <a:r>
              <a:rPr sz="2800" spc="-25" dirty="0">
                <a:latin typeface="Calibri"/>
                <a:cs typeface="Calibri"/>
              </a:rPr>
              <a:t>ố </a:t>
            </a:r>
            <a:r>
              <a:rPr sz="2800" spc="-10" dirty="0">
                <a:latin typeface="Gill Sans MT"/>
                <a:cs typeface="Gill Sans MT"/>
              </a:rPr>
              <a:t>chi</a:t>
            </a:r>
            <a:r>
              <a:rPr sz="2800" spc="-10" dirty="0">
                <a:latin typeface="Calibri"/>
                <a:cs typeface="Calibri"/>
              </a:rPr>
              <a:t>ề</a:t>
            </a:r>
            <a:r>
              <a:rPr sz="2800" spc="-10" dirty="0">
                <a:latin typeface="Gill Sans MT"/>
                <a:cs typeface="Gill Sans MT"/>
              </a:rPr>
              <a:t>u:</a:t>
            </a:r>
            <a:endParaRPr sz="2800">
              <a:latin typeface="Gill Sans MT"/>
              <a:cs typeface="Gill Sans MT"/>
            </a:endParaRPr>
          </a:p>
          <a:p>
            <a:pPr marL="1154430" lvl="2" indent="-227329">
              <a:spcBef>
                <a:spcPts val="1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Gill Sans MT"/>
                <a:cs typeface="Gill Sans MT"/>
              </a:rPr>
              <a:t>Ca</a:t>
            </a:r>
            <a:r>
              <a:rPr sz="2400" dirty="0">
                <a:latin typeface="Calibri"/>
                <a:cs typeface="Calibri"/>
              </a:rPr>
              <a:t>́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-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tham</a:t>
            </a:r>
            <a:r>
              <a:rPr sz="2400" spc="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bi</a:t>
            </a:r>
            <a:r>
              <a:rPr sz="2400" dirty="0">
                <a:latin typeface="Calibri"/>
                <a:cs typeface="Calibri"/>
              </a:rPr>
              <a:t>ế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g</a:t>
            </a:r>
            <a:r>
              <a:rPr sz="2400" dirty="0">
                <a:latin typeface="Calibri"/>
                <a:cs typeface="Calibri"/>
              </a:rPr>
              <a:t>ắ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v</a:t>
            </a:r>
            <a:r>
              <a:rPr sz="2400" dirty="0">
                <a:latin typeface="Calibri"/>
                <a:cs typeface="Calibri"/>
              </a:rPr>
              <a:t>ớ</a:t>
            </a:r>
            <a:r>
              <a:rPr sz="2400" dirty="0">
                <a:latin typeface="Gill Sans MT"/>
                <a:cs typeface="Gill Sans MT"/>
              </a:rPr>
              <a:t>i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ma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</a:t>
            </a:r>
            <a:r>
              <a:rPr sz="2400" dirty="0">
                <a:latin typeface="Calibri"/>
                <a:cs typeface="Calibri"/>
              </a:rPr>
              <a:t>ậ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hi</a:t>
            </a:r>
            <a:r>
              <a:rPr sz="2400" dirty="0">
                <a:latin typeface="Calibri"/>
                <a:cs typeface="Calibri"/>
              </a:rPr>
              <a:t>ệ</a:t>
            </a:r>
            <a:r>
              <a:rPr sz="2400" dirty="0">
                <a:latin typeface="Gill Sans MT"/>
                <a:cs typeface="Gill Sans MT"/>
              </a:rPr>
              <a:t>p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ph</a:t>
            </a:r>
            <a:r>
              <a:rPr sz="2400" dirty="0">
                <a:latin typeface="Calibri"/>
                <a:cs typeface="Calibri"/>
              </a:rPr>
              <a:t>ươ</a:t>
            </a:r>
            <a:r>
              <a:rPr sz="2400" dirty="0">
                <a:latin typeface="Gill Sans MT"/>
                <a:cs typeface="Gill Sans MT"/>
              </a:rPr>
              <a:t>ng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sai.</a:t>
            </a:r>
            <a:endParaRPr sz="2400">
              <a:latin typeface="Gill Sans MT"/>
              <a:cs typeface="Gill Sans MT"/>
            </a:endParaRPr>
          </a:p>
          <a:p>
            <a:pPr marL="1154430" lvl="2" indent="-227329">
              <a:lnSpc>
                <a:spcPts val="2740"/>
              </a:lnSpc>
              <a:spcBef>
                <a:spcPts val="32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i="1" dirty="0">
                <a:latin typeface="Gill Sans MT Italic"/>
                <a:cs typeface="Gill Sans MT Italic"/>
              </a:rPr>
              <a:t>k</a:t>
            </a:r>
            <a:r>
              <a:rPr sz="2400" dirty="0">
                <a:latin typeface="Gill Sans MT"/>
                <a:cs typeface="Gill Sans MT"/>
              </a:rPr>
              <a:t>-means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ch</a:t>
            </a:r>
            <a:r>
              <a:rPr sz="2400" dirty="0">
                <a:latin typeface="Calibri"/>
                <a:cs typeface="Calibri"/>
              </a:rPr>
              <a:t>ỉ̉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ướ</a:t>
            </a:r>
            <a:r>
              <a:rPr sz="2400" spc="-10" dirty="0">
                <a:latin typeface="Gill Sans MT"/>
                <a:cs typeface="Gill Sans MT"/>
              </a:rPr>
              <a:t>c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l</a:t>
            </a:r>
            <a:r>
              <a:rPr sz="2400" dirty="0">
                <a:latin typeface="Calibri"/>
                <a:cs typeface="Calibri"/>
              </a:rPr>
              <a:t>ượ</a:t>
            </a:r>
            <a:r>
              <a:rPr sz="2400" dirty="0">
                <a:latin typeface="Gill Sans MT"/>
                <a:cs typeface="Gill Sans MT"/>
              </a:rPr>
              <a:t>ng</a:t>
            </a:r>
            <a:r>
              <a:rPr sz="2400" spc="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ca</a:t>
            </a:r>
            <a:r>
              <a:rPr sz="2400" dirty="0">
                <a:latin typeface="Calibri"/>
                <a:cs typeface="Calibri"/>
              </a:rPr>
              <a:t>́</a:t>
            </a:r>
            <a:r>
              <a:rPr sz="2400" dirty="0">
                <a:latin typeface="Gill Sans MT"/>
                <a:cs typeface="Gill Sans MT"/>
              </a:rPr>
              <a:t>c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trung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bi</a:t>
            </a:r>
            <a:r>
              <a:rPr sz="2400" dirty="0">
                <a:latin typeface="Calibri"/>
                <a:cs typeface="Calibri"/>
              </a:rPr>
              <a:t>̀</a:t>
            </a:r>
            <a:r>
              <a:rPr sz="2400" dirty="0">
                <a:latin typeface="Gill Sans MT"/>
                <a:cs typeface="Gill Sans MT"/>
              </a:rPr>
              <a:t>nh</a:t>
            </a:r>
            <a:r>
              <a:rPr sz="2400" spc="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cu</a:t>
            </a:r>
            <a:r>
              <a:rPr sz="2400" dirty="0">
                <a:latin typeface="Calibri"/>
                <a:cs typeface="Calibri"/>
              </a:rPr>
              <a:t>̣</a:t>
            </a:r>
            <a:r>
              <a:rPr sz="2400" dirty="0">
                <a:latin typeface="Gill Sans MT"/>
                <a:cs typeface="Gill Sans MT"/>
              </a:rPr>
              <a:t>m,</a:t>
            </a:r>
            <a:r>
              <a:rPr sz="2400" spc="-39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dirty="0">
                <a:latin typeface="Calibri"/>
                <a:cs typeface="Calibri"/>
              </a:rPr>
              <a:t>ố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l</a:t>
            </a:r>
            <a:r>
              <a:rPr sz="2400" spc="-10" dirty="0">
                <a:latin typeface="Calibri"/>
                <a:cs typeface="Calibri"/>
              </a:rPr>
              <a:t>ượ</a:t>
            </a:r>
            <a:r>
              <a:rPr sz="2400" spc="-10" dirty="0">
                <a:latin typeface="Gill Sans MT"/>
                <a:cs typeface="Gill Sans MT"/>
              </a:rPr>
              <a:t>ng</a:t>
            </a:r>
            <a:endParaRPr sz="2400">
              <a:latin typeface="Gill Sans MT"/>
              <a:cs typeface="Gill Sans MT"/>
            </a:endParaRPr>
          </a:p>
          <a:p>
            <a:pPr marL="1155700">
              <a:lnSpc>
                <a:spcPts val="2740"/>
              </a:lnSpc>
            </a:pPr>
            <a:r>
              <a:rPr sz="2400" i="1" spc="-20" dirty="0">
                <a:latin typeface="Gill Sans MT Italic"/>
                <a:cs typeface="Gill Sans MT Italic"/>
              </a:rPr>
              <a:t>O</a:t>
            </a:r>
            <a:r>
              <a:rPr sz="2400" spc="-20" dirty="0">
                <a:latin typeface="Gill Sans MT"/>
                <a:cs typeface="Gill Sans MT"/>
              </a:rPr>
              <a:t>(</a:t>
            </a:r>
            <a:r>
              <a:rPr sz="2400" i="1" spc="-20" dirty="0">
                <a:latin typeface="Gill Sans MT Italic"/>
                <a:cs typeface="Gill Sans MT Italic"/>
              </a:rPr>
              <a:t>d</a:t>
            </a:r>
            <a:r>
              <a:rPr sz="2400" spc="-20" dirty="0">
                <a:latin typeface="Gill Sans MT"/>
                <a:cs typeface="Gill Sans MT"/>
              </a:rPr>
              <a:t>)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439" y="2204720"/>
            <a:ext cx="6413500" cy="18542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67665" marR="5080" indent="-3556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Ch</a:t>
            </a:r>
            <a:r>
              <a:rPr sz="6000" dirty="0">
                <a:latin typeface="Calibri"/>
                <a:cs typeface="Calibri"/>
              </a:rPr>
              <a:t>ấ</a:t>
            </a:r>
            <a:r>
              <a:rPr sz="6000" dirty="0"/>
              <a:t>t</a:t>
            </a:r>
            <a:r>
              <a:rPr sz="6000" spc="-75" dirty="0"/>
              <a:t> </a:t>
            </a:r>
            <a:r>
              <a:rPr sz="6000" dirty="0"/>
              <a:t>l</a:t>
            </a:r>
            <a:r>
              <a:rPr sz="6000" dirty="0">
                <a:latin typeface="Calibri"/>
                <a:cs typeface="Calibri"/>
              </a:rPr>
              <a:t>ượ</a:t>
            </a:r>
            <a:r>
              <a:rPr sz="6000" dirty="0"/>
              <a:t>ng</a:t>
            </a:r>
            <a:r>
              <a:rPr sz="6000" spc="-90" dirty="0"/>
              <a:t> </a:t>
            </a:r>
            <a:r>
              <a:rPr sz="6000" dirty="0"/>
              <a:t>và</a:t>
            </a:r>
            <a:r>
              <a:rPr sz="6000" spc="-120" dirty="0"/>
              <a:t> </a:t>
            </a:r>
            <a:r>
              <a:rPr sz="6000" spc="-855" dirty="0"/>
              <a:t>đ</a:t>
            </a:r>
            <a:r>
              <a:rPr sz="6000" spc="-855" dirty="0">
                <a:latin typeface="Calibri"/>
                <a:cs typeface="Calibri"/>
              </a:rPr>
              <a:t>ặ</a:t>
            </a:r>
            <a:r>
              <a:rPr sz="6000" spc="-855" dirty="0"/>
              <a:t>c </a:t>
            </a:r>
            <a:r>
              <a:rPr sz="6000" dirty="0"/>
              <a:t>tr</a:t>
            </a:r>
            <a:r>
              <a:rPr sz="6000" dirty="0">
                <a:latin typeface="Calibri"/>
                <a:cs typeface="Calibri"/>
              </a:rPr>
              <a:t>ư</a:t>
            </a:r>
            <a:r>
              <a:rPr sz="6000" dirty="0"/>
              <a:t>ng</a:t>
            </a:r>
            <a:r>
              <a:rPr sz="6000" spc="-135" dirty="0"/>
              <a:t> </a:t>
            </a:r>
            <a:r>
              <a:rPr sz="6000" dirty="0"/>
              <a:t>phân</a:t>
            </a:r>
            <a:r>
              <a:rPr sz="6000" spc="-85" dirty="0"/>
              <a:t> </a:t>
            </a:r>
            <a:r>
              <a:rPr sz="6000" spc="-25" dirty="0"/>
              <a:t>c</a:t>
            </a:r>
            <a:r>
              <a:rPr sz="6000" spc="-25" dirty="0">
                <a:latin typeface="Calibri"/>
                <a:cs typeface="Calibri"/>
              </a:rPr>
              <a:t>ụ</a:t>
            </a:r>
            <a:r>
              <a:rPr sz="6000" spc="-25" dirty="0"/>
              <a:t>m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49605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50" dirty="0"/>
              <a:t>c</a:t>
            </a:r>
            <a:r>
              <a:rPr spc="-150" dirty="0">
                <a:latin typeface="Calibri"/>
                <a:cs typeface="Calibri"/>
              </a:rPr>
              <a:t>ụ</a:t>
            </a:r>
            <a:r>
              <a:rPr spc="-150" dirty="0"/>
              <a:t>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20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4214" y="2228030"/>
            <a:ext cx="8306562" cy="31139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900" y="2400299"/>
            <a:ext cx="7988300" cy="384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59940" y="1607820"/>
            <a:ext cx="72605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Các</a:t>
            </a:r>
            <a:r>
              <a:rPr sz="3200" spc="-11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v</a:t>
            </a:r>
            <a:r>
              <a:rPr sz="3200" dirty="0">
                <a:latin typeface="Calibri"/>
                <a:cs typeface="Calibri"/>
              </a:rPr>
              <a:t>ấ</a:t>
            </a:r>
            <a:r>
              <a:rPr sz="3200" dirty="0">
                <a:latin typeface="Gill Sans MT"/>
                <a:cs typeface="Gill Sans MT"/>
              </a:rPr>
              <a:t>n đ</a:t>
            </a:r>
            <a:r>
              <a:rPr sz="3200" dirty="0">
                <a:latin typeface="Calibri"/>
                <a:cs typeface="Calibri"/>
              </a:rPr>
              <a:t>ề</a:t>
            </a:r>
            <a:r>
              <a:rPr sz="3200" spc="270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đánh</a:t>
            </a:r>
            <a:r>
              <a:rPr sz="3200" spc="-10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giá</a:t>
            </a:r>
            <a:r>
              <a:rPr sz="3200" spc="3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</a:t>
            </a:r>
            <a:r>
              <a:rPr sz="3200" dirty="0">
                <a:latin typeface="Calibri"/>
                <a:cs typeface="Calibri"/>
              </a:rPr>
              <a:t>ấ</a:t>
            </a:r>
            <a:r>
              <a:rPr sz="3200" dirty="0">
                <a:latin typeface="Gill Sans MT"/>
                <a:cs typeface="Gill Sans MT"/>
              </a:rPr>
              <a:t>t</a:t>
            </a:r>
            <a:r>
              <a:rPr sz="3200" spc="-6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l</a:t>
            </a:r>
            <a:r>
              <a:rPr sz="3200" dirty="0">
                <a:latin typeface="Calibri"/>
                <a:cs typeface="Calibri"/>
              </a:rPr>
              <a:t>ượ</a:t>
            </a:r>
            <a:r>
              <a:rPr sz="3200" dirty="0">
                <a:latin typeface="Gill Sans MT"/>
                <a:cs typeface="Gill Sans MT"/>
              </a:rPr>
              <a:t>ng</a:t>
            </a:r>
            <a:r>
              <a:rPr sz="3200" spc="3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phân</a:t>
            </a:r>
            <a:r>
              <a:rPr sz="3200" spc="-105" dirty="0">
                <a:latin typeface="Gill Sans MT"/>
                <a:cs typeface="Gill Sans MT"/>
              </a:rPr>
              <a:t> </a:t>
            </a:r>
            <a:r>
              <a:rPr sz="3200" spc="-1025" dirty="0">
                <a:latin typeface="Gill Sans MT"/>
                <a:cs typeface="Gill Sans MT"/>
              </a:rPr>
              <a:t>c</a:t>
            </a:r>
            <a:r>
              <a:rPr sz="3200" spc="-1025" dirty="0">
                <a:latin typeface="Calibri"/>
                <a:cs typeface="Calibri"/>
              </a:rPr>
              <a:t>ụ</a:t>
            </a:r>
            <a:r>
              <a:rPr sz="3200" spc="-1025" dirty="0">
                <a:latin typeface="Gill Sans MT"/>
                <a:cs typeface="Gill Sans MT"/>
              </a:rPr>
              <a:t>m</a:t>
            </a:r>
            <a:endParaRPr sz="3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607820"/>
            <a:ext cx="72053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Tiêu</a:t>
            </a:r>
            <a:r>
              <a:rPr sz="3200" spc="3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chu</a:t>
            </a:r>
            <a:r>
              <a:rPr sz="3200" dirty="0">
                <a:latin typeface="Calibri"/>
                <a:cs typeface="Calibri"/>
              </a:rPr>
              <a:t>ẩ</a:t>
            </a:r>
            <a:r>
              <a:rPr sz="3200" dirty="0">
                <a:latin typeface="Gill Sans MT"/>
                <a:cs typeface="Gill Sans MT"/>
              </a:rPr>
              <a:t>n/đ</a:t>
            </a:r>
            <a:r>
              <a:rPr sz="3200" dirty="0">
                <a:latin typeface="Calibri"/>
                <a:cs typeface="Calibri"/>
              </a:rPr>
              <a:t>ộ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đo</a:t>
            </a:r>
            <a:r>
              <a:rPr sz="3200" spc="-2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đánh</a:t>
            </a:r>
            <a:r>
              <a:rPr sz="3200" spc="-5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giá</a:t>
            </a:r>
            <a:r>
              <a:rPr sz="3200" spc="-114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</a:t>
            </a:r>
            <a:r>
              <a:rPr sz="3200" dirty="0">
                <a:latin typeface="Calibri"/>
                <a:cs typeface="Calibri"/>
              </a:rPr>
              <a:t>ấ</a:t>
            </a:r>
            <a:r>
              <a:rPr sz="3200" dirty="0">
                <a:latin typeface="Gill Sans MT"/>
                <a:cs typeface="Gill Sans MT"/>
              </a:rPr>
              <a:t>t</a:t>
            </a:r>
            <a:r>
              <a:rPr sz="3200" spc="-20" dirty="0">
                <a:latin typeface="Gill Sans MT"/>
                <a:cs typeface="Gill Sans MT"/>
              </a:rPr>
              <a:t> </a:t>
            </a:r>
            <a:r>
              <a:rPr sz="3200" spc="-10" dirty="0">
                <a:latin typeface="Gill Sans MT"/>
                <a:cs typeface="Gill Sans MT"/>
              </a:rPr>
              <a:t>l</a:t>
            </a:r>
            <a:r>
              <a:rPr sz="3200" spc="-10" dirty="0">
                <a:latin typeface="Calibri"/>
                <a:cs typeface="Calibri"/>
              </a:rPr>
              <a:t>ượ</a:t>
            </a:r>
            <a:r>
              <a:rPr sz="3200" spc="-10" dirty="0">
                <a:latin typeface="Gill Sans MT"/>
                <a:cs typeface="Gill Sans MT"/>
              </a:rPr>
              <a:t>ng </a:t>
            </a:r>
            <a:r>
              <a:rPr sz="3200" spc="-1595" dirty="0">
                <a:latin typeface="Gill Sans MT"/>
                <a:cs typeface="Gill Sans MT"/>
              </a:rPr>
              <a:t>PC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45" y="2644761"/>
            <a:ext cx="7165930" cy="28467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512025"/>
            <a:ext cx="7912100" cy="2569358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spcBef>
                <a:spcPts val="85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Xác</a:t>
            </a:r>
            <a:r>
              <a:rPr sz="3200" spc="-12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ị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nh</a:t>
            </a:r>
            <a:r>
              <a:rPr sz="3200" spc="7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s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ố</a:t>
            </a:r>
            <a:r>
              <a:rPr sz="3200" spc="150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B1AE3"/>
                </a:solidFill>
                <a:latin typeface="Gill Sans MT"/>
                <a:cs typeface="Gill Sans MT"/>
              </a:rPr>
              <a:t>c</a:t>
            </a:r>
            <a:r>
              <a:rPr sz="3200" spc="-25" dirty="0">
                <a:solidFill>
                  <a:srgbClr val="0B1AE3"/>
                </a:solidFill>
                <a:latin typeface="Calibri"/>
                <a:cs typeface="Calibri"/>
              </a:rPr>
              <a:t>ụ</a:t>
            </a:r>
            <a:r>
              <a:rPr sz="3200" spc="-25" dirty="0">
                <a:solidFill>
                  <a:srgbClr val="0B1AE3"/>
                </a:solidFill>
                <a:latin typeface="Gill Sans MT"/>
                <a:cs typeface="Gill Sans MT"/>
              </a:rPr>
              <a:t>m</a:t>
            </a:r>
            <a:endParaRPr sz="3200">
              <a:latin typeface="Gill Sans MT"/>
              <a:cs typeface="Gill Sans MT"/>
            </a:endParaRPr>
          </a:p>
          <a:p>
            <a:pPr marL="762000" marR="5080" lvl="1" indent="-393700">
              <a:lnSpc>
                <a:spcPct val="101200"/>
              </a:lnSpc>
              <a:spcBef>
                <a:spcPts val="615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ố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v</a:t>
            </a:r>
            <a:r>
              <a:rPr sz="2800" dirty="0">
                <a:latin typeface="Calibri"/>
                <a:cs typeface="Calibri"/>
              </a:rPr>
              <a:t>ớ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dirty="0">
                <a:latin typeface="Calibri"/>
                <a:cs typeface="Calibri"/>
              </a:rPr>
              <a:t>â</a:t>
            </a:r>
            <a:r>
              <a:rPr sz="2800">
                <a:latin typeface="Gill Sans MT"/>
                <a:cs typeface="Gill Sans MT"/>
              </a:rPr>
              <a:t>y</a:t>
            </a:r>
            <a:r>
              <a:rPr sz="2800" spc="5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ph</a:t>
            </a:r>
            <a:r>
              <a:rPr lang="en-US" sz="2800">
                <a:latin typeface="Calibri"/>
                <a:cs typeface="Calibri"/>
              </a:rPr>
              <a:t>ân </a:t>
            </a:r>
            <a:r>
              <a:rPr sz="2800">
                <a:latin typeface="Gill Sans MT"/>
                <a:cs typeface="Gill Sans MT"/>
              </a:rPr>
              <a:t>c</a:t>
            </a:r>
            <a:r>
              <a:rPr sz="2800">
                <a:latin typeface="Calibri"/>
                <a:cs typeface="Calibri"/>
              </a:rPr>
              <a:t>ấ</a:t>
            </a:r>
            <a:r>
              <a:rPr sz="2800">
                <a:latin typeface="Gill Sans MT"/>
                <a:cs typeface="Gill Sans MT"/>
              </a:rPr>
              <a:t>p</a:t>
            </a:r>
            <a:r>
              <a:rPr sz="2800" spc="-15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</a:t>
            </a:r>
            <a:r>
              <a:rPr sz="2800" dirty="0">
                <a:latin typeface="Calibri"/>
                <a:cs typeface="Calibri"/>
              </a:rPr>
              <a:t>ử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du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1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chi</a:t>
            </a:r>
            <a:r>
              <a:rPr sz="2800" dirty="0">
                <a:latin typeface="Calibri"/>
                <a:cs typeface="Calibri"/>
              </a:rPr>
              <a:t>̉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sô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>
                <a:latin typeface="Gill Sans MT"/>
                <a:cs typeface="Gill Sans MT"/>
              </a:rPr>
              <a:t>đo</a:t>
            </a:r>
            <a:r>
              <a:rPr sz="2800" spc="-6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đ</a:t>
            </a:r>
            <a:r>
              <a:rPr lang="en-US" sz="2800">
                <a:latin typeface="Calibri"/>
                <a:cs typeface="Calibri"/>
              </a:rPr>
              <a:t>ộ </a:t>
            </a:r>
            <a:r>
              <a:rPr sz="2800" spc="-720">
                <a:latin typeface="Gill Sans MT"/>
                <a:cs typeface="Gill Sans MT"/>
              </a:rPr>
              <a:t>t</a:t>
            </a:r>
            <a:r>
              <a:rPr sz="2800" spc="-720">
                <a:latin typeface="Calibri"/>
                <a:cs typeface="Calibri"/>
              </a:rPr>
              <a:t>ươ</a:t>
            </a:r>
            <a:r>
              <a:rPr sz="2800" spc="-720">
                <a:latin typeface="Gill Sans MT"/>
                <a:cs typeface="Gill Sans MT"/>
              </a:rPr>
              <a:t>ng</a:t>
            </a:r>
            <a:r>
              <a:rPr sz="2800" spc="-25">
                <a:latin typeface="Gill Sans MT"/>
                <a:cs typeface="Gill Sans MT"/>
              </a:rPr>
              <a:t> </a:t>
            </a:r>
            <a:r>
              <a:rPr sz="2800" spc="-25" dirty="0">
                <a:latin typeface="Gill Sans MT"/>
                <a:cs typeface="Gill Sans MT"/>
              </a:rPr>
              <a:t>t</a:t>
            </a:r>
            <a:r>
              <a:rPr sz="2800" spc="-25" dirty="0">
                <a:latin typeface="Calibri"/>
                <a:cs typeface="Calibri"/>
              </a:rPr>
              <a:t>ư</a:t>
            </a:r>
            <a:endParaRPr sz="2800">
              <a:latin typeface="Calibri"/>
              <a:cs typeface="Calibri"/>
            </a:endParaRPr>
          </a:p>
          <a:p>
            <a:pPr marL="762000" marR="78740" lvl="1" indent="-393700">
              <a:lnSpc>
                <a:spcPct val="101200"/>
              </a:lnSpc>
              <a:spcBef>
                <a:spcPts val="60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>
                <a:latin typeface="Gill Sans MT"/>
                <a:cs typeface="Gill Sans MT"/>
              </a:rPr>
              <a:t>V</a:t>
            </a:r>
            <a:r>
              <a:rPr sz="2800">
                <a:latin typeface="Calibri"/>
                <a:cs typeface="Calibri"/>
              </a:rPr>
              <a:t>ớ</a:t>
            </a:r>
            <a:r>
              <a:rPr sz="2800">
                <a:latin typeface="Gill Sans MT"/>
                <a:cs typeface="Gill Sans MT"/>
              </a:rPr>
              <a:t>i</a:t>
            </a:r>
            <a:r>
              <a:rPr sz="2800" spc="-4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ph</a:t>
            </a:r>
            <a:r>
              <a:rPr lang="en-US" sz="2800">
                <a:latin typeface="Calibri"/>
                <a:cs typeface="Calibri"/>
              </a:rPr>
              <a:t>ân </a:t>
            </a:r>
            <a:r>
              <a:rPr sz="2800">
                <a:latin typeface="Gill Sans MT"/>
                <a:cs typeface="Gill Sans MT"/>
              </a:rPr>
              <a:t>hoa</a:t>
            </a:r>
            <a:r>
              <a:rPr sz="2800">
                <a:latin typeface="Calibri"/>
                <a:cs typeface="Calibri"/>
              </a:rPr>
              <a:t>̣</a:t>
            </a:r>
            <a:r>
              <a:rPr sz="2800">
                <a:latin typeface="Gill Sans MT"/>
                <a:cs typeface="Gill Sans MT"/>
              </a:rPr>
              <a:t>ch</a:t>
            </a:r>
            <a:r>
              <a:rPr sz="2800" spc="65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tr</a:t>
            </a:r>
            <a:r>
              <a:rPr sz="2800" dirty="0">
                <a:latin typeface="Calibri"/>
                <a:cs typeface="Calibri"/>
              </a:rPr>
              <a:t>ự</a:t>
            </a:r>
            <a:r>
              <a:rPr sz="2800" dirty="0">
                <a:latin typeface="Gill Sans MT"/>
                <a:cs typeface="Gill Sans MT"/>
              </a:rPr>
              <a:t>c</a:t>
            </a:r>
            <a:r>
              <a:rPr sz="2800" spc="-5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ti</a:t>
            </a:r>
            <a:r>
              <a:rPr sz="2800" dirty="0">
                <a:latin typeface="Calibri"/>
                <a:cs typeface="Calibri"/>
              </a:rPr>
              <a:t>ế</a:t>
            </a:r>
            <a:r>
              <a:rPr sz="2800" dirty="0">
                <a:latin typeface="Gill Sans MT"/>
                <a:cs typeface="Gill Sans MT"/>
              </a:rPr>
              <a:t>p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thi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s</a:t>
            </a:r>
            <a:r>
              <a:rPr sz="2800" dirty="0">
                <a:latin typeface="Calibri"/>
                <a:cs typeface="Calibri"/>
              </a:rPr>
              <a:t>ử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du</a:t>
            </a:r>
            <a:r>
              <a:rPr sz="2800" dirty="0">
                <a:latin typeface="Calibri"/>
                <a:cs typeface="Calibri"/>
              </a:rPr>
              <a:t>̣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25" dirty="0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ca</a:t>
            </a:r>
            <a:r>
              <a:rPr sz="2800">
                <a:latin typeface="Calibri"/>
                <a:cs typeface="Calibri"/>
              </a:rPr>
              <a:t>́</a:t>
            </a:r>
            <a:r>
              <a:rPr sz="2800">
                <a:latin typeface="Gill Sans MT"/>
                <a:cs typeface="Gill Sans MT"/>
              </a:rPr>
              <a:t>c</a:t>
            </a:r>
            <a:r>
              <a:rPr sz="2800" spc="-55">
                <a:latin typeface="Gill Sans MT"/>
                <a:cs typeface="Gill Sans MT"/>
              </a:rPr>
              <a:t> </a:t>
            </a:r>
            <a:r>
              <a:rPr sz="2800">
                <a:latin typeface="Gill Sans MT"/>
                <a:cs typeface="Gill Sans MT"/>
              </a:rPr>
              <a:t>ti</a:t>
            </a:r>
            <a:r>
              <a:rPr lang="en-US" sz="2800">
                <a:latin typeface="Calibri"/>
                <a:cs typeface="Calibri"/>
              </a:rPr>
              <a:t>êu</a:t>
            </a:r>
            <a:r>
              <a:rPr sz="2800" spc="-3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chi</a:t>
            </a:r>
            <a:r>
              <a:rPr sz="2800" spc="-20" dirty="0">
                <a:latin typeface="Calibri"/>
                <a:cs typeface="Calibri"/>
              </a:rPr>
              <a:t>́ </a:t>
            </a:r>
            <a:r>
              <a:rPr sz="2800" dirty="0">
                <a:latin typeface="Gill Sans MT"/>
                <a:cs typeface="Gill Sans MT"/>
              </a:rPr>
              <a:t>g</a:t>
            </a:r>
            <a:r>
              <a:rPr sz="2800" dirty="0">
                <a:latin typeface="Calibri"/>
                <a:cs typeface="Calibri"/>
              </a:rPr>
              <a:t>ắ</a:t>
            </a:r>
            <a:r>
              <a:rPr sz="2800" dirty="0">
                <a:latin typeface="Gill Sans MT"/>
                <a:cs typeface="Gill Sans MT"/>
              </a:rPr>
              <a:t>n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v</a:t>
            </a:r>
            <a:r>
              <a:rPr sz="2800" dirty="0">
                <a:latin typeface="Calibri"/>
                <a:cs typeface="Calibri"/>
              </a:rPr>
              <a:t>ớ</a:t>
            </a:r>
            <a:r>
              <a:rPr sz="2800" dirty="0">
                <a:latin typeface="Gill Sans MT"/>
                <a:cs typeface="Gill Sans MT"/>
              </a:rPr>
              <a:t>i</a:t>
            </a:r>
            <a:r>
              <a:rPr sz="2800" spc="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</a:t>
            </a:r>
            <a:r>
              <a:rPr sz="2800" dirty="0">
                <a:latin typeface="Calibri"/>
                <a:cs typeface="Calibri"/>
              </a:rPr>
              <a:t>ổ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12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bi</a:t>
            </a:r>
            <a:r>
              <a:rPr sz="2800" dirty="0">
                <a:latin typeface="Calibri"/>
                <a:cs typeface="Calibri"/>
              </a:rPr>
              <a:t>̀</a:t>
            </a:r>
            <a:r>
              <a:rPr sz="2800" dirty="0">
                <a:latin typeface="Gill Sans MT"/>
                <a:cs typeface="Gill Sans MT"/>
              </a:rPr>
              <a:t>nh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ph</a:t>
            </a:r>
            <a:r>
              <a:rPr sz="2800" dirty="0">
                <a:latin typeface="Calibri"/>
                <a:cs typeface="Calibri"/>
              </a:rPr>
              <a:t>ươ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25" dirty="0">
                <a:latin typeface="Gill Sans MT"/>
                <a:cs typeface="Gill Sans MT"/>
              </a:rPr>
              <a:t> l</a:t>
            </a:r>
            <a:r>
              <a:rPr sz="2800" spc="-25" dirty="0">
                <a:latin typeface="Calibri"/>
                <a:cs typeface="Calibri"/>
              </a:rPr>
              <a:t>ỗ</a:t>
            </a:r>
            <a:r>
              <a:rPr sz="2800" spc="-25" dirty="0">
                <a:latin typeface="Gill Sans MT"/>
                <a:cs typeface="Gill Sans MT"/>
              </a:rPr>
              <a:t>i</a:t>
            </a:r>
            <a:endParaRPr sz="2800">
              <a:latin typeface="Gill Sans MT"/>
              <a:cs typeface="Gill Sans MT"/>
            </a:endParaRPr>
          </a:p>
          <a:p>
            <a:pPr marL="761365" lvl="1" indent="-393065">
              <a:spcBef>
                <a:spcPts val="64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Gill Sans MT"/>
                <a:cs typeface="Gill Sans MT"/>
              </a:rPr>
              <a:t>Đ</a:t>
            </a:r>
            <a:r>
              <a:rPr sz="2800" dirty="0">
                <a:latin typeface="Calibri"/>
                <a:cs typeface="Calibri"/>
              </a:rPr>
              <a:t>ồ̀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th</a:t>
            </a:r>
            <a:r>
              <a:rPr sz="2800" dirty="0">
                <a:latin typeface="Calibri"/>
                <a:cs typeface="Calibri"/>
              </a:rPr>
              <a:t>ị̣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Gill Sans MT"/>
                <a:cs typeface="Gill Sans MT"/>
              </a:rPr>
              <a:t>’da</a:t>
            </a:r>
            <a:r>
              <a:rPr sz="2800" dirty="0">
                <a:latin typeface="Calibri"/>
                <a:cs typeface="Calibri"/>
              </a:rPr>
              <a:t>́</a:t>
            </a:r>
            <a:r>
              <a:rPr sz="2800" dirty="0">
                <a:latin typeface="Gill Sans MT"/>
                <a:cs typeface="Gill Sans MT"/>
              </a:rPr>
              <a:t>ng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spc="-20" dirty="0">
                <a:latin typeface="Gill Sans MT"/>
                <a:cs typeface="Gill Sans MT"/>
              </a:rPr>
              <a:t>đi</a:t>
            </a:r>
            <a:r>
              <a:rPr sz="2800" spc="-20" dirty="0">
                <a:latin typeface="Calibri"/>
                <a:cs typeface="Calibri"/>
              </a:rPr>
              <a:t>ệ</a:t>
            </a:r>
            <a:r>
              <a:rPr sz="2800" spc="-20" dirty="0">
                <a:latin typeface="Gill Sans MT"/>
                <a:cs typeface="Gill Sans MT"/>
              </a:rPr>
              <a:t>u’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607820"/>
            <a:ext cx="80733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ộ</a:t>
            </a:r>
            <a:r>
              <a:rPr sz="3200" spc="160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đo</a:t>
            </a:r>
            <a:r>
              <a:rPr sz="3200" spc="1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đánh</a:t>
            </a:r>
            <a:r>
              <a:rPr sz="3200" spc="-1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giá</a:t>
            </a:r>
            <a:r>
              <a:rPr sz="3200" spc="-8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trong:Tính</a:t>
            </a:r>
            <a:r>
              <a:rPr sz="3200" spc="-1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g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ắ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n</a:t>
            </a:r>
            <a:r>
              <a:rPr sz="3200" spc="-1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k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ế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t</a:t>
            </a:r>
            <a:r>
              <a:rPr sz="3200" spc="2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và</a:t>
            </a:r>
            <a:r>
              <a:rPr sz="3200" spc="-8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spc="-20" dirty="0">
                <a:solidFill>
                  <a:srgbClr val="0B1AE3"/>
                </a:solidFill>
                <a:latin typeface="Gill Sans MT"/>
                <a:cs typeface="Gill Sans MT"/>
              </a:rPr>
              <a:t>tách</a:t>
            </a:r>
            <a:r>
              <a:rPr sz="3200" spc="80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spc="-965" dirty="0">
                <a:solidFill>
                  <a:srgbClr val="0B1AE3"/>
                </a:solidFill>
                <a:latin typeface="Gill Sans MT"/>
                <a:cs typeface="Gill Sans MT"/>
              </a:rPr>
              <a:t>bi</a:t>
            </a:r>
            <a:r>
              <a:rPr sz="3200" spc="-965" dirty="0">
                <a:solidFill>
                  <a:srgbClr val="0B1AE3"/>
                </a:solidFill>
                <a:latin typeface="Calibri"/>
                <a:cs typeface="Calibri"/>
              </a:rPr>
              <a:t>ệ</a:t>
            </a:r>
            <a:r>
              <a:rPr sz="3200" spc="-965" dirty="0">
                <a:solidFill>
                  <a:srgbClr val="0B1AE3"/>
                </a:solidFill>
                <a:latin typeface="Gill Sans MT"/>
                <a:cs typeface="Gill Sans MT"/>
              </a:rPr>
              <a:t>t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5199" y="2401705"/>
            <a:ext cx="6926315" cy="33952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0" y="2413000"/>
            <a:ext cx="7124700" cy="444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59940" y="1293029"/>
            <a:ext cx="6616700" cy="10083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55600" marR="5080" indent="-342900">
              <a:lnSpc>
                <a:spcPct val="101600"/>
              </a:lnSpc>
              <a:spcBef>
                <a:spcPts val="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ộ</a:t>
            </a:r>
            <a:r>
              <a:rPr sz="3200" spc="165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đo</a:t>
            </a:r>
            <a:r>
              <a:rPr sz="3200" spc="3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đánh giá</a:t>
            </a:r>
            <a:r>
              <a:rPr sz="3200" spc="-6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trong:</a:t>
            </a:r>
            <a:r>
              <a:rPr sz="3200" spc="-495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h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ệ</a:t>
            </a:r>
            <a:r>
              <a:rPr sz="3200" spc="160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sô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́</a:t>
            </a:r>
            <a:r>
              <a:rPr sz="3200" spc="165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spc="-20" dirty="0" err="1">
                <a:solidFill>
                  <a:srgbClr val="0B1AE3"/>
                </a:solidFill>
                <a:latin typeface="Gill Sans MT"/>
                <a:cs typeface="Gill Sans MT"/>
              </a:rPr>
              <a:t>da</a:t>
            </a:r>
            <a:r>
              <a:rPr sz="3200" spc="-20" dirty="0" err="1">
                <a:solidFill>
                  <a:srgbClr val="0B1AE3"/>
                </a:solidFill>
                <a:latin typeface="Calibri"/>
                <a:cs typeface="Calibri"/>
              </a:rPr>
              <a:t>́</a:t>
            </a:r>
            <a:r>
              <a:rPr sz="3200" spc="-20" dirty="0" err="1">
                <a:solidFill>
                  <a:srgbClr val="0B1AE3"/>
                </a:solidFill>
                <a:latin typeface="Gill Sans MT"/>
                <a:cs typeface="Gill Sans MT"/>
              </a:rPr>
              <a:t>ng</a:t>
            </a:r>
            <a:r>
              <a:rPr sz="3200" spc="-2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spc="-1120" dirty="0" err="1">
                <a:solidFill>
                  <a:srgbClr val="0B1AE3"/>
                </a:solidFill>
                <a:latin typeface="Gill Sans MT"/>
                <a:cs typeface="Gill Sans MT"/>
              </a:rPr>
              <a:t>đi</a:t>
            </a:r>
            <a:r>
              <a:rPr lang="en-US" sz="3200" spc="-1120" dirty="0" err="1">
                <a:solidFill>
                  <a:srgbClr val="0B1AE3"/>
                </a:solidFill>
                <a:latin typeface="Calibri"/>
                <a:cs typeface="Calibri"/>
              </a:rPr>
              <a:t>ệu</a:t>
            </a:r>
            <a:r>
              <a:rPr lang="en-US" sz="3200" spc="-1120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(</a:t>
            </a:r>
            <a:r>
              <a:rPr sz="3200" i="1" dirty="0">
                <a:solidFill>
                  <a:srgbClr val="0B1AE3"/>
                </a:solidFill>
                <a:latin typeface="Gill Sans MT Italic"/>
                <a:cs typeface="Gill Sans MT Italic"/>
              </a:rPr>
              <a:t>silhouette</a:t>
            </a:r>
            <a:r>
              <a:rPr sz="3200" i="1" spc="-70" dirty="0">
                <a:solidFill>
                  <a:srgbClr val="0B1AE3"/>
                </a:solidFill>
                <a:latin typeface="Gill Sans MT Italic"/>
                <a:cs typeface="Gill Sans MT Italic"/>
              </a:rPr>
              <a:t> </a:t>
            </a:r>
            <a:r>
              <a:rPr sz="3200" i="1" spc="-10" dirty="0">
                <a:solidFill>
                  <a:srgbClr val="0B1AE3"/>
                </a:solidFill>
                <a:latin typeface="Gill Sans MT Italic"/>
                <a:cs typeface="Gill Sans MT Italic"/>
              </a:rPr>
              <a:t>coefficient</a:t>
            </a:r>
            <a:r>
              <a:rPr sz="3200" spc="-10" dirty="0">
                <a:solidFill>
                  <a:srgbClr val="0B1AE3"/>
                </a:solidFill>
                <a:latin typeface="Gill Sans MT"/>
                <a:cs typeface="Gill Sans MT"/>
              </a:rPr>
              <a:t>)</a:t>
            </a:r>
            <a:endParaRPr sz="32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0" y="1993900"/>
            <a:ext cx="6527800" cy="4787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69469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Đánh</a:t>
            </a:r>
            <a:r>
              <a:rPr spc="-30" dirty="0"/>
              <a:t> </a:t>
            </a:r>
            <a:r>
              <a:rPr dirty="0"/>
              <a:t>giá</a:t>
            </a:r>
            <a:r>
              <a:rPr spc="-145" dirty="0"/>
              <a:t> </a:t>
            </a:r>
            <a:r>
              <a:rPr dirty="0"/>
              <a:t>ch</a:t>
            </a:r>
            <a:r>
              <a:rPr dirty="0">
                <a:latin typeface="Calibri"/>
                <a:cs typeface="Calibri"/>
              </a:rPr>
              <a:t>ấ</a:t>
            </a:r>
            <a:r>
              <a:rPr dirty="0"/>
              <a:t>t</a:t>
            </a:r>
            <a:r>
              <a:rPr spc="5" dirty="0"/>
              <a:t> </a:t>
            </a:r>
            <a:r>
              <a:rPr dirty="0"/>
              <a:t>l</a:t>
            </a:r>
            <a:r>
              <a:rPr dirty="0">
                <a:latin typeface="Calibri"/>
                <a:cs typeface="Calibri"/>
              </a:rPr>
              <a:t>ượ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phân</a:t>
            </a:r>
            <a:r>
              <a:rPr spc="-30" dirty="0"/>
              <a:t> </a:t>
            </a:r>
            <a:r>
              <a:rPr spc="-130" dirty="0"/>
              <a:t>c</a:t>
            </a:r>
            <a:r>
              <a:rPr spc="-130" dirty="0">
                <a:latin typeface="Calibri"/>
                <a:cs typeface="Calibri"/>
              </a:rPr>
              <a:t>ụ</a:t>
            </a:r>
            <a:r>
              <a:rPr spc="-130" dirty="0"/>
              <a:t>m…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059941" y="1293029"/>
            <a:ext cx="3874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</a:t>
            </a:r>
            <a:r>
              <a:rPr sz="3200" dirty="0">
                <a:solidFill>
                  <a:srgbClr val="0B1AE3"/>
                </a:solidFill>
                <a:latin typeface="Calibri"/>
                <a:cs typeface="Calibri"/>
              </a:rPr>
              <a:t>ộ</a:t>
            </a:r>
            <a:r>
              <a:rPr sz="3200" spc="150" dirty="0">
                <a:solidFill>
                  <a:srgbClr val="0B1AE3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đo</a:t>
            </a:r>
            <a:r>
              <a:rPr sz="3200" spc="1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0B1AE3"/>
                </a:solidFill>
                <a:latin typeface="Gill Sans MT"/>
                <a:cs typeface="Gill Sans MT"/>
              </a:rPr>
              <a:t>đánh</a:t>
            </a:r>
            <a:r>
              <a:rPr sz="3200" spc="-25" dirty="0">
                <a:solidFill>
                  <a:srgbClr val="0B1AE3"/>
                </a:solidFill>
                <a:latin typeface="Gill Sans MT"/>
                <a:cs typeface="Gill Sans MT"/>
              </a:rPr>
              <a:t> giá</a:t>
            </a:r>
            <a:r>
              <a:rPr sz="3200" spc="800" dirty="0">
                <a:solidFill>
                  <a:srgbClr val="0B1AE3"/>
                </a:solidFill>
                <a:latin typeface="Gill Sans MT"/>
                <a:cs typeface="Gill Sans MT"/>
              </a:rPr>
              <a:t> </a:t>
            </a:r>
            <a:r>
              <a:rPr sz="3200" spc="-770" dirty="0">
                <a:solidFill>
                  <a:srgbClr val="0B1AE3"/>
                </a:solidFill>
                <a:latin typeface="Gill Sans MT"/>
                <a:cs typeface="Gill Sans MT"/>
              </a:rPr>
              <a:t>ngoài</a:t>
            </a:r>
            <a:endParaRPr sz="3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48641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95" dirty="0"/>
              <a:t>c</a:t>
            </a:r>
            <a:r>
              <a:rPr spc="-95" dirty="0">
                <a:latin typeface="Calibri"/>
                <a:cs typeface="Calibri"/>
              </a:rPr>
              <a:t>ụ</a:t>
            </a:r>
            <a:r>
              <a:rPr spc="-95" dirty="0"/>
              <a:t>m/l</a:t>
            </a:r>
            <a:r>
              <a:rPr spc="-95" dirty="0">
                <a:latin typeface="Calibri"/>
                <a:cs typeface="Calibri"/>
              </a:rPr>
              <a:t>ớ</a:t>
            </a:r>
            <a:r>
              <a:rPr spc="-95" dirty="0"/>
              <a:t>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197236"/>
            <a:ext cx="7857490" cy="24770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spcBef>
                <a:spcPts val="855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Giúp</a:t>
            </a:r>
            <a:r>
              <a:rPr sz="3200" b="1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sz="3200" b="1" spc="-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việc</a:t>
            </a:r>
            <a:r>
              <a:rPr sz="3200" b="1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sz="3200" b="1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giải</a:t>
            </a:r>
            <a:r>
              <a:rPr sz="3200" b="1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sz="3200" b="1" spc="-8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200" b="1" spc="-1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hoạch</a:t>
            </a:r>
            <a:r>
              <a:rPr sz="32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2000" marR="89535" indent="-393700">
              <a:lnSpc>
                <a:spcPct val="101200"/>
              </a:lnSpc>
              <a:spcBef>
                <a:spcPts val="615"/>
              </a:spcBef>
              <a:tabLst>
                <a:tab pos="761365" algn="l"/>
              </a:tabLst>
            </a:pPr>
            <a:r>
              <a:rPr sz="2100" spc="555" dirty="0">
                <a:solidFill>
                  <a:srgbClr val="558E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□</a:t>
            </a:r>
            <a:r>
              <a:rPr sz="2100" dirty="0">
                <a:solidFill>
                  <a:srgbClr val="558E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sz="2800" spc="-6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hoạch</a:t>
            </a:r>
            <a:r>
              <a:rPr sz="2800" spc="-2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sẽ</a:t>
            </a:r>
            <a:r>
              <a:rPr sz="2800" spc="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sz="2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nâng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z="2800" spc="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2800" spc="2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sz="28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cách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đáng</a:t>
            </a:r>
            <a:r>
              <a:rPr sz="2800" spc="-3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</a:t>
            </a:r>
            <a:r>
              <a:rPr sz="2800" spc="-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nó</a:t>
            </a:r>
            <a:r>
              <a:rPr sz="2800" spc="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</a:t>
            </a:r>
            <a:r>
              <a:rPr sz="2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kèm</a:t>
            </a:r>
            <a:r>
              <a:rPr sz="28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sz="2800" spc="-4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ột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̂</a:t>
            </a:r>
            <a:r>
              <a:rPr sz="2800" spc="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tả</a:t>
            </a:r>
            <a:r>
              <a:rPr sz="2800" spc="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về</a:t>
            </a:r>
            <a:r>
              <a:rPr sz="2800" spc="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9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theo</a:t>
            </a:r>
            <a:r>
              <a:rPr sz="280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thuộc</a:t>
            </a:r>
            <a:r>
              <a:rPr sz="2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tính</a:t>
            </a:r>
            <a:r>
              <a:rPr sz="2800" spc="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và</a:t>
            </a:r>
            <a:r>
              <a:rPr sz="2800" spc="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</a:t>
            </a:r>
            <a:r>
              <a:rPr sz="2800" spc="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thể.</a:t>
            </a:r>
            <a:endParaRPr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183810"/>
            <a:ext cx="8015605" cy="467820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965" indent="-342265">
              <a:spcBef>
                <a:spcPts val="56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 giải phân hoạch theo cá thể</a:t>
            </a:r>
            <a:endParaRPr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4965" indent="-342265">
              <a:spcBef>
                <a:spcPts val="45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 mỗi lớp người ta xét các yếu tố sau:</a:t>
            </a:r>
          </a:p>
          <a:p>
            <a:pPr marL="761365" lvl="1" indent="-393065">
              <a:spcBef>
                <a:spcPts val="36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số phần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̉,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đường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kính (khoảng cách giữa 2 điểm xa nhất),</a:t>
            </a:r>
          </a:p>
          <a:p>
            <a:pPr marL="762000" marR="273685" lvl="1" indent="-393700">
              <a:lnSpc>
                <a:spcPts val="3100"/>
              </a:lnSpc>
              <a:spcBef>
                <a:spcPts val="66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sự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tách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ệt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(khoảng cách cực tiểu giữa lớp đang xét với lớp gần nó nhất),</a:t>
            </a:r>
          </a:p>
          <a:p>
            <a:pPr marL="762000" marR="654050" lvl="1" indent="-393700">
              <a:lnSpc>
                <a:spcPts val="3000"/>
              </a:lnSpc>
              <a:spcBef>
                <a:spcPts val="68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các cá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nằm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gần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trọng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của lớp nhất,</a:t>
            </a:r>
          </a:p>
          <a:p>
            <a:pPr marL="761365" lvl="1" indent="-393065">
              <a:spcBef>
                <a:spcPts val="300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1365" algn="l"/>
              </a:tabLst>
            </a:pP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các cá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nằm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xa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trọng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của lớp nhất.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293029"/>
            <a:ext cx="7696200" cy="10083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55600" marR="5080" indent="-342900">
              <a:lnSpc>
                <a:spcPct val="101600"/>
              </a:lnSpc>
              <a:spcBef>
                <a:spcPts val="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Gill Sans MT Bold"/>
                <a:cs typeface="Gill Sans MT Bold"/>
              </a:rPr>
              <a:t>Di</a:t>
            </a:r>
            <a:r>
              <a:rPr sz="3200" b="1" dirty="0">
                <a:latin typeface="Calibri"/>
                <a:cs typeface="Calibri"/>
              </a:rPr>
              <a:t>ễ</a:t>
            </a:r>
            <a:r>
              <a:rPr sz="3200" b="1" dirty="0">
                <a:latin typeface="Gill Sans MT Bold"/>
                <a:cs typeface="Gill Sans MT Bold"/>
              </a:rPr>
              <a:t>n</a:t>
            </a:r>
            <a:r>
              <a:rPr sz="3200" b="1" spc="-25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gi</a:t>
            </a:r>
            <a:r>
              <a:rPr sz="3200" b="1" dirty="0">
                <a:latin typeface="Calibri"/>
                <a:cs typeface="Calibri"/>
              </a:rPr>
              <a:t>ả</a:t>
            </a:r>
            <a:r>
              <a:rPr sz="3200" b="1" dirty="0">
                <a:latin typeface="Gill Sans MT Bold"/>
                <a:cs typeface="Gill Sans MT Bold"/>
              </a:rPr>
              <a:t>i</a:t>
            </a:r>
            <a:r>
              <a:rPr sz="3200" b="1" spc="-30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phân</a:t>
            </a:r>
            <a:r>
              <a:rPr sz="3200" b="1" spc="-30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ho</a:t>
            </a:r>
            <a:r>
              <a:rPr sz="3200" b="1" dirty="0">
                <a:latin typeface="Calibri"/>
                <a:cs typeface="Calibri"/>
              </a:rPr>
              <a:t>ạ</a:t>
            </a:r>
            <a:r>
              <a:rPr sz="3200" b="1" dirty="0">
                <a:latin typeface="Gill Sans MT Bold"/>
                <a:cs typeface="Gill Sans MT Bold"/>
              </a:rPr>
              <a:t>ch</a:t>
            </a:r>
            <a:r>
              <a:rPr sz="3200" b="1" spc="-25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theo</a:t>
            </a:r>
            <a:r>
              <a:rPr sz="3200" b="1" spc="-65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các</a:t>
            </a:r>
            <a:r>
              <a:rPr sz="3200" b="1" spc="45" dirty="0">
                <a:latin typeface="Gill Sans MT Bold"/>
                <a:cs typeface="Gill Sans MT Bold"/>
              </a:rPr>
              <a:t> </a:t>
            </a:r>
            <a:r>
              <a:rPr sz="3200" b="1" dirty="0">
                <a:latin typeface="Gill Sans MT Bold"/>
                <a:cs typeface="Gill Sans MT Bold"/>
              </a:rPr>
              <a:t>bi</a:t>
            </a:r>
            <a:r>
              <a:rPr sz="3200" b="1" dirty="0">
                <a:latin typeface="Calibri"/>
                <a:cs typeface="Calibri"/>
              </a:rPr>
              <a:t>ế</a:t>
            </a:r>
            <a:r>
              <a:rPr sz="3200" b="1" dirty="0">
                <a:latin typeface="Gill Sans MT Bold"/>
                <a:cs typeface="Gill Sans MT Bold"/>
              </a:rPr>
              <a:t>n</a:t>
            </a:r>
            <a:r>
              <a:rPr sz="3200" b="1" spc="-25" dirty="0">
                <a:latin typeface="Gill Sans MT Bold"/>
                <a:cs typeface="Gill Sans MT Bold"/>
              </a:rPr>
              <a:t> </a:t>
            </a:r>
            <a:r>
              <a:rPr sz="3200" b="1" spc="-20" dirty="0">
                <a:latin typeface="Gill Sans MT Bold"/>
                <a:cs typeface="Gill Sans MT Bold"/>
              </a:rPr>
              <a:t>liên </a:t>
            </a:r>
            <a:r>
              <a:rPr sz="3200" b="1" spc="-25" dirty="0">
                <a:latin typeface="Gill Sans MT Bold"/>
                <a:cs typeface="Gill Sans MT Bold"/>
              </a:rPr>
              <a:t>t</a:t>
            </a:r>
            <a:r>
              <a:rPr sz="3200" b="1" spc="-25" dirty="0">
                <a:latin typeface="Calibri"/>
                <a:cs typeface="Calibri"/>
              </a:rPr>
              <a:t>ụ</a:t>
            </a:r>
            <a:r>
              <a:rPr sz="3200" b="1" spc="-25" dirty="0">
                <a:latin typeface="Gill Sans MT Bold"/>
                <a:cs typeface="Gill Sans MT Bold"/>
              </a:rPr>
              <a:t>c</a:t>
            </a:r>
            <a:endParaRPr sz="3200" dirty="0">
              <a:latin typeface="Gill Sans MT Bold"/>
              <a:cs typeface="Gill Sans MT Bold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488" y="3173737"/>
            <a:ext cx="7170458" cy="6308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293029"/>
            <a:ext cx="7391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Gill Sans MT Bold"/>
                <a:cs typeface="Gill Sans MT Bold"/>
              </a:rPr>
              <a:t>Di</a:t>
            </a:r>
            <a:r>
              <a:rPr sz="2800" b="1" dirty="0">
                <a:latin typeface="Calibri"/>
                <a:cs typeface="Calibri"/>
              </a:rPr>
              <a:t>ễ</a:t>
            </a:r>
            <a:r>
              <a:rPr sz="2800" b="1" dirty="0">
                <a:latin typeface="Gill Sans MT Bold"/>
                <a:cs typeface="Gill Sans MT Bold"/>
              </a:rPr>
              <a:t>n</a:t>
            </a:r>
            <a:r>
              <a:rPr sz="2800" b="1" spc="-80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gi</a:t>
            </a:r>
            <a:r>
              <a:rPr sz="2800" b="1" dirty="0">
                <a:latin typeface="Calibri"/>
                <a:cs typeface="Calibri"/>
              </a:rPr>
              <a:t>ả</a:t>
            </a:r>
            <a:r>
              <a:rPr sz="2800" b="1" dirty="0">
                <a:latin typeface="Gill Sans MT Bold"/>
                <a:cs typeface="Gill Sans MT Bold"/>
              </a:rPr>
              <a:t>i</a:t>
            </a:r>
            <a:r>
              <a:rPr sz="2800" b="1" spc="-9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phân</a:t>
            </a:r>
            <a:r>
              <a:rPr sz="2800" b="1" spc="1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ho</a:t>
            </a:r>
            <a:r>
              <a:rPr sz="2800" b="1" dirty="0">
                <a:latin typeface="Calibri"/>
                <a:cs typeface="Calibri"/>
              </a:rPr>
              <a:t>ạ</a:t>
            </a:r>
            <a:r>
              <a:rPr sz="2800" b="1" dirty="0">
                <a:latin typeface="Gill Sans MT Bold"/>
                <a:cs typeface="Gill Sans MT Bold"/>
              </a:rPr>
              <a:t>ch</a:t>
            </a:r>
            <a:r>
              <a:rPr sz="2800" b="1" spc="-7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theo</a:t>
            </a:r>
            <a:r>
              <a:rPr sz="2800" b="1" spc="80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các</a:t>
            </a:r>
            <a:r>
              <a:rPr sz="2800" b="1" spc="-13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bi</a:t>
            </a:r>
            <a:r>
              <a:rPr sz="2800" b="1" dirty="0">
                <a:latin typeface="Calibri"/>
                <a:cs typeface="Calibri"/>
              </a:rPr>
              <a:t>ế</a:t>
            </a:r>
            <a:r>
              <a:rPr sz="2800" b="1" dirty="0">
                <a:latin typeface="Gill Sans MT Bold"/>
                <a:cs typeface="Gill Sans MT Bold"/>
              </a:rPr>
              <a:t>n</a:t>
            </a:r>
            <a:r>
              <a:rPr sz="2800" b="1" spc="1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liên</a:t>
            </a:r>
            <a:r>
              <a:rPr sz="2800" b="1" spc="-75" dirty="0">
                <a:latin typeface="Gill Sans MT Bold"/>
                <a:cs typeface="Gill Sans MT Bold"/>
              </a:rPr>
              <a:t> </a:t>
            </a:r>
            <a:r>
              <a:rPr sz="2800" b="1" spc="-25" dirty="0">
                <a:latin typeface="Gill Sans MT Bold"/>
                <a:cs typeface="Gill Sans MT Bold"/>
              </a:rPr>
              <a:t>t</a:t>
            </a:r>
            <a:r>
              <a:rPr sz="2800" b="1" spc="-25" dirty="0">
                <a:latin typeface="Calibri"/>
                <a:cs typeface="Calibri"/>
              </a:rPr>
              <a:t>ụ</a:t>
            </a:r>
            <a:r>
              <a:rPr sz="2800" b="1" spc="-25" dirty="0">
                <a:latin typeface="Gill Sans MT Bold"/>
                <a:cs typeface="Gill Sans MT Bold"/>
              </a:rPr>
              <a:t>c</a:t>
            </a:r>
            <a:endParaRPr sz="2800">
              <a:latin typeface="Gill Sans MT Bold"/>
              <a:cs typeface="Gill Sans MT 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2829729"/>
            <a:ext cx="76371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Gill Sans MT Bold"/>
                <a:cs typeface="Gill Sans MT Bold"/>
              </a:rPr>
              <a:t>Di</a:t>
            </a:r>
            <a:r>
              <a:rPr sz="2800" b="1" dirty="0">
                <a:latin typeface="Calibri"/>
                <a:cs typeface="Calibri"/>
              </a:rPr>
              <a:t>ễ</a:t>
            </a:r>
            <a:r>
              <a:rPr sz="2800" b="1" dirty="0">
                <a:latin typeface="Gill Sans MT Bold"/>
                <a:cs typeface="Gill Sans MT Bold"/>
              </a:rPr>
              <a:t>n</a:t>
            </a:r>
            <a:r>
              <a:rPr sz="2800" b="1" spc="-90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gi</a:t>
            </a:r>
            <a:r>
              <a:rPr sz="2800" b="1" dirty="0">
                <a:latin typeface="Calibri"/>
                <a:cs typeface="Calibri"/>
              </a:rPr>
              <a:t>ả</a:t>
            </a:r>
            <a:r>
              <a:rPr sz="2800" b="1" dirty="0">
                <a:latin typeface="Gill Sans MT Bold"/>
                <a:cs typeface="Gill Sans MT Bold"/>
              </a:rPr>
              <a:t>i</a:t>
            </a:r>
            <a:r>
              <a:rPr sz="2800" b="1" spc="-110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phân ho</a:t>
            </a:r>
            <a:r>
              <a:rPr sz="2800" b="1" dirty="0">
                <a:latin typeface="Calibri"/>
                <a:cs typeface="Calibri"/>
              </a:rPr>
              <a:t>ạ</a:t>
            </a:r>
            <a:r>
              <a:rPr sz="2800" b="1" dirty="0">
                <a:latin typeface="Gill Sans MT Bold"/>
                <a:cs typeface="Gill Sans MT Bold"/>
              </a:rPr>
              <a:t>ch</a:t>
            </a:r>
            <a:r>
              <a:rPr sz="2800" b="1" spc="-90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theo</a:t>
            </a:r>
            <a:r>
              <a:rPr sz="2800" b="1" spc="6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các</a:t>
            </a:r>
            <a:r>
              <a:rPr sz="2800" b="1" spc="-145" dirty="0">
                <a:latin typeface="Gill Sans MT Bold"/>
                <a:cs typeface="Gill Sans MT Bold"/>
              </a:rPr>
              <a:t> </a:t>
            </a:r>
            <a:r>
              <a:rPr sz="2800" b="1" dirty="0">
                <a:latin typeface="Gill Sans MT Bold"/>
                <a:cs typeface="Gill Sans MT Bold"/>
              </a:rPr>
              <a:t>bi</a:t>
            </a:r>
            <a:r>
              <a:rPr sz="2800" b="1" dirty="0">
                <a:latin typeface="Calibri"/>
                <a:cs typeface="Calibri"/>
              </a:rPr>
              <a:t>ế</a:t>
            </a:r>
            <a:r>
              <a:rPr sz="2800" b="1" dirty="0">
                <a:latin typeface="Gill Sans MT Bold"/>
                <a:cs typeface="Gill Sans MT Bold"/>
              </a:rPr>
              <a:t>n đ</a:t>
            </a:r>
            <a:r>
              <a:rPr sz="2800" b="1" dirty="0">
                <a:latin typeface="Calibri"/>
                <a:cs typeface="Calibri"/>
              </a:rPr>
              <a:t>ị</a:t>
            </a:r>
            <a:r>
              <a:rPr sz="2800" b="1" dirty="0">
                <a:latin typeface="Gill Sans MT Bold"/>
                <a:cs typeface="Gill Sans MT Bold"/>
              </a:rPr>
              <a:t>nh</a:t>
            </a:r>
            <a:r>
              <a:rPr sz="2800" b="1" spc="-90" dirty="0">
                <a:latin typeface="Gill Sans MT Bold"/>
                <a:cs typeface="Gill Sans MT Bold"/>
              </a:rPr>
              <a:t> </a:t>
            </a:r>
            <a:r>
              <a:rPr sz="2800" b="1" spc="-295" dirty="0">
                <a:latin typeface="Gill Sans MT Bold"/>
                <a:cs typeface="Gill Sans MT Bold"/>
              </a:rPr>
              <a:t>tính</a:t>
            </a:r>
            <a:endParaRPr sz="2800">
              <a:latin typeface="Gill Sans MT Bold"/>
              <a:cs typeface="Gill Sans MT 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0959" y="1945520"/>
            <a:ext cx="7181932" cy="6280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2526" y="3382233"/>
            <a:ext cx="6111973" cy="28737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197235"/>
            <a:ext cx="7937500" cy="33420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spcBef>
                <a:spcPts val="855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z="3200" b="1" spc="165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3200" b="1" spc="165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</a:t>
            </a:r>
            <a:r>
              <a:rPr sz="3200" b="1" spc="-165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</a:t>
            </a:r>
            <a:r>
              <a:rPr sz="3200" b="1" spc="100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200" b="1" spc="-20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3200" b="1" i="1" spc="-20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test-</a:t>
            </a:r>
            <a:r>
              <a:rPr sz="3200" b="1" i="1" spc="-10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sz="3200" b="1" spc="-10" dirty="0">
                <a:solidFill>
                  <a:srgbClr val="0B1AE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3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2000" marR="82550" lvl="1" indent="-393700">
              <a:lnSpc>
                <a:spcPct val="101200"/>
              </a:lnSpc>
              <a:spcBef>
                <a:spcPts val="615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b="1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sz="2800" b="1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̂</a:t>
            </a:r>
            <a:r>
              <a:rPr sz="2800" b="1" spc="21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b="1" spc="-3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sz="2800" b="1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ở</a:t>
            </a:r>
            <a:r>
              <a:rPr sz="2800" b="1" spc="114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</a:t>
            </a:r>
            <a:r>
              <a:rPr lang="en-US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có</a:t>
            </a:r>
            <a:r>
              <a:rPr sz="2800" b="1" spc="114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spc="-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2800" b="1" spc="-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sz="2800" b="1" spc="-7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chuyển</a:t>
            </a:r>
            <a:r>
              <a:rPr sz="2800" b="1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thành</a:t>
            </a:r>
            <a:r>
              <a:rPr sz="2800" b="1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ti</a:t>
            </a:r>
            <a:r>
              <a:rPr lang="en-US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êu</a:t>
            </a:r>
            <a:r>
              <a:rPr sz="2800" b="1" spc="-8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</a:t>
            </a:r>
            <a:r>
              <a:rPr sz="2800" b="1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gọi</a:t>
            </a:r>
            <a:r>
              <a:rPr sz="28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là</a:t>
            </a:r>
            <a:r>
              <a:rPr sz="2800" b="1" spc="-1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sz="2800" b="1" spc="-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spc="-3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2800" b="1" spc="1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</a:t>
            </a:r>
            <a:r>
              <a:rPr sz="2800" b="1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</a:t>
            </a:r>
            <a:r>
              <a:rPr sz="2800" b="1" spc="-2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b="1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“.</a:t>
            </a:r>
            <a:endParaRPr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2000" marR="5080" lvl="1" indent="-393700">
              <a:lnSpc>
                <a:spcPct val="99700"/>
              </a:lnSpc>
              <a:spcBef>
                <a:spcPts val="655"/>
              </a:spcBef>
              <a:buClr>
                <a:srgbClr val="558ED5"/>
              </a:buClr>
              <a:buSzPct val="75000"/>
              <a:buFont typeface="Arial"/>
              <a:buChar char="□"/>
              <a:tabLst>
                <a:tab pos="762000" algn="l"/>
              </a:tabLst>
            </a:pP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z="2800" spc="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2800" spc="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 tra</a:t>
            </a:r>
            <a:r>
              <a:rPr sz="28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sz="28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phép</a:t>
            </a:r>
            <a:r>
              <a:rPr sz="28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chọn</a:t>
            </a:r>
            <a:r>
              <a:rPr sz="28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lọc</a:t>
            </a:r>
            <a:r>
              <a:rPr sz="2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sz="2800" spc="-4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</a:t>
            </a:r>
            <a:r>
              <a:rPr lang="en-US" sz="2800" spc="-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 </a:t>
            </a:r>
            <a:r>
              <a: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tục</a:t>
            </a:r>
            <a:r>
              <a:rPr sz="2800" spc="-6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hoặc</a:t>
            </a:r>
            <a:r>
              <a:rPr sz="2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z="2800" spc="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2800" spc="114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z="2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8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sz="2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rời</a:t>
            </a:r>
            <a:r>
              <a:rPr sz="2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rạc</a:t>
            </a:r>
            <a:r>
              <a:rPr sz="28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đặc</a:t>
            </a:r>
            <a:r>
              <a:rPr sz="28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3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r>
              <a:rPr sz="280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z="28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sz="2800" spc="-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8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endParaRPr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068179"/>
            <a:ext cx="5779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Gia</a:t>
            </a:r>
            <a:r>
              <a:rPr sz="3200" dirty="0">
                <a:latin typeface="Calibri"/>
                <a:cs typeface="Calibri"/>
              </a:rPr>
              <a:t>́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tri</a:t>
            </a:r>
            <a:r>
              <a:rPr sz="3200" dirty="0">
                <a:latin typeface="Calibri"/>
                <a:cs typeface="Calibri"/>
              </a:rPr>
              <a:t>̣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ki</a:t>
            </a:r>
            <a:r>
              <a:rPr sz="3200" dirty="0">
                <a:latin typeface="Calibri"/>
                <a:cs typeface="Calibri"/>
              </a:rPr>
              <a:t>ể</a:t>
            </a:r>
            <a:r>
              <a:rPr sz="3200" dirty="0">
                <a:latin typeface="Gill Sans MT"/>
                <a:cs typeface="Gill Sans MT"/>
              </a:rPr>
              <a:t>m</a:t>
            </a:r>
            <a:r>
              <a:rPr sz="3200" spc="-16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tra</a:t>
            </a:r>
            <a:r>
              <a:rPr sz="3200" spc="-5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cho</a:t>
            </a:r>
            <a:r>
              <a:rPr sz="3200" spc="-6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bi</a:t>
            </a:r>
            <a:r>
              <a:rPr sz="3200" dirty="0">
                <a:latin typeface="Calibri"/>
                <a:cs typeface="Calibri"/>
              </a:rPr>
              <a:t>ế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1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liên</a:t>
            </a:r>
            <a:r>
              <a:rPr sz="3200" spc="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t</a:t>
            </a:r>
            <a:r>
              <a:rPr sz="3200" spc="-25" dirty="0">
                <a:latin typeface="Calibri"/>
                <a:cs typeface="Calibri"/>
              </a:rPr>
              <a:t>ụ</a:t>
            </a:r>
            <a:r>
              <a:rPr sz="3200" spc="-25" dirty="0">
                <a:latin typeface="Gill Sans MT"/>
                <a:cs typeface="Gill Sans MT"/>
              </a:rPr>
              <a:t>c</a:t>
            </a:r>
            <a:endParaRPr sz="3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1" y="4586080"/>
            <a:ext cx="57410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Gill Sans MT"/>
                <a:cs typeface="Gill Sans MT"/>
              </a:rPr>
              <a:t>Gia</a:t>
            </a:r>
            <a:r>
              <a:rPr sz="3200" dirty="0">
                <a:latin typeface="Calibri"/>
                <a:cs typeface="Calibri"/>
              </a:rPr>
              <a:t>́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tri</a:t>
            </a:r>
            <a:r>
              <a:rPr sz="3200" dirty="0">
                <a:latin typeface="Calibri"/>
                <a:cs typeface="Calibri"/>
              </a:rPr>
              <a:t>̣</a:t>
            </a:r>
            <a:r>
              <a:rPr sz="3200" spc="190" dirty="0">
                <a:latin typeface="Calibri"/>
                <a:cs typeface="Calibri"/>
              </a:rPr>
              <a:t> </a:t>
            </a:r>
            <a:r>
              <a:rPr sz="3200" dirty="0">
                <a:latin typeface="Gill Sans MT"/>
                <a:cs typeface="Gill Sans MT"/>
              </a:rPr>
              <a:t>ki</a:t>
            </a:r>
            <a:r>
              <a:rPr sz="3200" dirty="0">
                <a:latin typeface="Calibri"/>
                <a:cs typeface="Calibri"/>
              </a:rPr>
              <a:t>ể</a:t>
            </a:r>
            <a:r>
              <a:rPr sz="3200" dirty="0">
                <a:latin typeface="Gill Sans MT"/>
                <a:cs typeface="Gill Sans MT"/>
              </a:rPr>
              <a:t>m</a:t>
            </a:r>
            <a:r>
              <a:rPr sz="3200" spc="-14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tra</a:t>
            </a:r>
            <a:r>
              <a:rPr sz="3200" spc="-4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cho</a:t>
            </a:r>
            <a:r>
              <a:rPr sz="3200" spc="-4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các</a:t>
            </a:r>
            <a:r>
              <a:rPr sz="3200" spc="2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bi</a:t>
            </a:r>
            <a:r>
              <a:rPr sz="3200" dirty="0">
                <a:latin typeface="Calibri"/>
                <a:cs typeface="Calibri"/>
              </a:rPr>
              <a:t>ế</a:t>
            </a:r>
            <a:r>
              <a:rPr sz="3200" dirty="0">
                <a:latin typeface="Gill Sans MT"/>
                <a:cs typeface="Gill Sans MT"/>
              </a:rPr>
              <a:t>n</a:t>
            </a:r>
            <a:r>
              <a:rPr sz="3200" spc="25" dirty="0">
                <a:latin typeface="Gill Sans MT"/>
                <a:cs typeface="Gill Sans MT"/>
              </a:rPr>
              <a:t> </a:t>
            </a:r>
            <a:r>
              <a:rPr sz="3200" spc="-25" dirty="0">
                <a:latin typeface="Gill Sans MT"/>
                <a:cs typeface="Gill Sans MT"/>
              </a:rPr>
              <a:t>tên</a:t>
            </a:r>
            <a:endParaRPr sz="320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6198" y="1741875"/>
            <a:ext cx="6898864" cy="2739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2600" y="5092700"/>
            <a:ext cx="57785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152650" y="1825626"/>
            <a:ext cx="7886700" cy="442274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Di</a:t>
            </a:r>
            <a:r>
              <a:rPr dirty="0">
                <a:latin typeface="Calibri"/>
                <a:cs typeface="Calibri"/>
              </a:rPr>
              <a:t>ễ</a:t>
            </a:r>
            <a:r>
              <a:rPr dirty="0"/>
              <a:t>n</a:t>
            </a:r>
            <a:r>
              <a:rPr spc="-50" dirty="0"/>
              <a:t> </a:t>
            </a:r>
            <a:r>
              <a:rPr dirty="0"/>
              <a:t>gia</a:t>
            </a:r>
            <a:r>
              <a:rPr dirty="0">
                <a:latin typeface="Calibri"/>
                <a:cs typeface="Calibri"/>
              </a:rPr>
              <a:t>̉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gia</a:t>
            </a:r>
            <a:r>
              <a:rPr dirty="0">
                <a:latin typeface="Calibri"/>
                <a:cs typeface="Calibri"/>
              </a:rPr>
              <a:t>́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dirty="0"/>
              <a:t>tri</a:t>
            </a:r>
            <a:r>
              <a:rPr dirty="0">
                <a:latin typeface="Calibri"/>
                <a:cs typeface="Calibri"/>
              </a:rPr>
              <a:t>̣</a:t>
            </a:r>
            <a:r>
              <a:rPr spc="160" dirty="0">
                <a:latin typeface="Calibri"/>
                <a:cs typeface="Calibri"/>
              </a:rPr>
              <a:t> </a:t>
            </a:r>
            <a:r>
              <a:rPr dirty="0"/>
              <a:t>ki</a:t>
            </a:r>
            <a:r>
              <a:rPr dirty="0">
                <a:latin typeface="Calibri"/>
                <a:cs typeface="Calibri"/>
              </a:rPr>
              <a:t>ể</a:t>
            </a:r>
            <a:r>
              <a:rPr dirty="0"/>
              <a:t>m</a:t>
            </a:r>
            <a:r>
              <a:rPr spc="-60" dirty="0"/>
              <a:t> </a:t>
            </a:r>
            <a:r>
              <a:rPr spc="-25" dirty="0"/>
              <a:t>tra</a:t>
            </a:r>
          </a:p>
          <a:p>
            <a:pPr marL="355600" marR="252095" indent="-342900">
              <a:lnSpc>
                <a:spcPct val="903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solidFill>
                  <a:srgbClr val="000000"/>
                </a:solidFill>
              </a:rPr>
              <a:t>N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ế</a:t>
            </a:r>
            <a:r>
              <a:rPr dirty="0">
                <a:solidFill>
                  <a:srgbClr val="000000"/>
                </a:solidFill>
              </a:rPr>
              <a:t>u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|v-</a:t>
            </a:r>
            <a:r>
              <a:rPr dirty="0">
                <a:solidFill>
                  <a:srgbClr val="000000"/>
                </a:solidFill>
              </a:rPr>
              <a:t>test|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&gt;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2,</a:t>
            </a:r>
            <a:r>
              <a:rPr spc="-3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gia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́</a:t>
            </a:r>
            <a:r>
              <a:rPr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tri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̣</a:t>
            </a:r>
            <a:r>
              <a:rPr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trung</a:t>
            </a:r>
            <a:r>
              <a:rPr spc="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̀</a:t>
            </a:r>
            <a:r>
              <a:rPr dirty="0">
                <a:solidFill>
                  <a:srgbClr val="000000"/>
                </a:solidFill>
              </a:rPr>
              <a:t>nh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trong </a:t>
            </a:r>
            <a:r>
              <a:rPr>
                <a:solidFill>
                  <a:srgbClr val="000000"/>
                </a:solidFill>
              </a:rPr>
              <a:t>toa</a:t>
            </a:r>
            <a:r>
              <a:rPr>
                <a:solidFill>
                  <a:srgbClr val="000000"/>
                </a:solidFill>
                <a:latin typeface="Calibri"/>
                <a:cs typeface="Calibri"/>
              </a:rPr>
              <a:t>̀</a:t>
            </a:r>
            <a:r>
              <a:rPr>
                <a:solidFill>
                  <a:srgbClr val="000000"/>
                </a:solidFill>
              </a:rPr>
              <a:t>n</a:t>
            </a:r>
            <a:r>
              <a:rPr spc="-45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b</a:t>
            </a:r>
            <a:r>
              <a:rPr lang="en-US">
                <a:solidFill>
                  <a:srgbClr val="000000"/>
                </a:solidFill>
                <a:latin typeface="Calibri"/>
                <a:cs typeface="Calibri"/>
              </a:rPr>
              <a:t>ộ </a:t>
            </a:r>
            <a:r>
              <a:rPr>
                <a:solidFill>
                  <a:srgbClr val="000000"/>
                </a:solidFill>
              </a:rPr>
              <a:t>qu</a:t>
            </a:r>
            <a:r>
              <a:rPr>
                <a:solidFill>
                  <a:srgbClr val="000000"/>
                </a:solidFill>
                <a:latin typeface="Calibri"/>
                <a:cs typeface="Calibri"/>
              </a:rPr>
              <a:t>ầ</a:t>
            </a:r>
            <a:r>
              <a:rPr>
                <a:solidFill>
                  <a:srgbClr val="000000"/>
                </a:solidFill>
              </a:rPr>
              <a:t>n</a:t>
            </a:r>
            <a:r>
              <a:rPr spc="-4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th</a:t>
            </a:r>
            <a:r>
              <a:rPr lang="en-US">
                <a:solidFill>
                  <a:srgbClr val="000000"/>
                </a:solidFill>
              </a:rPr>
              <a:t>ể </a:t>
            </a:r>
            <a:r>
              <a:rPr>
                <a:solidFill>
                  <a:srgbClr val="000000"/>
                </a:solidFill>
              </a:rPr>
              <a:t>ph</a:t>
            </a:r>
            <a:r>
              <a:rPr lang="en-US">
                <a:solidFill>
                  <a:srgbClr val="000000"/>
                </a:solidFill>
                <a:latin typeface="Calibri"/>
                <a:cs typeface="Calibri"/>
              </a:rPr>
              <a:t>ân </a:t>
            </a:r>
            <a:r>
              <a:rPr>
                <a:solidFill>
                  <a:srgbClr val="000000"/>
                </a:solidFill>
              </a:rPr>
              <a:t>bi</a:t>
            </a:r>
            <a:r>
              <a:rPr lang="en-US">
                <a:solidFill>
                  <a:srgbClr val="000000"/>
                </a:solidFill>
                <a:latin typeface="Calibri"/>
                <a:cs typeface="Calibri"/>
              </a:rPr>
              <a:t>ệt </a:t>
            </a:r>
            <a:r>
              <a:rPr>
                <a:solidFill>
                  <a:srgbClr val="000000"/>
                </a:solidFill>
              </a:rPr>
              <a:t>đ</a:t>
            </a:r>
            <a:r>
              <a:rPr>
                <a:solidFill>
                  <a:srgbClr val="000000"/>
                </a:solidFill>
                <a:latin typeface="Calibri"/>
                <a:cs typeface="Calibri"/>
              </a:rPr>
              <a:t>á</a:t>
            </a:r>
            <a:r>
              <a:rPr>
                <a:solidFill>
                  <a:srgbClr val="000000"/>
                </a:solidFill>
              </a:rPr>
              <a:t>ng</a:t>
            </a:r>
            <a:r>
              <a:rPr spc="-114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k</a:t>
            </a:r>
            <a:r>
              <a:rPr lang="en-US">
                <a:solidFill>
                  <a:srgbClr val="000000"/>
                </a:solidFill>
              </a:rPr>
              <a:t>ể </a:t>
            </a:r>
            <a:r>
              <a:rPr>
                <a:solidFill>
                  <a:srgbClr val="000000"/>
                </a:solidFill>
              </a:rPr>
              <a:t>v</a:t>
            </a:r>
            <a:r>
              <a:rPr>
                <a:solidFill>
                  <a:srgbClr val="000000"/>
                </a:solidFill>
                <a:latin typeface="Calibri"/>
                <a:cs typeface="Calibri"/>
              </a:rPr>
              <a:t>ớ</a:t>
            </a:r>
            <a:r>
              <a:rPr>
                <a:solidFill>
                  <a:srgbClr val="000000"/>
                </a:solidFill>
              </a:rPr>
              <a:t>i</a:t>
            </a:r>
            <a:r>
              <a:rPr spc="-100">
                <a:solidFill>
                  <a:srgbClr val="000000"/>
                </a:solidFill>
              </a:rPr>
              <a:t> </a:t>
            </a:r>
            <a:r>
              <a:rPr spc="-450" dirty="0">
                <a:solidFill>
                  <a:srgbClr val="000000"/>
                </a:solidFill>
              </a:rPr>
              <a:t>gia </a:t>
            </a:r>
            <a:r>
              <a:rPr dirty="0">
                <a:solidFill>
                  <a:srgbClr val="000000"/>
                </a:solidFill>
              </a:rPr>
              <a:t>tri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̣</a:t>
            </a:r>
            <a:r>
              <a:rPr spc="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trung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̀</a:t>
            </a:r>
            <a:r>
              <a:rPr dirty="0">
                <a:solidFill>
                  <a:srgbClr val="000000"/>
                </a:solidFill>
              </a:rPr>
              <a:t>nh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cu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̉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l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ớ</a:t>
            </a:r>
            <a:r>
              <a:rPr spc="-20" dirty="0">
                <a:solidFill>
                  <a:srgbClr val="000000"/>
                </a:solidFill>
              </a:rPr>
              <a:t>p.</a:t>
            </a:r>
          </a:p>
          <a:p>
            <a:pPr marL="762000" marR="122555" lvl="1" indent="-393700">
              <a:lnSpc>
                <a:spcPct val="90800"/>
              </a:lnSpc>
              <a:spcBef>
                <a:spcPts val="585"/>
              </a:spcBef>
              <a:buClr>
                <a:srgbClr val="558ED5"/>
              </a:buClr>
              <a:buSzPct val="76923"/>
              <a:buFont typeface="Arial"/>
              <a:buChar char="□"/>
              <a:tabLst>
                <a:tab pos="762000" algn="l"/>
              </a:tabLst>
            </a:pPr>
            <a:r>
              <a:rPr sz="2600" dirty="0">
                <a:latin typeface="Gill Sans MT"/>
                <a:cs typeface="Gill Sans MT"/>
              </a:rPr>
              <a:t>Di</a:t>
            </a:r>
            <a:r>
              <a:rPr sz="2600" dirty="0">
                <a:latin typeface="Calibri"/>
                <a:cs typeface="Calibri"/>
              </a:rPr>
              <a:t>ễ</a:t>
            </a:r>
            <a:r>
              <a:rPr sz="2600" dirty="0">
                <a:latin typeface="Gill Sans MT"/>
                <a:cs typeface="Gill Sans MT"/>
              </a:rPr>
              <a:t>n</a:t>
            </a:r>
            <a:r>
              <a:rPr sz="2600" spc="-15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gia</a:t>
            </a:r>
            <a:r>
              <a:rPr sz="2600" dirty="0">
                <a:latin typeface="Calibri"/>
                <a:cs typeface="Calibri"/>
              </a:rPr>
              <a:t>̉</a:t>
            </a:r>
            <a:r>
              <a:rPr sz="2600" dirty="0">
                <a:latin typeface="Gill Sans MT"/>
                <a:cs typeface="Gill Sans MT"/>
              </a:rPr>
              <a:t>i</a:t>
            </a:r>
            <a:r>
              <a:rPr sz="2600" spc="-2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na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dirty="0">
                <a:latin typeface="Gill Sans MT"/>
                <a:cs typeface="Gill Sans MT"/>
              </a:rPr>
              <a:t>y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chi</a:t>
            </a:r>
            <a:r>
              <a:rPr sz="2600" dirty="0">
                <a:latin typeface="Calibri"/>
                <a:cs typeface="Calibri"/>
              </a:rPr>
              <a:t>̉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co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nghi</a:t>
            </a:r>
            <a:r>
              <a:rPr sz="2600" dirty="0">
                <a:latin typeface="Calibri"/>
                <a:cs typeface="Calibri"/>
              </a:rPr>
              <a:t>̃</a:t>
            </a:r>
            <a:r>
              <a:rPr sz="2600" dirty="0">
                <a:latin typeface="Gill Sans MT"/>
                <a:cs typeface="Gill Sans MT"/>
              </a:rPr>
              <a:t>a</a:t>
            </a:r>
            <a:r>
              <a:rPr sz="2600" spc="-6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cho</a:t>
            </a:r>
            <a:r>
              <a:rPr sz="2600" spc="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bi</a:t>
            </a:r>
            <a:r>
              <a:rPr sz="2600" dirty="0">
                <a:latin typeface="Calibri"/>
                <a:cs typeface="Calibri"/>
              </a:rPr>
              <a:t>ế</a:t>
            </a:r>
            <a:r>
              <a:rPr sz="2600" dirty="0">
                <a:latin typeface="Gill Sans MT"/>
                <a:cs typeface="Gill Sans MT"/>
              </a:rPr>
              <a:t>n</a:t>
            </a:r>
            <a:r>
              <a:rPr sz="2600" spc="-5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bô</a:t>
            </a:r>
            <a:r>
              <a:rPr sz="2600" dirty="0">
                <a:latin typeface="Calibri"/>
                <a:cs typeface="Calibri"/>
              </a:rPr>
              <a:t>̉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>
                <a:latin typeface="Gill Sans MT"/>
                <a:cs typeface="Gill Sans MT"/>
              </a:rPr>
              <a:t>sung</a:t>
            </a:r>
            <a:r>
              <a:rPr sz="2600" spc="35">
                <a:latin typeface="Gill Sans MT"/>
                <a:cs typeface="Gill Sans MT"/>
              </a:rPr>
              <a:t> </a:t>
            </a:r>
            <a:r>
              <a:rPr sz="2600" spc="-10">
                <a:latin typeface="Gill Sans MT"/>
                <a:cs typeface="Gill Sans MT"/>
              </a:rPr>
              <a:t>kh</a:t>
            </a:r>
            <a:r>
              <a:rPr lang="en-US" sz="2600" spc="-10">
                <a:latin typeface="Calibri"/>
                <a:cs typeface="Calibri"/>
              </a:rPr>
              <a:t>ông </a:t>
            </a:r>
            <a:r>
              <a:rPr sz="2600">
                <a:latin typeface="Gill Sans MT"/>
                <a:cs typeface="Gill Sans MT"/>
              </a:rPr>
              <a:t>tham</a:t>
            </a:r>
            <a:r>
              <a:rPr sz="2600" spc="-75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gia</a:t>
            </a:r>
            <a:r>
              <a:rPr sz="2600" spc="-6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va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dirty="0">
                <a:latin typeface="Gill Sans MT"/>
                <a:cs typeface="Gill Sans MT"/>
              </a:rPr>
              <a:t>o</a:t>
            </a:r>
            <a:r>
              <a:rPr sz="2600" spc="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qua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tri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dirty="0">
                <a:latin typeface="Gill Sans MT"/>
                <a:cs typeface="Gill Sans MT"/>
              </a:rPr>
              <a:t>nh</a:t>
            </a:r>
            <a:r>
              <a:rPr sz="2600" spc="-5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x</a:t>
            </a:r>
            <a:r>
              <a:rPr sz="2600" dirty="0">
                <a:latin typeface="Calibri"/>
                <a:cs typeface="Calibri"/>
              </a:rPr>
              <a:t>â</a:t>
            </a:r>
            <a:r>
              <a:rPr sz="2600" dirty="0">
                <a:latin typeface="Gill Sans MT"/>
                <a:cs typeface="Gill Sans MT"/>
              </a:rPr>
              <a:t>y</a:t>
            </a:r>
            <a:r>
              <a:rPr sz="2600" spc="1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d</a:t>
            </a:r>
            <a:r>
              <a:rPr sz="2600" dirty="0">
                <a:latin typeface="Calibri"/>
                <a:cs typeface="Calibri"/>
              </a:rPr>
              <a:t>ự</a:t>
            </a:r>
            <a:r>
              <a:rPr sz="2600" dirty="0">
                <a:latin typeface="Gill Sans MT"/>
                <a:cs typeface="Gill Sans MT"/>
              </a:rPr>
              <a:t>ng</a:t>
            </a:r>
            <a:r>
              <a:rPr sz="2600" spc="-6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l</a:t>
            </a:r>
            <a:r>
              <a:rPr sz="2600" dirty="0">
                <a:latin typeface="Calibri"/>
                <a:cs typeface="Calibri"/>
              </a:rPr>
              <a:t>ớ</a:t>
            </a:r>
            <a:r>
              <a:rPr sz="2600" dirty="0">
                <a:latin typeface="Gill Sans MT"/>
                <a:cs typeface="Gill Sans MT"/>
              </a:rPr>
              <a:t>p:</a:t>
            </a:r>
            <a:r>
              <a:rPr sz="2600" spc="-29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co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spc="180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s</a:t>
            </a:r>
            <a:r>
              <a:rPr sz="2600" dirty="0">
                <a:latin typeface="Calibri"/>
                <a:cs typeface="Calibri"/>
              </a:rPr>
              <a:t>ự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spc="-20" dirty="0">
                <a:latin typeface="Gill Sans MT"/>
                <a:cs typeface="Gill Sans MT"/>
              </a:rPr>
              <a:t>phu</a:t>
            </a:r>
            <a:r>
              <a:rPr sz="2600" spc="-20" dirty="0">
                <a:latin typeface="Calibri"/>
                <a:cs typeface="Calibri"/>
              </a:rPr>
              <a:t>̣ </a:t>
            </a:r>
            <a:r>
              <a:rPr sz="2600" dirty="0">
                <a:latin typeface="Gill Sans MT"/>
                <a:cs typeface="Gill Sans MT"/>
              </a:rPr>
              <a:t>thu</a:t>
            </a:r>
            <a:r>
              <a:rPr sz="2600" dirty="0">
                <a:latin typeface="Calibri"/>
                <a:cs typeface="Calibri"/>
              </a:rPr>
              <a:t>ộ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-10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gi</a:t>
            </a:r>
            <a:r>
              <a:rPr sz="2600" dirty="0">
                <a:latin typeface="Calibri"/>
                <a:cs typeface="Calibri"/>
              </a:rPr>
              <a:t>ữ</a:t>
            </a:r>
            <a:r>
              <a:rPr sz="2600" dirty="0">
                <a:latin typeface="Gill Sans MT"/>
                <a:cs typeface="Gill Sans MT"/>
              </a:rPr>
              <a:t>a</a:t>
            </a:r>
            <a:r>
              <a:rPr sz="2600" spc="-6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 l</a:t>
            </a:r>
            <a:r>
              <a:rPr sz="2600" dirty="0">
                <a:latin typeface="Calibri"/>
                <a:cs typeface="Calibri"/>
              </a:rPr>
              <a:t>ớ</a:t>
            </a:r>
            <a:r>
              <a:rPr sz="2600" dirty="0">
                <a:latin typeface="Gill Sans MT"/>
                <a:cs typeface="Gill Sans MT"/>
              </a:rPr>
              <a:t>p</a:t>
            </a:r>
            <a:r>
              <a:rPr sz="2600" spc="-60" dirty="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cu</a:t>
            </a:r>
            <a:r>
              <a:rPr sz="2600">
                <a:latin typeface="Calibri"/>
                <a:cs typeface="Calibri"/>
              </a:rPr>
              <a:t>̉</a:t>
            </a:r>
            <a:r>
              <a:rPr sz="2600">
                <a:latin typeface="Gill Sans MT"/>
                <a:cs typeface="Gill Sans MT"/>
              </a:rPr>
              <a:t>a</a:t>
            </a:r>
            <a:r>
              <a:rPr sz="2600" spc="3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m</a:t>
            </a:r>
            <a:r>
              <a:rPr lang="en-US" sz="2600">
                <a:latin typeface="Calibri"/>
                <a:cs typeface="Calibri"/>
              </a:rPr>
              <a:t>ột </a:t>
            </a:r>
            <a:r>
              <a:rPr sz="2600">
                <a:latin typeface="Gill Sans MT"/>
                <a:cs typeface="Gill Sans MT"/>
              </a:rPr>
              <a:t>ph</a:t>
            </a:r>
            <a:r>
              <a:rPr lang="en-US" sz="2600">
                <a:latin typeface="Calibri"/>
                <a:cs typeface="Calibri"/>
              </a:rPr>
              <a:t>ân </a:t>
            </a:r>
            <a:r>
              <a:rPr sz="2600">
                <a:latin typeface="Gill Sans MT"/>
                <a:cs typeface="Gill Sans MT"/>
              </a:rPr>
              <a:t>hoa</a:t>
            </a:r>
            <a:r>
              <a:rPr sz="2600">
                <a:latin typeface="Calibri"/>
                <a:cs typeface="Calibri"/>
              </a:rPr>
              <a:t>̣</a:t>
            </a:r>
            <a:r>
              <a:rPr sz="2600">
                <a:latin typeface="Gill Sans MT"/>
                <a:cs typeface="Gill Sans MT"/>
              </a:rPr>
              <a:t>ch</a:t>
            </a:r>
            <a:r>
              <a:rPr sz="2600" spc="4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va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spc="175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spc="-20" dirty="0">
                <a:latin typeface="Gill Sans MT"/>
                <a:cs typeface="Gill Sans MT"/>
              </a:rPr>
              <a:t>bi</a:t>
            </a:r>
            <a:r>
              <a:rPr sz="2600" spc="-20" dirty="0">
                <a:latin typeface="Calibri"/>
                <a:cs typeface="Calibri"/>
              </a:rPr>
              <a:t>ế</a:t>
            </a:r>
            <a:r>
              <a:rPr sz="2600" spc="-20" dirty="0">
                <a:latin typeface="Gill Sans MT"/>
                <a:cs typeface="Gill Sans MT"/>
              </a:rPr>
              <a:t>n </a:t>
            </a:r>
            <a:r>
              <a:rPr sz="2600" dirty="0">
                <a:latin typeface="Gill Sans MT"/>
                <a:cs typeface="Gill Sans MT"/>
              </a:rPr>
              <a:t>đ</a:t>
            </a:r>
            <a:r>
              <a:rPr sz="2600" dirty="0">
                <a:latin typeface="Calibri"/>
                <a:cs typeface="Calibri"/>
              </a:rPr>
              <a:t>ượ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-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du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dirty="0">
                <a:latin typeface="Gill Sans MT"/>
                <a:cs typeface="Gill Sans MT"/>
              </a:rPr>
              <a:t>ng</a:t>
            </a:r>
            <a:r>
              <a:rPr sz="2600" spc="-7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cho đ</a:t>
            </a:r>
            <a:r>
              <a:rPr sz="2600" dirty="0">
                <a:latin typeface="Calibri"/>
                <a:cs typeface="Calibri"/>
              </a:rPr>
              <a:t>ị</a:t>
            </a:r>
            <a:r>
              <a:rPr sz="2600" dirty="0">
                <a:latin typeface="Gill Sans MT"/>
                <a:cs typeface="Gill Sans MT"/>
              </a:rPr>
              <a:t>nh</a:t>
            </a:r>
            <a:r>
              <a:rPr sz="2600" spc="30" dirty="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nghi</a:t>
            </a:r>
            <a:r>
              <a:rPr sz="2600">
                <a:latin typeface="Calibri"/>
                <a:cs typeface="Calibri"/>
              </a:rPr>
              <a:t>̃</a:t>
            </a:r>
            <a:r>
              <a:rPr sz="2600">
                <a:latin typeface="Gill Sans MT"/>
                <a:cs typeface="Gill Sans MT"/>
              </a:rPr>
              <a:t>a</a:t>
            </a:r>
            <a:r>
              <a:rPr sz="2600" spc="-7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ph</a:t>
            </a:r>
            <a:r>
              <a:rPr lang="en-US" sz="2600">
                <a:latin typeface="Calibri"/>
                <a:cs typeface="Calibri"/>
              </a:rPr>
              <a:t>ân </a:t>
            </a:r>
            <a:r>
              <a:rPr sz="2600" spc="-10">
                <a:latin typeface="Gill Sans MT"/>
                <a:cs typeface="Gill Sans MT"/>
              </a:rPr>
              <a:t>hoa</a:t>
            </a:r>
            <a:r>
              <a:rPr sz="2600" spc="-10">
                <a:latin typeface="Calibri"/>
                <a:cs typeface="Calibri"/>
              </a:rPr>
              <a:t>̣</a:t>
            </a:r>
            <a:r>
              <a:rPr sz="2600" spc="-10">
                <a:latin typeface="Gill Sans MT"/>
                <a:cs typeface="Gill Sans MT"/>
              </a:rPr>
              <a:t>ch</a:t>
            </a:r>
            <a:r>
              <a:rPr sz="2600" spc="-10" dirty="0">
                <a:latin typeface="Gill Sans MT"/>
                <a:cs typeface="Gill Sans MT"/>
              </a:rPr>
              <a:t>.</a:t>
            </a:r>
            <a:endParaRPr sz="2600">
              <a:latin typeface="Gill Sans MT"/>
              <a:cs typeface="Gill Sans MT"/>
            </a:endParaRPr>
          </a:p>
          <a:p>
            <a:pPr marL="760095" marR="5080" lvl="1" indent="-391795" algn="just">
              <a:lnSpc>
                <a:spcPts val="2800"/>
              </a:lnSpc>
              <a:spcBef>
                <a:spcPts val="640"/>
              </a:spcBef>
              <a:buClr>
                <a:srgbClr val="558ED5"/>
              </a:buClr>
              <a:buSzPct val="76923"/>
              <a:buFont typeface="Arial"/>
              <a:buChar char="□"/>
              <a:tabLst>
                <a:tab pos="762000" algn="l"/>
              </a:tabLst>
            </a:pPr>
            <a:r>
              <a:rPr sz="2600" dirty="0">
                <a:latin typeface="Gill Sans MT"/>
                <a:cs typeface="Gill Sans MT"/>
              </a:rPr>
              <a:t>V</a:t>
            </a:r>
            <a:r>
              <a:rPr sz="2600" dirty="0">
                <a:latin typeface="Calibri"/>
                <a:cs typeface="Calibri"/>
              </a:rPr>
              <a:t>ớ</a:t>
            </a:r>
            <a:r>
              <a:rPr sz="2600" dirty="0">
                <a:latin typeface="Gill Sans MT"/>
                <a:cs typeface="Gill Sans MT"/>
              </a:rPr>
              <a:t>i</a:t>
            </a:r>
            <a:r>
              <a:rPr sz="2600" spc="-10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 bi</a:t>
            </a:r>
            <a:r>
              <a:rPr sz="2600" dirty="0">
                <a:latin typeface="Calibri"/>
                <a:cs typeface="Calibri"/>
              </a:rPr>
              <a:t>ế</a:t>
            </a:r>
            <a:r>
              <a:rPr sz="2600" dirty="0">
                <a:latin typeface="Gill Sans MT"/>
                <a:cs typeface="Gill Sans MT"/>
              </a:rPr>
              <a:t>n</a:t>
            </a:r>
            <a:r>
              <a:rPr sz="2600" spc="-5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du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dirty="0">
                <a:latin typeface="Gill Sans MT"/>
                <a:cs typeface="Gill Sans MT"/>
              </a:rPr>
              <a:t>ng</a:t>
            </a:r>
            <a:r>
              <a:rPr sz="2600" spc="-70" dirty="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trong</a:t>
            </a:r>
            <a:r>
              <a:rPr sz="2600" spc="3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ph</a:t>
            </a:r>
            <a:r>
              <a:rPr lang="en-US" sz="2600">
                <a:latin typeface="Calibri"/>
                <a:cs typeface="Calibri"/>
              </a:rPr>
              <a:t>ân </a:t>
            </a:r>
            <a:r>
              <a:rPr sz="2600" spc="-30">
                <a:latin typeface="Gill Sans MT"/>
                <a:cs typeface="Gill Sans MT"/>
              </a:rPr>
              <a:t>cu</a:t>
            </a:r>
            <a:r>
              <a:rPr sz="2600" spc="-30">
                <a:latin typeface="Calibri"/>
                <a:cs typeface="Calibri"/>
              </a:rPr>
              <a:t>̣</a:t>
            </a:r>
            <a:r>
              <a:rPr sz="2600" spc="-30">
                <a:latin typeface="Gill Sans MT"/>
                <a:cs typeface="Gill Sans MT"/>
              </a:rPr>
              <a:t>m</a:t>
            </a:r>
            <a:r>
              <a:rPr sz="2600" spc="-30" dirty="0">
                <a:latin typeface="Gill Sans MT"/>
                <a:cs typeface="Gill Sans MT"/>
              </a:rPr>
              <a:t>,</a:t>
            </a:r>
            <a:r>
              <a:rPr sz="2600" spc="-15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 gia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tri</a:t>
            </a:r>
            <a:r>
              <a:rPr sz="2600" dirty="0">
                <a:latin typeface="Calibri"/>
                <a:cs typeface="Calibri"/>
              </a:rPr>
              <a:t>̣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ki</a:t>
            </a:r>
            <a:r>
              <a:rPr sz="2600" dirty="0">
                <a:latin typeface="Calibri"/>
                <a:cs typeface="Calibri"/>
              </a:rPr>
              <a:t>ể</a:t>
            </a:r>
            <a:r>
              <a:rPr sz="2600" dirty="0">
                <a:latin typeface="Gill Sans MT"/>
                <a:cs typeface="Gill Sans MT"/>
              </a:rPr>
              <a:t>m</a:t>
            </a:r>
            <a:r>
              <a:rPr sz="2600" spc="30" dirty="0">
                <a:latin typeface="Gill Sans MT"/>
                <a:cs typeface="Gill Sans MT"/>
              </a:rPr>
              <a:t> </a:t>
            </a:r>
            <a:r>
              <a:rPr sz="2600" spc="-25" dirty="0">
                <a:latin typeface="Gill Sans MT"/>
                <a:cs typeface="Gill Sans MT"/>
              </a:rPr>
              <a:t>tra 	</a:t>
            </a:r>
            <a:r>
              <a:rPr sz="2600" dirty="0">
                <a:latin typeface="Gill Sans MT"/>
                <a:cs typeface="Gill Sans MT"/>
              </a:rPr>
              <a:t>la</a:t>
            </a:r>
            <a:r>
              <a:rPr sz="2600" dirty="0">
                <a:latin typeface="Calibri"/>
                <a:cs typeface="Calibri"/>
              </a:rPr>
              <a:t>̀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>
                <a:latin typeface="Gill Sans MT"/>
                <a:cs typeface="Gill Sans MT"/>
              </a:rPr>
              <a:t>ca</a:t>
            </a:r>
            <a:r>
              <a:rPr sz="2600">
                <a:latin typeface="Calibri"/>
                <a:cs typeface="Calibri"/>
              </a:rPr>
              <a:t>́</a:t>
            </a:r>
            <a:r>
              <a:rPr sz="2600">
                <a:latin typeface="Gill Sans MT"/>
                <a:cs typeface="Gill Sans MT"/>
              </a:rPr>
              <a:t>c</a:t>
            </a:r>
            <a:r>
              <a:rPr sz="2600" spc="2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đ</a:t>
            </a:r>
            <a:r>
              <a:rPr lang="en-US" sz="2600">
                <a:latin typeface="Calibri"/>
                <a:cs typeface="Calibri"/>
              </a:rPr>
              <a:t>ộ </a:t>
            </a:r>
            <a:r>
              <a:rPr sz="2600">
                <a:latin typeface="Gill Sans MT"/>
                <a:cs typeface="Gill Sans MT"/>
              </a:rPr>
              <a:t>đo</a:t>
            </a:r>
            <a:r>
              <a:rPr sz="2600" spc="-70">
                <a:latin typeface="Gill Sans MT"/>
                <a:cs typeface="Gill Sans MT"/>
              </a:rPr>
              <a:t> </a:t>
            </a:r>
            <a:r>
              <a:rPr sz="2600">
                <a:latin typeface="Gill Sans MT"/>
                <a:cs typeface="Gill Sans MT"/>
              </a:rPr>
              <a:t>đ</a:t>
            </a:r>
            <a:r>
              <a:rPr lang="en-US" sz="2600">
                <a:latin typeface="Calibri"/>
                <a:cs typeface="Calibri"/>
              </a:rPr>
              <a:t>ộ </a:t>
            </a:r>
            <a:r>
              <a:rPr sz="2600">
                <a:latin typeface="Gill Sans MT"/>
                <a:cs typeface="Gill Sans MT"/>
              </a:rPr>
              <a:t>t</a:t>
            </a:r>
            <a:r>
              <a:rPr sz="2600">
                <a:latin typeface="Calibri"/>
                <a:cs typeface="Calibri"/>
              </a:rPr>
              <a:t>ươ</a:t>
            </a:r>
            <a:r>
              <a:rPr sz="2600">
                <a:latin typeface="Gill Sans MT"/>
                <a:cs typeface="Gill Sans MT"/>
              </a:rPr>
              <a:t>ng</a:t>
            </a:r>
            <a:r>
              <a:rPr sz="2600" spc="-145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t</a:t>
            </a:r>
            <a:r>
              <a:rPr sz="2600" dirty="0">
                <a:latin typeface="Calibri"/>
                <a:cs typeface="Calibri"/>
              </a:rPr>
              <a:t>ự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đ</a:t>
            </a:r>
            <a:r>
              <a:rPr sz="2600" dirty="0">
                <a:latin typeface="Calibri"/>
                <a:cs typeface="Calibri"/>
              </a:rPr>
              <a:t>ơ</a:t>
            </a:r>
            <a:r>
              <a:rPr sz="2600" dirty="0">
                <a:latin typeface="Gill Sans MT"/>
                <a:cs typeface="Gill Sans MT"/>
              </a:rPr>
              <a:t>n</a:t>
            </a:r>
            <a:r>
              <a:rPr sz="2600" spc="-35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gia</a:t>
            </a:r>
            <a:r>
              <a:rPr sz="2600" dirty="0">
                <a:latin typeface="Calibri"/>
                <a:cs typeface="Calibri"/>
              </a:rPr>
              <a:t>̉</a:t>
            </a:r>
            <a:r>
              <a:rPr sz="2600" dirty="0">
                <a:latin typeface="Gill Sans MT"/>
                <a:cs typeface="Gill Sans MT"/>
              </a:rPr>
              <a:t>n</a:t>
            </a:r>
            <a:r>
              <a:rPr sz="2600" spc="6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gi</a:t>
            </a:r>
            <a:r>
              <a:rPr sz="2600" dirty="0">
                <a:latin typeface="Calibri"/>
                <a:cs typeface="Calibri"/>
              </a:rPr>
              <a:t>ữ</a:t>
            </a:r>
            <a:r>
              <a:rPr sz="2600" dirty="0">
                <a:latin typeface="Gill Sans MT"/>
                <a:cs typeface="Gill Sans MT"/>
              </a:rPr>
              <a:t>a</a:t>
            </a:r>
            <a:r>
              <a:rPr sz="2600" spc="-150" dirty="0">
                <a:latin typeface="Gill Sans MT"/>
                <a:cs typeface="Gill Sans MT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120" dirty="0">
                <a:latin typeface="Gill Sans MT"/>
                <a:cs typeface="Gill Sans MT"/>
              </a:rPr>
              <a:t> </a:t>
            </a:r>
            <a:r>
              <a:rPr sz="2600" spc="-20" dirty="0">
                <a:latin typeface="Gill Sans MT"/>
                <a:cs typeface="Gill Sans MT"/>
              </a:rPr>
              <a:t>bi</a:t>
            </a:r>
            <a:r>
              <a:rPr sz="2600" spc="-20" dirty="0">
                <a:latin typeface="Calibri"/>
                <a:cs typeface="Calibri"/>
              </a:rPr>
              <a:t>ế</a:t>
            </a:r>
            <a:r>
              <a:rPr sz="2600" spc="-20" dirty="0">
                <a:latin typeface="Gill Sans MT"/>
                <a:cs typeface="Gill Sans MT"/>
              </a:rPr>
              <a:t>n</a:t>
            </a:r>
            <a:r>
              <a:rPr sz="2600" spc="650" dirty="0">
                <a:latin typeface="Gill Sans MT"/>
                <a:cs typeface="Gill Sans MT"/>
              </a:rPr>
              <a:t> 	</a:t>
            </a:r>
            <a:r>
              <a:rPr sz="2600" spc="-350" dirty="0">
                <a:latin typeface="Gill Sans MT"/>
                <a:cs typeface="Gill Sans MT"/>
              </a:rPr>
              <a:t>va</a:t>
            </a:r>
            <a:r>
              <a:rPr sz="2600" spc="-350" dirty="0">
                <a:latin typeface="Calibri"/>
                <a:cs typeface="Calibri"/>
              </a:rPr>
              <a:t>̀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dirty="0">
                <a:latin typeface="Gill Sans MT"/>
                <a:cs typeface="Gill Sans MT"/>
              </a:rPr>
              <a:t>ca</a:t>
            </a:r>
            <a:r>
              <a:rPr sz="2600" dirty="0">
                <a:latin typeface="Calibri"/>
                <a:cs typeface="Calibri"/>
              </a:rPr>
              <a:t>́</a:t>
            </a:r>
            <a:r>
              <a:rPr sz="2600" dirty="0">
                <a:latin typeface="Gill Sans MT"/>
                <a:cs typeface="Gill Sans MT"/>
              </a:rPr>
              <a:t>c</a:t>
            </a:r>
            <a:r>
              <a:rPr sz="2600" spc="-50" dirty="0">
                <a:latin typeface="Gill Sans MT"/>
                <a:cs typeface="Gill Sans MT"/>
              </a:rPr>
              <a:t> </a:t>
            </a:r>
            <a:r>
              <a:rPr sz="2600" spc="-25" dirty="0">
                <a:latin typeface="Gill Sans MT"/>
                <a:cs typeface="Gill Sans MT"/>
              </a:rPr>
              <a:t>l</a:t>
            </a:r>
            <a:r>
              <a:rPr sz="2600" spc="-25" dirty="0">
                <a:latin typeface="Calibri"/>
                <a:cs typeface="Calibri"/>
              </a:rPr>
              <a:t>ớ</a:t>
            </a:r>
            <a:r>
              <a:rPr sz="2600" spc="-25" dirty="0">
                <a:latin typeface="Gill Sans MT"/>
                <a:cs typeface="Gill Sans MT"/>
              </a:rPr>
              <a:t>p</a:t>
            </a:r>
            <a:endParaRPr sz="2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3213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Đ</a:t>
            </a:r>
            <a:r>
              <a:rPr dirty="0">
                <a:latin typeface="Calibri"/>
                <a:cs typeface="Calibri"/>
              </a:rPr>
              <a:t>ặ</a:t>
            </a:r>
            <a:r>
              <a:rPr dirty="0"/>
              <a:t>c</a:t>
            </a:r>
            <a:r>
              <a:rPr spc="-35" dirty="0"/>
              <a:t> </a:t>
            </a:r>
            <a:r>
              <a:rPr dirty="0"/>
              <a:t>tr</a:t>
            </a:r>
            <a:r>
              <a:rPr dirty="0">
                <a:latin typeface="Calibri"/>
                <a:cs typeface="Calibri"/>
              </a:rPr>
              <a:t>ư</a:t>
            </a:r>
            <a:r>
              <a:rPr dirty="0"/>
              <a:t>ng</a:t>
            </a:r>
            <a:r>
              <a:rPr spc="-85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ủ</a:t>
            </a:r>
            <a:r>
              <a:rPr dirty="0"/>
              <a:t>a</a:t>
            </a:r>
            <a:r>
              <a:rPr spc="55" dirty="0"/>
              <a:t> </a:t>
            </a:r>
            <a:r>
              <a:rPr spc="-85" dirty="0"/>
              <a:t>c</a:t>
            </a:r>
            <a:r>
              <a:rPr spc="-85" dirty="0">
                <a:latin typeface="Calibri"/>
                <a:cs typeface="Calibri"/>
              </a:rPr>
              <a:t>ụ</a:t>
            </a:r>
            <a:r>
              <a:rPr spc="-85" dirty="0"/>
              <a:t>m/l</a:t>
            </a:r>
            <a:r>
              <a:rPr spc="-85" dirty="0">
                <a:latin typeface="Calibri"/>
                <a:cs typeface="Calibri"/>
              </a:rPr>
              <a:t>ớ</a:t>
            </a:r>
            <a:r>
              <a:rPr spc="-85" dirty="0"/>
              <a:t>p…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152650" y="1825626"/>
            <a:ext cx="7886700" cy="478682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giải</a:t>
            </a:r>
            <a:r>
              <a:rPr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pc="1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pc="1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</a:t>
            </a:r>
            <a:r>
              <a:rPr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</a:t>
            </a:r>
          </a:p>
          <a:p>
            <a:pPr marL="355600" marR="252095" indent="-342900">
              <a:lnSpc>
                <a:spcPct val="903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Nếu</a:t>
            </a:r>
            <a:r>
              <a:rPr spc="-1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3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|v-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test|</a:t>
            </a:r>
            <a:r>
              <a:rPr spc="-4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  <a:r>
              <a:rPr spc="-6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2,</a:t>
            </a:r>
            <a:r>
              <a:rPr spc="-3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giá</a:t>
            </a:r>
            <a:r>
              <a:rPr spc="14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pc="14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spc="6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bình</a:t>
            </a:r>
            <a:r>
              <a:rPr spc="4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1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toàn</a:t>
            </a:r>
            <a:r>
              <a:rPr spc="-45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quần</a:t>
            </a:r>
            <a:r>
              <a:rPr spc="-4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ệt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đáng</a:t>
            </a:r>
            <a:r>
              <a:rPr spc="-114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lang="en-US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spc="-1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4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pc="8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spc="-1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bình</a:t>
            </a:r>
            <a:r>
              <a:rPr spc="-2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pc="-6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2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lớp.</a:t>
            </a:r>
          </a:p>
          <a:p>
            <a:pPr marL="762000" marR="122555" lvl="1" indent="-393700">
              <a:lnSpc>
                <a:spcPct val="90800"/>
              </a:lnSpc>
              <a:spcBef>
                <a:spcPts val="585"/>
              </a:spcBef>
              <a:buClr>
                <a:srgbClr val="558ED5"/>
              </a:buClr>
              <a:buSzPct val="76923"/>
              <a:buFont typeface="Arial"/>
              <a:buChar char="□"/>
              <a:tabLst>
                <a:tab pos="762000" algn="l"/>
              </a:tabLst>
            </a:pP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sz="26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giải</a:t>
            </a:r>
            <a:r>
              <a:rPr sz="26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này</a:t>
            </a:r>
            <a:r>
              <a:rPr sz="26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chỉ</a:t>
            </a:r>
            <a:r>
              <a:rPr sz="2600" spc="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có</a:t>
            </a:r>
            <a:r>
              <a:rPr sz="2600" spc="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nghĩa</a:t>
            </a:r>
            <a:r>
              <a:rPr sz="26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sz="26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sz="26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bổ</a:t>
            </a:r>
            <a:r>
              <a:rPr sz="2600" spc="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sung</a:t>
            </a:r>
            <a:r>
              <a:rPr sz="2600" spc="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1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</a:t>
            </a:r>
            <a:r>
              <a:rPr lang="en-US" sz="2600" spc="-1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ông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sz="2600" spc="-7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sz="26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vào</a:t>
            </a:r>
            <a:r>
              <a:rPr sz="26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quá</a:t>
            </a:r>
            <a:r>
              <a:rPr sz="2600" spc="1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trình</a:t>
            </a:r>
            <a:r>
              <a:rPr sz="26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xây</a:t>
            </a:r>
            <a:r>
              <a:rPr sz="26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dựng</a:t>
            </a:r>
            <a:r>
              <a:rPr sz="26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lớp:</a:t>
            </a:r>
            <a:r>
              <a:rPr sz="2600" spc="-2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có</a:t>
            </a:r>
            <a:r>
              <a:rPr sz="2600" spc="1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sự</a:t>
            </a:r>
            <a:r>
              <a:rPr sz="2600" spc="8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phụ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thuộc</a:t>
            </a:r>
            <a:r>
              <a:rPr sz="26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sz="2600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 lớp</a:t>
            </a:r>
            <a:r>
              <a:rPr sz="26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</a:t>
            </a:r>
            <a:r>
              <a:rPr sz="2600" spc="3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ột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hoạch</a:t>
            </a:r>
            <a:r>
              <a:rPr sz="2600" spc="4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và</a:t>
            </a:r>
            <a:r>
              <a:rPr sz="2600" spc="1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sz="26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dùng</a:t>
            </a:r>
            <a:r>
              <a:rPr sz="26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 định</a:t>
            </a:r>
            <a:r>
              <a:rPr sz="26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nghĩa</a:t>
            </a:r>
            <a:r>
              <a:rPr sz="2600" spc="-7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2600" spc="-1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hoạch</a:t>
            </a:r>
            <a:r>
              <a:rPr sz="26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2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60095" marR="5080" lvl="1" indent="-391795" algn="just">
              <a:lnSpc>
                <a:spcPts val="2800"/>
              </a:lnSpc>
              <a:spcBef>
                <a:spcPts val="640"/>
              </a:spcBef>
              <a:buClr>
                <a:srgbClr val="558ED5"/>
              </a:buClr>
              <a:buSzPct val="76923"/>
              <a:buFont typeface="Arial"/>
              <a:buChar char="□"/>
              <a:tabLst>
                <a:tab pos="762000" algn="l"/>
              </a:tabLst>
            </a:pP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sz="26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 biến</a:t>
            </a:r>
            <a:r>
              <a:rPr sz="26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dùng</a:t>
            </a:r>
            <a:r>
              <a:rPr sz="26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sz="2600" spc="3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2600" spc="-3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cụm</a:t>
            </a:r>
            <a:r>
              <a:rPr sz="26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26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 giá</a:t>
            </a:r>
            <a:r>
              <a:rPr sz="2600" spc="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trị</a:t>
            </a:r>
            <a:r>
              <a:rPr sz="2600" spc="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</a:t>
            </a:r>
            <a:r>
              <a:rPr sz="26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là</a:t>
            </a:r>
            <a:r>
              <a:rPr sz="2600" spc="9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sz="2600" spc="-7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</a:t>
            </a:r>
            <a:r>
              <a:rPr lang="en-US"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 </a:t>
            </a:r>
            <a:r>
              <a:rPr sz="2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sz="2600" spc="-14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tự</a:t>
            </a:r>
            <a:r>
              <a:rPr sz="2600" spc="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sz="26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giản</a:t>
            </a:r>
            <a:r>
              <a:rPr sz="260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sz="26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1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sz="2600" spc="6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3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và</a:t>
            </a:r>
            <a:r>
              <a:rPr sz="2600" spc="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</a:t>
            </a:r>
            <a:r>
              <a:rPr sz="26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lớp</a:t>
            </a:r>
            <a:endParaRPr sz="2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1" y="-5659"/>
            <a:ext cx="5081905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9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40" dirty="0"/>
              <a:t> </a:t>
            </a:r>
            <a:r>
              <a:rPr dirty="0"/>
              <a:t>trong</a:t>
            </a:r>
            <a:r>
              <a:rPr spc="-135" dirty="0"/>
              <a:t> </a:t>
            </a:r>
            <a:r>
              <a:rPr dirty="0"/>
              <a:t>th</a:t>
            </a:r>
            <a:r>
              <a:rPr dirty="0">
                <a:latin typeface="Calibri"/>
                <a:cs typeface="Calibri"/>
              </a:rPr>
              <a:t>ự</a:t>
            </a:r>
            <a:r>
              <a:rPr dirty="0"/>
              <a:t>c</a:t>
            </a:r>
            <a:r>
              <a:rPr spc="-90" dirty="0"/>
              <a:t> </a:t>
            </a:r>
            <a:r>
              <a:rPr spc="-25" dirty="0"/>
              <a:t>t</a:t>
            </a:r>
            <a:r>
              <a:rPr spc="-25" dirty="0">
                <a:latin typeface="Calibri"/>
                <a:cs typeface="Calibri"/>
              </a:rPr>
              <a:t>ế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293030"/>
            <a:ext cx="8008620" cy="4719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6379" indent="-342900"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Đối với 1 phương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pháp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cụm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từ dưới lên, người ta thường cắt câ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cấp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sao cho thu được các lớp thuần nhất nhất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có th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mà vẫn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ệt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tốt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lẫn nhau bằng cách dựa vào chỉ sô ở các tầng (cf. ví dụ).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5080" indent="-342900">
              <a:spcBef>
                <a:spcPts val="700"/>
              </a:spcBef>
              <a:buChar char="•"/>
              <a:tabLst>
                <a:tab pos="355600" algn="l"/>
                <a:tab pos="456565" algn="l"/>
              </a:tabLst>
            </a:pP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Chiến lược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tích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thành tố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cụm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 cho phép loại bỏ các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dao đ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ộng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ngẫu nhi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và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được các lớp ổn định hơn, vì các trục thành tô thường rất ổn định đối với việc chọn mẫu.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-5659"/>
            <a:ext cx="553720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Phân</a:t>
            </a:r>
            <a:r>
              <a:rPr spc="-90" dirty="0"/>
              <a:t> </a:t>
            </a:r>
            <a:r>
              <a:rPr dirty="0"/>
              <a:t>c</a:t>
            </a:r>
            <a:r>
              <a:rPr dirty="0">
                <a:latin typeface="Calibri"/>
                <a:cs typeface="Calibri"/>
              </a:rPr>
              <a:t>ụ</a:t>
            </a:r>
            <a:r>
              <a:rPr dirty="0"/>
              <a:t>m</a:t>
            </a:r>
            <a:r>
              <a:rPr spc="-40" dirty="0"/>
              <a:t> </a:t>
            </a:r>
            <a:r>
              <a:rPr dirty="0"/>
              <a:t>trong</a:t>
            </a:r>
            <a:r>
              <a:rPr spc="-135" dirty="0"/>
              <a:t> </a:t>
            </a:r>
            <a:r>
              <a:rPr dirty="0"/>
              <a:t>th</a:t>
            </a:r>
            <a:r>
              <a:rPr dirty="0">
                <a:latin typeface="Calibri"/>
                <a:cs typeface="Calibri"/>
              </a:rPr>
              <a:t>ự</a:t>
            </a:r>
            <a:r>
              <a:rPr dirty="0"/>
              <a:t>c</a:t>
            </a:r>
            <a:r>
              <a:rPr spc="-90" dirty="0"/>
              <a:t> </a:t>
            </a:r>
            <a:r>
              <a:rPr spc="-25" dirty="0"/>
              <a:t>t</a:t>
            </a:r>
            <a:r>
              <a:rPr spc="-25" dirty="0">
                <a:latin typeface="Calibri"/>
                <a:cs typeface="Calibri"/>
              </a:rPr>
              <a:t>ế</a:t>
            </a:r>
            <a:r>
              <a:rPr spc="-25" dirty="0"/>
              <a:t>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444657"/>
            <a:ext cx="2743200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38100">
              <a:spcBef>
                <a:spcPts val="30"/>
              </a:spcBef>
            </a:pPr>
            <a:fld id="{81D60167-4931-47E6-BA6A-407CBD079E47}" type="slidenum">
              <a:rPr spc="-25" dirty="0"/>
              <a:pPr marL="38100">
                <a:spcBef>
                  <a:spcPts val="30"/>
                </a:spcBef>
              </a:pPr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295400"/>
            <a:ext cx="7919720" cy="463909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marR="50165" indent="-342900">
              <a:lnSpc>
                <a:spcPct val="79600"/>
              </a:lnSpc>
              <a:spcBef>
                <a:spcPts val="835"/>
              </a:spcBef>
              <a:buChar char="•"/>
              <a:tabLst>
                <a:tab pos="355600" algn="l"/>
                <a:tab pos="456565" algn="l"/>
              </a:tabLst>
            </a:pP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Chiến lược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cụm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hỗn hợp", nghĩa là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 hi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ện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viẹ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̂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cụm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từ dư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ới l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ên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bắt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 từ vài chục nhóm thuần nhất thu được từ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thu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ật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toán kết nh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ập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quanh các t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đ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ộng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kiểu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k-means, la chiến lược rất thích hợp cho việ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ph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hoạch 1 t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ập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chứa 1 số lượng lớn (hàng nghìn hoặc hàng chục nghìn) các cá thê.̉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5080" indent="-342900" algn="just">
              <a:lnSpc>
                <a:spcPts val="2900"/>
              </a:lnSpc>
              <a:spcBef>
                <a:spcPts val="680"/>
              </a:spcBef>
              <a:buFont typeface="Arial"/>
              <a:buChar char="•"/>
              <a:tabLst>
                <a:tab pos="355600" algn="l"/>
                <a:tab pos="458470" algn="l"/>
              </a:tabLst>
            </a:pP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Tính thuần nhất của các lớp thu được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có th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ể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ưu hoá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 m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ột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thủ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tục củng cố các lớp, tức la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 hi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ện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lại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quá trình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 nh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ập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quanh các t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âm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đ</a:t>
            </a:r>
            <a:r>
              <a:rPr lang="en-US"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ộng </a:t>
            </a:r>
            <a:r>
              <a: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của </a:t>
            </a:r>
            <a:r>
              <a:rPr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các lớp.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0941-36F0-4FE4-8B2D-E18EF84C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F011-046A-45D7-B682-E00D95EE9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https://www2.cs.uh.edu/~ceick/DM/DENCLUE.pdf</a:t>
            </a:r>
          </a:p>
        </p:txBody>
      </p:sp>
    </p:spTree>
    <p:extLst>
      <p:ext uri="{BB962C8B-B14F-4D97-AF65-F5344CB8AC3E}">
        <p14:creationId xmlns:p14="http://schemas.microsoft.com/office/powerpoint/2010/main" val="133416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Widescreen</PresentationFormat>
  <Paragraphs>153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Gill Sans MT</vt:lpstr>
      <vt:lpstr>Gill Sans MT Bold</vt:lpstr>
      <vt:lpstr>Gill Sans MT Italic</vt:lpstr>
      <vt:lpstr>Symbol</vt:lpstr>
      <vt:lpstr>Tahoma</vt:lpstr>
      <vt:lpstr>Times New Roman</vt:lpstr>
      <vt:lpstr>Office Theme</vt:lpstr>
      <vt:lpstr>Phân cụm đặc thù</vt:lpstr>
      <vt:lpstr>Phân cụm mờ</vt:lpstr>
      <vt:lpstr>Phân cụm mờ…</vt:lpstr>
      <vt:lpstr>Phân cụm mờ…</vt:lpstr>
      <vt:lpstr>Phân cụm mờ…</vt:lpstr>
      <vt:lpstr>Phân cụm mờ…</vt:lpstr>
      <vt:lpstr>PowerPoint Presentation</vt:lpstr>
      <vt:lpstr>FCM…</vt:lpstr>
      <vt:lpstr>FCM…</vt:lpstr>
      <vt:lpstr>FCM…</vt:lpstr>
      <vt:lpstr>Phân cụm xác suất</vt:lpstr>
      <vt:lpstr>Phân cụm xác suất</vt:lpstr>
      <vt:lpstr>Phân cụm xác suất…</vt:lpstr>
      <vt:lpstr>Phân cụm xác suất - TT EM</vt:lpstr>
      <vt:lpstr>Phân cụm xác suất - TT EM…</vt:lpstr>
      <vt:lpstr>Phân cụm xác suất - TT EM…</vt:lpstr>
      <vt:lpstr>Phân cụm xác suất - TT EM…</vt:lpstr>
      <vt:lpstr>Phân cụm xác suất - TT EM…</vt:lpstr>
      <vt:lpstr>Chất lượng và đặc trưng phân cụm</vt:lpstr>
      <vt:lpstr>Đánh giá chất lượng phân cụm</vt:lpstr>
      <vt:lpstr>Đánh giá chất lượng phân cụm…</vt:lpstr>
      <vt:lpstr>Đánh giá chất lượng phân cụm…</vt:lpstr>
      <vt:lpstr>Đánh giá chất lượng phân cụm…</vt:lpstr>
      <vt:lpstr>Đánh giá chất lượng phân cụm…</vt:lpstr>
      <vt:lpstr>Đánh giá chất lượng phân cụm…</vt:lpstr>
      <vt:lpstr>Đánh giá chất lượng phân cụm…</vt:lpstr>
      <vt:lpstr>Đặc trưng của cụm/lớp</vt:lpstr>
      <vt:lpstr>Đặc trưng của cụm/lớp…</vt:lpstr>
      <vt:lpstr>Đặc trưng của cụm/lớp…</vt:lpstr>
      <vt:lpstr>Đặc trưng của cụm/lớp…</vt:lpstr>
      <vt:lpstr>Đặc trưng của cụm/lớp…</vt:lpstr>
      <vt:lpstr>Đặc trưng của cụm/lớp…</vt:lpstr>
      <vt:lpstr>Đặc trưng của cụm/lớp…</vt:lpstr>
      <vt:lpstr>Đặc trưng của cụm/lớp…</vt:lpstr>
      <vt:lpstr>Phân cụm trong thực tế</vt:lpstr>
      <vt:lpstr>Phân cụm trong thực tế…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Trong Binh</dc:creator>
  <cp:lastModifiedBy>Tran Trong Binh</cp:lastModifiedBy>
  <cp:revision>1</cp:revision>
  <dcterms:created xsi:type="dcterms:W3CDTF">2025-05-14T11:13:30Z</dcterms:created>
  <dcterms:modified xsi:type="dcterms:W3CDTF">2025-05-14T11:13:57Z</dcterms:modified>
</cp:coreProperties>
</file>