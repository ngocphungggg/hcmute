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56" r:id="rId2"/>
    <p:sldId id="257" r:id="rId3"/>
    <p:sldId id="281" r:id="rId4"/>
    <p:sldId id="286" r:id="rId5"/>
    <p:sldId id="284" r:id="rId6"/>
    <p:sldId id="285"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4" r:id="rId24"/>
    <p:sldId id="305" r:id="rId25"/>
    <p:sldId id="306" r:id="rId26"/>
    <p:sldId id="307" r:id="rId27"/>
    <p:sldId id="308" r:id="rId28"/>
    <p:sldId id="309" r:id="rId29"/>
    <p:sldId id="310" r:id="rId30"/>
    <p:sldId id="311" r:id="rId31"/>
    <p:sldId id="312" r:id="rId32"/>
    <p:sldId id="313" r:id="rId33"/>
    <p:sldId id="303"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333399"/>
    <a:srgbClr val="0000FF"/>
    <a:srgbClr val="0000CC"/>
    <a:srgbClr val="5086C2"/>
    <a:srgbClr val="A0B5C4"/>
    <a:srgbClr val="003366"/>
    <a:srgbClr val="1F9A0A"/>
    <a:srgbClr val="019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275" autoAdjust="0"/>
  </p:normalViewPr>
  <p:slideViewPr>
    <p:cSldViewPr>
      <p:cViewPr varScale="1">
        <p:scale>
          <a:sx n="74" d="100"/>
          <a:sy n="74" d="100"/>
        </p:scale>
        <p:origin x="1714"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4890FA-84E4-4D6E-BD8C-A26F6B6944DD}" type="datetimeFigureOut">
              <a:rPr lang="en-GB" smtClean="0"/>
              <a:pPr/>
              <a:t>16/01/2024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6F9A57-430C-42ED-B8B9-D13D26B98519}" type="slidenum">
              <a:rPr lang="en-GB" smtClean="0"/>
              <a:pPr/>
              <a:t>‹#›</a:t>
            </a:fld>
            <a:endParaRPr lang="en-GB"/>
          </a:p>
        </p:txBody>
      </p:sp>
    </p:spTree>
    <p:extLst>
      <p:ext uri="{BB962C8B-B14F-4D97-AF65-F5344CB8AC3E}">
        <p14:creationId xmlns:p14="http://schemas.microsoft.com/office/powerpoint/2010/main" val="1847530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Scenario: </a:t>
            </a:r>
            <a:r>
              <a:rPr lang="en-US" dirty="0" err="1"/>
              <a:t>kịch</a:t>
            </a:r>
            <a:r>
              <a:rPr lang="en-US" baseline="0" dirty="0"/>
              <a:t> </a:t>
            </a:r>
            <a:r>
              <a:rPr lang="en-US" baseline="0" dirty="0" err="1"/>
              <a:t>bản</a:t>
            </a:r>
            <a:endParaRPr lang="en-US" dirty="0"/>
          </a:p>
        </p:txBody>
      </p:sp>
      <p:sp>
        <p:nvSpPr>
          <p:cNvPr id="4" name="Slide Number Placeholder 3"/>
          <p:cNvSpPr>
            <a:spLocks noGrp="1"/>
          </p:cNvSpPr>
          <p:nvPr>
            <p:ph type="sldNum" sz="quarter" idx="10"/>
          </p:nvPr>
        </p:nvSpPr>
        <p:spPr/>
        <p:txBody>
          <a:bodyPr/>
          <a:lstStyle/>
          <a:p>
            <a:fld id="{EF6F9A57-430C-42ED-B8B9-D13D26B98519}" type="slidenum">
              <a:rPr lang="en-GB" smtClean="0"/>
              <a:pPr/>
              <a:t>2</a:t>
            </a:fld>
            <a:endParaRPr lang="en-GB"/>
          </a:p>
        </p:txBody>
      </p:sp>
    </p:spTree>
    <p:extLst>
      <p:ext uri="{BB962C8B-B14F-4D97-AF65-F5344CB8AC3E}">
        <p14:creationId xmlns:p14="http://schemas.microsoft.com/office/powerpoint/2010/main" val="3042520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Vulnerability: điểm</a:t>
            </a:r>
            <a:r>
              <a:rPr lang="en-US" baseline="0"/>
              <a:t> yếu</a:t>
            </a:r>
            <a:endParaRPr lang="en-US"/>
          </a:p>
        </p:txBody>
      </p:sp>
      <p:sp>
        <p:nvSpPr>
          <p:cNvPr id="4" name="Slide Number Placeholder 3"/>
          <p:cNvSpPr>
            <a:spLocks noGrp="1"/>
          </p:cNvSpPr>
          <p:nvPr>
            <p:ph type="sldNum" sz="quarter" idx="10"/>
          </p:nvPr>
        </p:nvSpPr>
        <p:spPr/>
        <p:txBody>
          <a:bodyPr/>
          <a:lstStyle/>
          <a:p>
            <a:fld id="{EF6F9A57-430C-42ED-B8B9-D13D26B98519}" type="slidenum">
              <a:rPr lang="en-GB" smtClean="0"/>
              <a:pPr/>
              <a:t>3</a:t>
            </a:fld>
            <a:endParaRPr lang="en-GB"/>
          </a:p>
        </p:txBody>
      </p:sp>
    </p:spTree>
    <p:extLst>
      <p:ext uri="{BB962C8B-B14F-4D97-AF65-F5344CB8AC3E}">
        <p14:creationId xmlns:p14="http://schemas.microsoft.com/office/powerpoint/2010/main" val="3200493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Malicious: hiểm</a:t>
            </a:r>
            <a:r>
              <a:rPr lang="en-US" baseline="0"/>
              <a:t> độc</a:t>
            </a:r>
            <a:endParaRPr lang="en-US"/>
          </a:p>
        </p:txBody>
      </p:sp>
      <p:sp>
        <p:nvSpPr>
          <p:cNvPr id="4" name="Slide Number Placeholder 3"/>
          <p:cNvSpPr>
            <a:spLocks noGrp="1"/>
          </p:cNvSpPr>
          <p:nvPr>
            <p:ph type="sldNum" sz="quarter" idx="10"/>
          </p:nvPr>
        </p:nvSpPr>
        <p:spPr/>
        <p:txBody>
          <a:bodyPr/>
          <a:lstStyle/>
          <a:p>
            <a:fld id="{EF6F9A57-430C-42ED-B8B9-D13D26B98519}" type="slidenum">
              <a:rPr lang="en-GB" smtClean="0"/>
              <a:pPr/>
              <a:t>7</a:t>
            </a:fld>
            <a:endParaRPr lang="en-GB"/>
          </a:p>
        </p:txBody>
      </p:sp>
    </p:spTree>
    <p:extLst>
      <p:ext uri="{BB962C8B-B14F-4D97-AF65-F5344CB8AC3E}">
        <p14:creationId xmlns:p14="http://schemas.microsoft.com/office/powerpoint/2010/main" val="3038436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a:latin typeface="Arial" panose="020B0604020202020204" pitchFamily="34" charset="0"/>
              </a:rPr>
              <a:t>10. Thực thi gia tăng đặc quyền: lợi dụng các lỗi thực thi hoặc lỗ hổng luận lý trong csdl để gia tăng đặc quyền của kẻ tấn công</a:t>
            </a:r>
          </a:p>
          <a:p>
            <a:endParaRPr lang="en-US"/>
          </a:p>
        </p:txBody>
      </p:sp>
      <p:sp>
        <p:nvSpPr>
          <p:cNvPr id="4" name="Slide Number Placeholder 3"/>
          <p:cNvSpPr>
            <a:spLocks noGrp="1"/>
          </p:cNvSpPr>
          <p:nvPr>
            <p:ph type="sldNum" sz="quarter" idx="10"/>
          </p:nvPr>
        </p:nvSpPr>
        <p:spPr/>
        <p:txBody>
          <a:bodyPr/>
          <a:lstStyle/>
          <a:p>
            <a:fld id="{EF6F9A57-430C-42ED-B8B9-D13D26B98519}" type="slidenum">
              <a:rPr lang="en-GB" smtClean="0"/>
              <a:pPr/>
              <a:t>10</a:t>
            </a:fld>
            <a:endParaRPr lang="en-GB"/>
          </a:p>
        </p:txBody>
      </p:sp>
    </p:spTree>
    <p:extLst>
      <p:ext uri="{BB962C8B-B14F-4D97-AF65-F5344CB8AC3E}">
        <p14:creationId xmlns:p14="http://schemas.microsoft.com/office/powerpoint/2010/main" val="1072145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Sniff: phát</a:t>
            </a:r>
            <a:r>
              <a:rPr lang="en-US" baseline="0"/>
              <a:t> hiện ra, tìm thấy</a:t>
            </a:r>
          </a:p>
          <a:p>
            <a:pPr marL="171450" indent="-171450">
              <a:buFont typeface="Arial" panose="020B0604020202020204" pitchFamily="34" charset="0"/>
              <a:buChar char="•"/>
            </a:pPr>
            <a:r>
              <a:rPr lang="en-US" baseline="0"/>
              <a:t>Landing: đích</a:t>
            </a:r>
            <a:endParaRPr lang="en-US"/>
          </a:p>
        </p:txBody>
      </p:sp>
      <p:sp>
        <p:nvSpPr>
          <p:cNvPr id="4" name="Slide Number Placeholder 3"/>
          <p:cNvSpPr>
            <a:spLocks noGrp="1"/>
          </p:cNvSpPr>
          <p:nvPr>
            <p:ph type="sldNum" sz="quarter" idx="10"/>
          </p:nvPr>
        </p:nvSpPr>
        <p:spPr/>
        <p:txBody>
          <a:bodyPr/>
          <a:lstStyle/>
          <a:p>
            <a:fld id="{EF6F9A57-430C-42ED-B8B9-D13D26B98519}" type="slidenum">
              <a:rPr lang="en-GB" smtClean="0"/>
              <a:pPr/>
              <a:t>12</a:t>
            </a:fld>
            <a:endParaRPr lang="en-GB"/>
          </a:p>
        </p:txBody>
      </p:sp>
    </p:spTree>
    <p:extLst>
      <p:ext uri="{BB962C8B-B14F-4D97-AF65-F5344CB8AC3E}">
        <p14:creationId xmlns:p14="http://schemas.microsoft.com/office/powerpoint/2010/main" val="4273962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err="1"/>
              <a:t>Xác</a:t>
            </a:r>
            <a:r>
              <a:rPr lang="en-US" baseline="0" dirty="0"/>
              <a:t> </a:t>
            </a:r>
            <a:r>
              <a:rPr lang="en-US" baseline="0" dirty="0" err="1"/>
              <a:t>định</a:t>
            </a:r>
            <a:r>
              <a:rPr lang="en-US" baseline="0" dirty="0"/>
              <a:t> </a:t>
            </a:r>
            <a:r>
              <a:rPr lang="en-US" baseline="0" dirty="0" err="1"/>
              <a:t>các</a:t>
            </a:r>
            <a:r>
              <a:rPr lang="en-US" baseline="0" dirty="0"/>
              <a:t> input </a:t>
            </a:r>
            <a:r>
              <a:rPr lang="en-US" baseline="0" dirty="0" err="1"/>
              <a:t>dê</a:t>
            </a:r>
            <a:r>
              <a:rPr lang="en-US" baseline="0" dirty="0"/>
              <a:t>̃ bị </a:t>
            </a:r>
            <a:r>
              <a:rPr lang="en-US" baseline="0" dirty="0" err="1"/>
              <a:t>nhiễm</a:t>
            </a:r>
            <a:endParaRPr lang="en-US" baseline="0" dirty="0"/>
          </a:p>
          <a:p>
            <a:pPr marL="171450" indent="-171450">
              <a:buFont typeface="Arial" panose="020B0604020202020204" pitchFamily="34" charset="0"/>
              <a:buChar char="•"/>
            </a:pPr>
            <a:r>
              <a:rPr lang="en-US" baseline="0" dirty="0"/>
              <a:t>Debugging tool: </a:t>
            </a:r>
            <a:r>
              <a:rPr lang="en-US" baseline="0" dirty="0" err="1"/>
              <a:t>công</a:t>
            </a:r>
            <a:r>
              <a:rPr lang="en-US" baseline="0" dirty="0"/>
              <a:t> cụ </a:t>
            </a:r>
            <a:r>
              <a:rPr lang="en-US" baseline="0" dirty="0" err="1"/>
              <a:t>gơ</a:t>
            </a:r>
            <a:r>
              <a:rPr lang="en-US" baseline="0" dirty="0"/>
              <a:t>̃ </a:t>
            </a:r>
            <a:r>
              <a:rPr lang="en-US" baseline="0" dirty="0" err="1"/>
              <a:t>lỗi</a:t>
            </a:r>
            <a:r>
              <a:rPr lang="en-US" baseline="0" dirty="0"/>
              <a:t> </a:t>
            </a:r>
            <a:r>
              <a:rPr lang="en-US" baseline="0" dirty="0" err="1"/>
              <a:t>ứng</a:t>
            </a:r>
            <a:r>
              <a:rPr lang="en-US" baseline="0" dirty="0"/>
              <a:t> </a:t>
            </a:r>
            <a:r>
              <a:rPr lang="en-US" baseline="0" dirty="0" err="1"/>
              <a:t>dụng</a:t>
            </a:r>
            <a:r>
              <a:rPr lang="en-US" baseline="0" dirty="0"/>
              <a:t> Web.</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altLang="en-US" dirty="0">
                <a:latin typeface="+mn-lt"/>
              </a:rPr>
              <a:t>Bằng cách phân tích các phản </a:t>
            </a:r>
            <a:r>
              <a:rPr lang="en-US" altLang="en-US" dirty="0" err="1">
                <a:latin typeface="Arial" panose="020B0604020202020204" pitchFamily="34" charset="0"/>
              </a:rPr>
              <a:t>hồi</a:t>
            </a:r>
            <a:r>
              <a:rPr lang="vi-VN" altLang="en-US" dirty="0">
                <a:latin typeface="+mn-lt"/>
              </a:rPr>
              <a:t> /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a:latin typeface="Arial" panose="020B0604020202020204" pitchFamily="34" charset="0"/>
              </a:rPr>
              <a:t>quả</a:t>
            </a:r>
            <a:r>
              <a:rPr lang="vi-VN" altLang="en-US" dirty="0">
                <a:latin typeface="+mn-lt"/>
              </a:rPr>
              <a:t> của các ứng dụng (mà thường trả lại cho </a:t>
            </a:r>
            <a:r>
              <a:rPr lang="en-US" altLang="en-US" dirty="0" err="1">
                <a:latin typeface="Arial" panose="020B0604020202020204" pitchFamily="34" charset="0"/>
              </a:rPr>
              <a:t>lời</a:t>
            </a:r>
            <a:r>
              <a:rPr lang="vi-VN" altLang="en-US" dirty="0">
                <a:latin typeface="+mn-lt"/>
              </a:rPr>
              <a:t> gọi phản </a:t>
            </a:r>
            <a:r>
              <a:rPr lang="en-US" altLang="en-US" dirty="0" err="1">
                <a:latin typeface="Arial" panose="020B0604020202020204" pitchFamily="34" charset="0"/>
              </a:rPr>
              <a:t>hồi</a:t>
            </a:r>
            <a:r>
              <a:rPr lang="vi-VN" altLang="en-US" dirty="0">
                <a:latin typeface="+mn-lt"/>
              </a:rPr>
              <a:t> lỗi DBMS không</a:t>
            </a:r>
            <a:r>
              <a:rPr lang="en-US" altLang="en-US" dirty="0">
                <a:latin typeface="Arial" panose="020B0604020202020204" pitchFamily="34" charset="0"/>
              </a:rPr>
              <a:t> </a:t>
            </a:r>
            <a:r>
              <a:rPr lang="en-US" altLang="en-US" dirty="0" err="1">
                <a:latin typeface="Arial" panose="020B0604020202020204" pitchFamily="34" charset="0"/>
              </a:rPr>
              <a:t>được</a:t>
            </a:r>
            <a:r>
              <a:rPr lang="vi-VN" altLang="en-US" dirty="0">
                <a:latin typeface="+mn-lt"/>
              </a:rPr>
              <a:t> lọc): một lỗi điển hình</a:t>
            </a:r>
            <a:r>
              <a:rPr lang="en-US" altLang="en-US" dirty="0">
                <a:latin typeface="Arial" panose="020B0604020202020204" pitchFamily="34" charset="0"/>
              </a:rPr>
              <a:t> </a:t>
            </a:r>
            <a:r>
              <a:rPr lang="en-US" altLang="en-US" dirty="0" err="1">
                <a:latin typeface="Arial" panose="020B0604020202020204" pitchFamily="34" charset="0"/>
              </a:rPr>
              <a:t>phát</a:t>
            </a:r>
            <a:r>
              <a:rPr lang="en-US" altLang="en-US" dirty="0">
                <a:latin typeface="Arial" panose="020B0604020202020204" pitchFamily="34" charset="0"/>
              </a:rPr>
              <a:t> </a:t>
            </a:r>
            <a:r>
              <a:rPr lang="en-US" altLang="en-US" dirty="0" err="1">
                <a:latin typeface="Arial" panose="020B0604020202020204" pitchFamily="34" charset="0"/>
              </a:rPr>
              <a:t>sinh</a:t>
            </a:r>
            <a:r>
              <a:rPr lang="en-US" altLang="en-US" dirty="0">
                <a:latin typeface="Arial" panose="020B0604020202020204" pitchFamily="34" charset="0"/>
              </a:rPr>
              <a:t> </a:t>
            </a:r>
            <a:r>
              <a:rPr lang="en-US" altLang="en-US" dirty="0" err="1">
                <a:latin typeface="Arial" panose="020B0604020202020204" pitchFamily="34" charset="0"/>
              </a:rPr>
              <a:t>từ</a:t>
            </a:r>
            <a:r>
              <a:rPr lang="en-US" altLang="en-US" dirty="0">
                <a:latin typeface="Arial" panose="020B0604020202020204" pitchFamily="34" charset="0"/>
              </a:rPr>
              <a:t> SQL Injection: </a:t>
            </a:r>
            <a:r>
              <a:rPr lang="vi-VN" altLang="en-US" dirty="0">
                <a:latin typeface="+mn-lt"/>
              </a:rPr>
              <a:t>"Bạn có một lỗi trong Cú pháp </a:t>
            </a:r>
            <a:r>
              <a:rPr lang="en-US" altLang="en-US" dirty="0">
                <a:latin typeface="Arial" panose="020B0604020202020204" pitchFamily="34" charset="0"/>
              </a:rPr>
              <a:t>SQL </a:t>
            </a:r>
            <a:r>
              <a:rPr lang="vi-VN" altLang="en-US" dirty="0">
                <a:latin typeface="+mn-lt"/>
              </a:rPr>
              <a:t>của bạn</a:t>
            </a:r>
            <a:r>
              <a:rPr lang="en-US" altLang="en-US" dirty="0">
                <a:latin typeface="Arial" panose="020B0604020202020204" pitchFamily="34" charset="0"/>
              </a:rPr>
              <a:t>.</a:t>
            </a:r>
            <a:r>
              <a:rPr lang="vi-VN" altLang="en-US" dirty="0">
                <a:latin typeface="+mn-lt"/>
              </a:rPr>
              <a:t> Kiểm tra </a:t>
            </a:r>
            <a:r>
              <a:rPr lang="en-US" altLang="en-US" dirty="0" err="1">
                <a:latin typeface="Arial" panose="020B0604020202020204" pitchFamily="34" charset="0"/>
              </a:rPr>
              <a:t>tài</a:t>
            </a:r>
            <a:r>
              <a:rPr lang="en-US" altLang="en-US" dirty="0">
                <a:latin typeface="Arial" panose="020B0604020202020204" pitchFamily="34" charset="0"/>
              </a:rPr>
              <a:t> </a:t>
            </a:r>
            <a:r>
              <a:rPr lang="en-US" altLang="en-US" dirty="0" err="1">
                <a:latin typeface="Arial" panose="020B0604020202020204" pitchFamily="34" charset="0"/>
              </a:rPr>
              <a:t>liệu</a:t>
            </a:r>
            <a:r>
              <a:rPr lang="en-US" altLang="en-US" dirty="0">
                <a:latin typeface="Arial" panose="020B0604020202020204" pitchFamily="34" charset="0"/>
              </a:rPr>
              <a:t> </a:t>
            </a:r>
            <a:r>
              <a:rPr lang="en-US" altLang="en-US" dirty="0" err="1">
                <a:latin typeface="Arial" panose="020B0604020202020204" pitchFamily="34" charset="0"/>
              </a:rPr>
              <a:t>hướng</a:t>
            </a:r>
            <a:r>
              <a:rPr lang="en-US" altLang="en-US" dirty="0">
                <a:latin typeface="Arial" panose="020B0604020202020204" pitchFamily="34" charset="0"/>
              </a:rPr>
              <a:t> </a:t>
            </a:r>
            <a:r>
              <a:rPr lang="en-US" altLang="en-US" dirty="0" err="1">
                <a:latin typeface="Arial" panose="020B0604020202020204" pitchFamily="34" charset="0"/>
              </a:rPr>
              <a:t>dẫn</a:t>
            </a:r>
            <a:r>
              <a:rPr lang="en-US" altLang="en-US" dirty="0">
                <a:latin typeface="Arial" panose="020B0604020202020204" pitchFamily="34" charset="0"/>
              </a:rPr>
              <a:t> </a:t>
            </a:r>
            <a:r>
              <a:rPr lang="vi-VN" altLang="en-US" dirty="0">
                <a:latin typeface="+mn-lt"/>
              </a:rPr>
              <a:t>cho cú pháp </a:t>
            </a:r>
            <a:r>
              <a:rPr lang="en-US" altLang="en-US" dirty="0" err="1">
                <a:latin typeface="Arial" panose="020B0604020202020204" pitchFamily="34" charset="0"/>
              </a:rPr>
              <a:t>đúng</a:t>
            </a:r>
            <a:r>
              <a:rPr lang="en-US" altLang="en-US" dirty="0">
                <a:latin typeface="Arial" panose="020B0604020202020204" pitchFamily="34" charset="0"/>
              </a:rPr>
              <a:t> </a:t>
            </a:r>
            <a:r>
              <a:rPr lang="vi-VN" altLang="en-US" dirty="0">
                <a:latin typeface="+mn-lt"/>
              </a:rPr>
              <a:t>để sử dụng gần '' FROM db_users.user_table</a:t>
            </a:r>
            <a:endParaRPr lang="en-US" altLang="en-US" dirty="0">
              <a:latin typeface="Arial" panose="020B0604020202020204" pitchFamily="34" charset="0"/>
            </a:endParaRP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EF6F9A57-430C-42ED-B8B9-D13D26B98519}" type="slidenum">
              <a:rPr lang="en-GB" smtClean="0"/>
              <a:pPr/>
              <a:t>13</a:t>
            </a:fld>
            <a:endParaRPr lang="en-GB"/>
          </a:p>
        </p:txBody>
      </p:sp>
    </p:spTree>
    <p:extLst>
      <p:ext uri="{BB962C8B-B14F-4D97-AF65-F5344CB8AC3E}">
        <p14:creationId xmlns:p14="http://schemas.microsoft.com/office/powerpoint/2010/main" val="612644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dirty="0">
                <a:latin typeface="Arial" panose="020B0604020202020204" pitchFamily="34" charset="0"/>
              </a:rPr>
              <a:t>Malicious: </a:t>
            </a:r>
            <a:r>
              <a:rPr lang="en-US" altLang="en-US" dirty="0" err="1">
                <a:latin typeface="Arial" panose="020B0604020202020204" pitchFamily="34" charset="0"/>
              </a:rPr>
              <a:t>độc</a:t>
            </a:r>
            <a:r>
              <a:rPr lang="en-US" altLang="en-US" dirty="0">
                <a:latin typeface="Arial" panose="020B0604020202020204" pitchFamily="34" charset="0"/>
              </a:rPr>
              <a:t> </a:t>
            </a:r>
            <a:r>
              <a:rPr lang="en-US" altLang="en-US" dirty="0" err="1">
                <a:latin typeface="Arial" panose="020B0604020202020204" pitchFamily="34" charset="0"/>
              </a:rPr>
              <a:t>hại</a:t>
            </a:r>
            <a:endParaRPr lang="en-US" altLang="en-US" dirty="0">
              <a:latin typeface="Arial" panose="020B0604020202020204" pitchFamily="34" charset="0"/>
            </a:endParaRPr>
          </a:p>
          <a:p>
            <a:pPr marL="171450" indent="-171450" eaLnBrk="1" hangingPunct="1">
              <a:buFontTx/>
              <a:buChar char="•"/>
            </a:pPr>
            <a:r>
              <a:rPr lang="en-US" altLang="en-US" dirty="0">
                <a:latin typeface="Arial" panose="020B0604020202020204" pitchFamily="34" charset="0"/>
              </a:rPr>
              <a:t>First order: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a:latin typeface="Arial" panose="020B0604020202020204" pitchFamily="34" charset="0"/>
              </a:rPr>
              <a:t>quả</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thấy</a:t>
            </a:r>
            <a:r>
              <a:rPr lang="en-US" altLang="en-US" dirty="0">
                <a:latin typeface="Arial" panose="020B0604020202020204" pitchFamily="34" charset="0"/>
              </a:rPr>
              <a:t> </a:t>
            </a:r>
            <a:r>
              <a:rPr lang="en-US" altLang="en-US" dirty="0" err="1">
                <a:latin typeface="Arial" panose="020B0604020202020204" pitchFamily="34" charset="0"/>
              </a:rPr>
              <a:t>ngay</a:t>
            </a:r>
            <a:r>
              <a:rPr lang="en-US" altLang="en-US" dirty="0">
                <a:latin typeface="Arial" panose="020B0604020202020204" pitchFamily="34" charset="0"/>
              </a:rPr>
              <a:t> </a:t>
            </a:r>
            <a:r>
              <a:rPr lang="en-US" altLang="en-US" dirty="0" err="1">
                <a:latin typeface="Arial" panose="020B0604020202020204" pitchFamily="34" charset="0"/>
              </a:rPr>
              <a:t>lập</a:t>
            </a:r>
            <a:r>
              <a:rPr lang="en-US" altLang="en-US" dirty="0">
                <a:latin typeface="Arial" panose="020B0604020202020204" pitchFamily="34" charset="0"/>
              </a:rPr>
              <a:t> </a:t>
            </a:r>
            <a:r>
              <a:rPr lang="en-US" altLang="en-US" dirty="0" err="1">
                <a:latin typeface="Arial" panose="020B0604020202020204" pitchFamily="34" charset="0"/>
              </a:rPr>
              <a:t>tức</a:t>
            </a:r>
            <a:r>
              <a:rPr lang="en-US" altLang="en-US" dirty="0">
                <a:latin typeface="Arial" panose="020B0604020202020204" pitchFamily="34" charset="0"/>
              </a:rPr>
              <a:t> </a:t>
            </a:r>
            <a:r>
              <a:rPr lang="en-US" altLang="en-US" dirty="0" err="1">
                <a:latin typeface="Arial" panose="020B0604020202020204" pitchFamily="34" charset="0"/>
              </a:rPr>
              <a:t>dưới</a:t>
            </a:r>
            <a:r>
              <a:rPr lang="en-US" altLang="en-US" dirty="0">
                <a:latin typeface="Arial" panose="020B0604020202020204" pitchFamily="34" charset="0"/>
              </a:rPr>
              <a:t> </a:t>
            </a:r>
            <a:r>
              <a:rPr lang="en-US" altLang="en-US" dirty="0" err="1">
                <a:latin typeface="Arial" panose="020B0604020202020204" pitchFamily="34" charset="0"/>
              </a:rPr>
              <a:t>dạng</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thông</a:t>
            </a:r>
            <a:r>
              <a:rPr lang="en-US" altLang="en-US" dirty="0">
                <a:latin typeface="Arial" panose="020B0604020202020204" pitchFamily="34" charset="0"/>
              </a:rPr>
              <a:t> </a:t>
            </a:r>
            <a:r>
              <a:rPr lang="en-US" altLang="en-US" dirty="0" err="1">
                <a:latin typeface="Arial" panose="020B0604020202020204" pitchFamily="34" charset="0"/>
              </a:rPr>
              <a:t>báo</a:t>
            </a:r>
            <a:r>
              <a:rPr lang="en-US" altLang="en-US" dirty="0">
                <a:latin typeface="Arial" panose="020B0604020202020204" pitchFamily="34" charset="0"/>
              </a:rPr>
              <a:t> </a:t>
            </a:r>
            <a:r>
              <a:rPr lang="en-US" altLang="en-US" dirty="0" err="1">
                <a:latin typeface="Arial" panose="020B0604020202020204" pitchFamily="34" charset="0"/>
              </a:rPr>
              <a:t>lỗi</a:t>
            </a:r>
            <a:r>
              <a:rPr lang="en-US" altLang="en-US" dirty="0">
                <a:latin typeface="Arial" panose="020B0604020202020204" pitchFamily="34" charset="0"/>
              </a:rPr>
              <a:t> hay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truy</a:t>
            </a:r>
            <a:r>
              <a:rPr lang="en-US" altLang="en-US" dirty="0">
                <a:latin typeface="Arial" panose="020B0604020202020204" pitchFamily="34" charset="0"/>
              </a:rPr>
              <a:t> </a:t>
            </a:r>
            <a:r>
              <a:rPr lang="en-US" altLang="en-US" dirty="0" err="1">
                <a:latin typeface="Arial" panose="020B0604020202020204" pitchFamily="34" charset="0"/>
              </a:rPr>
              <a:t>vấn</a:t>
            </a:r>
            <a:r>
              <a:rPr lang="en-US" altLang="en-US" dirty="0">
                <a:latin typeface="Arial" panose="020B0604020202020204" pitchFamily="34" charset="0"/>
              </a:rPr>
              <a:t> </a:t>
            </a:r>
            <a:r>
              <a:rPr lang="en-US" altLang="en-US" dirty="0" err="1">
                <a:latin typeface="Arial" panose="020B0604020202020204" pitchFamily="34" charset="0"/>
              </a:rPr>
              <a:t>thành</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 </a:t>
            </a:r>
            <a:r>
              <a:rPr lang="en-US" altLang="en-US" dirty="0" err="1">
                <a:latin typeface="Arial" panose="020B0604020202020204" pitchFamily="34" charset="0"/>
              </a:rPr>
              <a:t>trong</a:t>
            </a:r>
            <a:r>
              <a:rPr lang="en-US" altLang="en-US" dirty="0">
                <a:latin typeface="Arial" panose="020B0604020202020204" pitchFamily="34" charset="0"/>
              </a:rPr>
              <a:t> </a:t>
            </a:r>
            <a:r>
              <a:rPr lang="en-US" altLang="en-US" dirty="0" err="1">
                <a:latin typeface="Arial" panose="020B0604020202020204" pitchFamily="34" charset="0"/>
              </a:rPr>
              <a:t>việc</a:t>
            </a:r>
            <a:r>
              <a:rPr lang="en-US" altLang="en-US" dirty="0">
                <a:latin typeface="Arial" panose="020B0604020202020204" pitchFamily="34" charset="0"/>
              </a:rPr>
              <a:t> </a:t>
            </a:r>
            <a:r>
              <a:rPr lang="en-US" altLang="en-US" dirty="0" err="1">
                <a:latin typeface="Arial" panose="020B0604020202020204" pitchFamily="34" charset="0"/>
              </a:rPr>
              <a:t>đạt</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a:latin typeface="Arial" panose="020B0604020202020204" pitchFamily="34" charset="0"/>
              </a:rPr>
              <a:t>quả</a:t>
            </a:r>
            <a:r>
              <a:rPr lang="en-US" altLang="en-US" dirty="0">
                <a:latin typeface="Arial" panose="020B0604020202020204" pitchFamily="34" charset="0"/>
              </a:rPr>
              <a:t> </a:t>
            </a:r>
            <a:r>
              <a:rPr lang="en-US" altLang="en-US" dirty="0" err="1">
                <a:latin typeface="Arial" panose="020B0604020202020204" pitchFamily="34" charset="0"/>
              </a:rPr>
              <a:t>dự</a:t>
            </a:r>
            <a:r>
              <a:rPr lang="en-US" altLang="en-US" dirty="0">
                <a:latin typeface="Arial" panose="020B0604020202020204" pitchFamily="34" charset="0"/>
              </a:rPr>
              <a:t> </a:t>
            </a:r>
            <a:r>
              <a:rPr lang="en-US" altLang="en-US" dirty="0" err="1">
                <a:latin typeface="Arial" panose="020B0604020202020204" pitchFamily="34" charset="0"/>
              </a:rPr>
              <a:t>định</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kẻ</a:t>
            </a:r>
            <a:r>
              <a:rPr lang="en-US" altLang="en-US" dirty="0">
                <a:latin typeface="Arial" panose="020B0604020202020204" pitchFamily="34" charset="0"/>
              </a:rPr>
              <a:t> </a:t>
            </a:r>
            <a:r>
              <a:rPr lang="en-US" altLang="en-US" dirty="0" err="1">
                <a:latin typeface="Arial" panose="020B0604020202020204" pitchFamily="34" charset="0"/>
              </a:rPr>
              <a:t>tấn</a:t>
            </a:r>
            <a:r>
              <a:rPr lang="en-US" altLang="en-US" dirty="0">
                <a:latin typeface="Arial" panose="020B0604020202020204" pitchFamily="34" charset="0"/>
              </a:rPr>
              <a:t> </a:t>
            </a:r>
            <a:r>
              <a:rPr lang="en-US" altLang="en-US" dirty="0" err="1">
                <a:latin typeface="Arial" panose="020B0604020202020204" pitchFamily="34" charset="0"/>
              </a:rPr>
              <a:t>công</a:t>
            </a:r>
            <a:r>
              <a:rPr lang="en-US" altLang="en-US" dirty="0">
                <a:latin typeface="Arial" panose="020B0604020202020204" pitchFamily="34" charset="0"/>
              </a:rPr>
              <a:t>.</a:t>
            </a:r>
          </a:p>
          <a:p>
            <a:pPr marL="171450" indent="-171450" eaLnBrk="1" hangingPunct="1">
              <a:buFontTx/>
              <a:buChar char="•"/>
            </a:pPr>
            <a:r>
              <a:rPr lang="en-US" altLang="en-US" dirty="0">
                <a:latin typeface="Arial" panose="020B0604020202020204" pitchFamily="34" charset="0"/>
              </a:rPr>
              <a:t>Second order: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a:latin typeface="Arial" panose="020B0604020202020204" pitchFamily="34" charset="0"/>
              </a:rPr>
              <a:t>quả</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thấy</a:t>
            </a:r>
            <a:r>
              <a:rPr lang="en-US" altLang="en-US" dirty="0">
                <a:latin typeface="Arial" panose="020B0604020202020204" pitchFamily="34" charset="0"/>
              </a:rPr>
              <a:t> </a:t>
            </a:r>
            <a:r>
              <a:rPr lang="en-US" altLang="en-US" dirty="0" err="1">
                <a:latin typeface="Arial" panose="020B0604020202020204" pitchFamily="34" charset="0"/>
              </a:rPr>
              <a:t>khi</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câu</a:t>
            </a:r>
            <a:r>
              <a:rPr lang="en-US" altLang="en-US" dirty="0">
                <a:latin typeface="Arial" panose="020B0604020202020204" pitchFamily="34" charset="0"/>
              </a:rPr>
              <a:t> </a:t>
            </a:r>
            <a:r>
              <a:rPr lang="en-US" altLang="en-US" dirty="0" err="1">
                <a:latin typeface="Arial" panose="020B0604020202020204" pitchFamily="34" charset="0"/>
              </a:rPr>
              <a:t>truy</a:t>
            </a:r>
            <a:r>
              <a:rPr lang="en-US" altLang="en-US" dirty="0">
                <a:latin typeface="Arial" panose="020B0604020202020204" pitchFamily="34" charset="0"/>
              </a:rPr>
              <a:t> </a:t>
            </a:r>
            <a:r>
              <a:rPr lang="en-US" altLang="en-US" dirty="0" err="1">
                <a:latin typeface="Arial" panose="020B0604020202020204" pitchFamily="34" charset="0"/>
              </a:rPr>
              <a:t>vấn</a:t>
            </a:r>
            <a:r>
              <a:rPr lang="en-US" altLang="en-US" dirty="0">
                <a:latin typeface="Arial" panose="020B0604020202020204" pitchFamily="34" charset="0"/>
              </a:rPr>
              <a:t> </a:t>
            </a:r>
            <a:r>
              <a:rPr lang="en-US" altLang="en-US" dirty="0" err="1">
                <a:latin typeface="Arial" panose="020B0604020202020204" pitchFamily="34" charset="0"/>
              </a:rPr>
              <a:t>khác</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thực</a:t>
            </a:r>
            <a:r>
              <a:rPr lang="en-US" altLang="en-US" dirty="0">
                <a:latin typeface="Arial" panose="020B0604020202020204" pitchFamily="34" charset="0"/>
              </a:rPr>
              <a:t> </a:t>
            </a:r>
            <a:r>
              <a:rPr lang="en-US" altLang="en-US" dirty="0" err="1">
                <a:latin typeface="Arial" panose="020B0604020202020204" pitchFamily="34" charset="0"/>
              </a:rPr>
              <a:t>thi</a:t>
            </a:r>
            <a:r>
              <a:rPr lang="en-US" altLang="en-US" dirty="0">
                <a:latin typeface="Arial" panose="020B0604020202020204" pitchFamily="34" charset="0"/>
              </a:rPr>
              <a:t> </a:t>
            </a:r>
            <a:r>
              <a:rPr lang="en-US" altLang="en-US" dirty="0" err="1">
                <a:latin typeface="Arial" panose="020B0604020202020204" pitchFamily="34" charset="0"/>
              </a:rPr>
              <a:t>hoặc</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người</a:t>
            </a:r>
            <a:r>
              <a:rPr lang="en-US" altLang="en-US" dirty="0">
                <a:latin typeface="Arial" panose="020B0604020202020204" pitchFamily="34" charset="0"/>
              </a:rPr>
              <a:t> </a:t>
            </a:r>
            <a:r>
              <a:rPr lang="en-US" altLang="en-US" dirty="0" err="1">
                <a:latin typeface="Arial" panose="020B0604020202020204" pitchFamily="34" charset="0"/>
              </a:rPr>
              <a:t>dùng</a:t>
            </a:r>
            <a:r>
              <a:rPr lang="en-US" altLang="en-US" dirty="0">
                <a:latin typeface="Arial" panose="020B0604020202020204" pitchFamily="34" charset="0"/>
              </a:rPr>
              <a:t> </a:t>
            </a:r>
            <a:r>
              <a:rPr lang="en-US" altLang="en-US" dirty="0" err="1">
                <a:latin typeface="Arial" panose="020B0604020202020204" pitchFamily="34" charset="0"/>
              </a:rPr>
              <a:t>khác</a:t>
            </a:r>
            <a:r>
              <a:rPr lang="en-US" altLang="en-US" dirty="0">
                <a:latin typeface="Arial" panose="020B0604020202020204" pitchFamily="34" charset="0"/>
              </a:rPr>
              <a:t> </a:t>
            </a:r>
            <a:r>
              <a:rPr lang="en-US" altLang="en-US" dirty="0" err="1">
                <a:latin typeface="Arial" panose="020B0604020202020204" pitchFamily="34" charset="0"/>
              </a:rPr>
              <a:t>truy</a:t>
            </a:r>
            <a:r>
              <a:rPr lang="en-US" altLang="en-US" dirty="0">
                <a:latin typeface="Arial" panose="020B0604020202020204" pitchFamily="34" charset="0"/>
              </a:rPr>
              <a:t> </a:t>
            </a:r>
            <a:r>
              <a:rPr lang="en-US" altLang="en-US" dirty="0" err="1">
                <a:latin typeface="Arial" panose="020B0604020202020204" pitchFamily="34" charset="0"/>
              </a:rPr>
              <a:t>cập</a:t>
            </a:r>
            <a:r>
              <a:rPr lang="en-US" altLang="en-US" dirty="0">
                <a:latin typeface="Arial" panose="020B0604020202020204" pitchFamily="34" charset="0"/>
              </a:rPr>
              <a:t> </a:t>
            </a:r>
            <a:r>
              <a:rPr lang="en-US" altLang="en-US" dirty="0" err="1">
                <a:latin typeface="Arial" panose="020B0604020202020204" pitchFamily="34" charset="0"/>
              </a:rPr>
              <a:t>vào</a:t>
            </a:r>
            <a:r>
              <a:rPr lang="en-US" altLang="en-US" dirty="0">
                <a:latin typeface="Arial" panose="020B0604020202020204" pitchFamily="34" charset="0"/>
              </a:rPr>
              <a:t> </a:t>
            </a:r>
            <a:r>
              <a:rPr lang="en-US" altLang="en-US" dirty="0" err="1">
                <a:latin typeface="Arial" panose="020B0604020202020204" pitchFamily="34" charset="0"/>
              </a:rPr>
              <a:t>ứng</a:t>
            </a:r>
            <a:r>
              <a:rPr lang="en-US" altLang="en-US" dirty="0">
                <a:latin typeface="Arial" panose="020B0604020202020204" pitchFamily="34" charset="0"/>
              </a:rPr>
              <a:t> </a:t>
            </a:r>
            <a:r>
              <a:rPr lang="en-US" altLang="en-US" dirty="0" err="1">
                <a:latin typeface="Arial" panose="020B0604020202020204" pitchFamily="34" charset="0"/>
              </a:rPr>
              <a:t>dụng</a:t>
            </a:r>
            <a:endParaRPr lang="en-US" alt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14</a:t>
            </a:fld>
            <a:endParaRPr lang="en-GB"/>
          </a:p>
        </p:txBody>
      </p:sp>
    </p:spTree>
    <p:extLst>
      <p:ext uri="{BB962C8B-B14F-4D97-AF65-F5344CB8AC3E}">
        <p14:creationId xmlns:p14="http://schemas.microsoft.com/office/powerpoint/2010/main" val="2571181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90000"/>
              </a:lnSpc>
              <a:buFont typeface="Arial" panose="020B0604020202020204" pitchFamily="34" charset="0"/>
              <a:buChar char="•"/>
            </a:pPr>
            <a:r>
              <a:rPr lang="en-US" altLang="en-US" sz="1200" dirty="0"/>
              <a:t>If this code were to be used in an authentication procedure then this example could be used to force the selection of a valid username because the evaluation of </a:t>
            </a:r>
            <a:r>
              <a:rPr lang="en-US" altLang="en-US" sz="1200" dirty="0">
                <a:solidFill>
                  <a:srgbClr val="FF0000"/>
                </a:solidFill>
              </a:rPr>
              <a:t>'t'='t' </a:t>
            </a:r>
            <a:r>
              <a:rPr lang="en-US" altLang="en-US" sz="1200" dirty="0"/>
              <a:t>is always true</a:t>
            </a:r>
            <a:r>
              <a:rPr lang="en-US" altLang="en-US" sz="1400" dirty="0"/>
              <a:t> </a:t>
            </a:r>
          </a:p>
          <a:p>
            <a:pPr marL="171450" indent="-171450">
              <a:lnSpc>
                <a:spcPct val="90000"/>
              </a:lnSpc>
              <a:buFont typeface="Arial" panose="020B0604020202020204" pitchFamily="34" charset="0"/>
              <a:buChar char="•"/>
            </a:pPr>
            <a:r>
              <a:rPr lang="en-US" altLang="en-US" sz="1200" dirty="0"/>
              <a:t>The problem arises because no control is made on the input string</a:t>
            </a:r>
            <a:endParaRPr lang="en-US" dirty="0">
              <a:solidFill>
                <a:srgbClr val="3333CC"/>
              </a:solidFill>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EF6F9A57-430C-42ED-B8B9-D13D26B98519}" type="slidenum">
              <a:rPr lang="en-GB" smtClean="0"/>
              <a:pPr/>
              <a:t>15</a:t>
            </a:fld>
            <a:endParaRPr lang="en-GB"/>
          </a:p>
        </p:txBody>
      </p:sp>
    </p:spTree>
    <p:extLst>
      <p:ext uri="{BB962C8B-B14F-4D97-AF65-F5344CB8AC3E}">
        <p14:creationId xmlns:p14="http://schemas.microsoft.com/office/powerpoint/2010/main" val="1551582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b="1" dirty="0">
                <a:solidFill>
                  <a:schemeClr val="accent2"/>
                </a:solidFill>
                <a:latin typeface="Arial" panose="020B0604020202020204" pitchFamily="34" charset="0"/>
              </a:rPr>
              <a:t>Second order SQL injection attack</a:t>
            </a:r>
            <a:endParaRPr lang="en-US" altLang="en-US" sz="1200"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dirty="0"/>
              <a:t>Note: the application escapes the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EF6F9A57-430C-42ED-B8B9-D13D26B98519}" type="slidenum">
              <a:rPr lang="en-GB" smtClean="0"/>
              <a:pPr/>
              <a:t>18</a:t>
            </a:fld>
            <a:endParaRPr lang="en-GB"/>
          </a:p>
        </p:txBody>
      </p:sp>
    </p:spTree>
    <p:extLst>
      <p:ext uri="{BB962C8B-B14F-4D97-AF65-F5344CB8AC3E}">
        <p14:creationId xmlns:p14="http://schemas.microsoft.com/office/powerpoint/2010/main" val="2611074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a:latin typeface="Arial" panose="020B0604020202020204" pitchFamily="34" charset="0"/>
              </a:rPr>
              <a:t>Escape(): mã hóa một chuỗi để có thể hiểu trên bất kỳ hệ thống nào có hỗ trợ các ký tự ASCII.</a:t>
            </a: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fld id="{EF6F9A57-430C-42ED-B8B9-D13D26B98519}" type="slidenum">
              <a:rPr lang="en-GB" smtClean="0"/>
              <a:pPr/>
              <a:t>19</a:t>
            </a:fld>
            <a:endParaRPr lang="en-GB"/>
          </a:p>
        </p:txBody>
      </p:sp>
    </p:spTree>
    <p:extLst>
      <p:ext uri="{BB962C8B-B14F-4D97-AF65-F5344CB8AC3E}">
        <p14:creationId xmlns:p14="http://schemas.microsoft.com/office/powerpoint/2010/main" val="3218327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dirty="0">
                <a:latin typeface="Arial" panose="020B0604020202020204" pitchFamily="34" charset="0"/>
              </a:rPr>
              <a:t>Countermeasure: </a:t>
            </a:r>
            <a:r>
              <a:rPr lang="en-US" altLang="en-US" dirty="0" err="1">
                <a:latin typeface="Arial" panose="020B0604020202020204" pitchFamily="34" charset="0"/>
              </a:rPr>
              <a:t>biện</a:t>
            </a:r>
            <a:r>
              <a:rPr lang="en-US" altLang="en-US" dirty="0">
                <a:latin typeface="Arial" panose="020B0604020202020204" pitchFamily="34" charset="0"/>
              </a:rPr>
              <a:t> </a:t>
            </a:r>
            <a:r>
              <a:rPr lang="en-US" altLang="en-US" dirty="0" err="1">
                <a:latin typeface="Arial" panose="020B0604020202020204" pitchFamily="34" charset="0"/>
              </a:rPr>
              <a:t>pháp</a:t>
            </a:r>
            <a:r>
              <a:rPr lang="en-US" altLang="en-US" dirty="0">
                <a:latin typeface="Arial" panose="020B0604020202020204" pitchFamily="34" charset="0"/>
              </a:rPr>
              <a:t> </a:t>
            </a:r>
            <a:r>
              <a:rPr lang="en-US" altLang="en-US" dirty="0" err="1">
                <a:latin typeface="Arial" panose="020B0604020202020204" pitchFamily="34" charset="0"/>
              </a:rPr>
              <a:t>đối</a:t>
            </a:r>
            <a:r>
              <a:rPr lang="en-US" altLang="en-US" dirty="0">
                <a:latin typeface="Arial" panose="020B0604020202020204" pitchFamily="34" charset="0"/>
              </a:rPr>
              <a:t> </a:t>
            </a:r>
            <a:r>
              <a:rPr lang="en-US" altLang="en-US" dirty="0" err="1">
                <a:latin typeface="Arial" panose="020B0604020202020204" pitchFamily="34" charset="0"/>
              </a:rPr>
              <a:t>phó</a:t>
            </a:r>
            <a:endParaRPr lang="en-US" altLang="en-US" dirty="0">
              <a:latin typeface="Arial" panose="020B0604020202020204" pitchFamily="34" charset="0"/>
            </a:endParaRPr>
          </a:p>
          <a:p>
            <a:pPr marL="171450" indent="-171450" eaLnBrk="1" hangingPunct="1">
              <a:buFontTx/>
              <a:buChar char="•"/>
            </a:pPr>
            <a:r>
              <a:rPr lang="en-US" altLang="en-US" dirty="0" err="1">
                <a:latin typeface="Arial" panose="020B0604020202020204" pitchFamily="34" charset="0"/>
              </a:rPr>
              <a:t>Giai</a:t>
            </a:r>
            <a:r>
              <a:rPr lang="en-US" altLang="en-US" dirty="0">
                <a:latin typeface="Arial" panose="020B0604020202020204" pitchFamily="34" charset="0"/>
              </a:rPr>
              <a:t> </a:t>
            </a:r>
            <a:r>
              <a:rPr lang="en-US" altLang="en-US" dirty="0" err="1">
                <a:latin typeface="Arial" panose="020B0604020202020204" pitchFamily="34" charset="0"/>
              </a:rPr>
              <a:t>đoạn</a:t>
            </a:r>
            <a:r>
              <a:rPr lang="en-US" altLang="en-US" dirty="0">
                <a:latin typeface="Arial" panose="020B0604020202020204" pitchFamily="34" charset="0"/>
              </a:rPr>
              <a:t> </a:t>
            </a:r>
            <a:r>
              <a:rPr lang="en-US" altLang="en-US" dirty="0" err="1">
                <a:latin typeface="Arial" panose="020B0604020202020204" pitchFamily="34" charset="0"/>
              </a:rPr>
              <a:t>xác</a:t>
            </a:r>
            <a:r>
              <a:rPr lang="en-US" altLang="en-US" dirty="0">
                <a:latin typeface="Arial" panose="020B0604020202020204" pitchFamily="34" charset="0"/>
              </a:rPr>
              <a:t> </a:t>
            </a:r>
            <a:r>
              <a:rPr lang="en-US" altLang="en-US" dirty="0" err="1">
                <a:latin typeface="Arial" panose="020B0604020202020204" pitchFamily="34" charset="0"/>
              </a:rPr>
              <a:t>định</a:t>
            </a:r>
            <a:r>
              <a:rPr lang="en-US" altLang="en-US" dirty="0">
                <a:latin typeface="Arial" panose="020B0604020202020204" pitchFamily="34" charset="0"/>
              </a:rPr>
              <a:t> </a:t>
            </a:r>
            <a:r>
              <a:rPr lang="en-US" altLang="en-US" dirty="0" err="1">
                <a:latin typeface="Arial" panose="020B0604020202020204" pitchFamily="34" charset="0"/>
              </a:rPr>
              <a:t>yêu</a:t>
            </a:r>
            <a:r>
              <a:rPr lang="en-US" altLang="en-US" dirty="0">
                <a:latin typeface="Arial" panose="020B0604020202020204" pitchFamily="34" charset="0"/>
              </a:rPr>
              <a:t> </a:t>
            </a:r>
            <a:r>
              <a:rPr lang="en-US" altLang="en-US" dirty="0" err="1">
                <a:latin typeface="Arial" panose="020B0604020202020204" pitchFamily="34" charset="0"/>
              </a:rPr>
              <a:t>cầu</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csdl</a:t>
            </a:r>
            <a:r>
              <a:rPr lang="en-US" altLang="en-US" dirty="0">
                <a:latin typeface="Arial" panose="020B0604020202020204" pitchFamily="34" charset="0"/>
              </a:rPr>
              <a:t> </a:t>
            </a:r>
            <a:r>
              <a:rPr lang="en-US" altLang="en-US" dirty="0" err="1">
                <a:latin typeface="Arial" panose="020B0604020202020204" pitchFamily="34" charset="0"/>
              </a:rPr>
              <a:t>dạng</a:t>
            </a:r>
            <a:r>
              <a:rPr lang="en-US" altLang="en-US" dirty="0">
                <a:latin typeface="Arial" panose="020B0604020202020204" pitchFamily="34" charset="0"/>
              </a:rPr>
              <a:t> non – SQL </a:t>
            </a:r>
            <a:r>
              <a:rPr lang="en-US" altLang="en-US" dirty="0" err="1">
                <a:latin typeface="Arial" panose="020B0604020202020204" pitchFamily="34" charset="0"/>
              </a:rPr>
              <a:t>mà</a:t>
            </a:r>
            <a:r>
              <a:rPr lang="en-US" altLang="en-US" dirty="0">
                <a:latin typeface="Arial" panose="020B0604020202020204" pitchFamily="34" charset="0"/>
              </a:rPr>
              <a:t> </a:t>
            </a:r>
            <a:r>
              <a:rPr lang="en-US" altLang="en-US" dirty="0" err="1">
                <a:latin typeface="Arial" panose="020B0604020202020204" pitchFamily="34" charset="0"/>
              </a:rPr>
              <a:t>không</a:t>
            </a:r>
            <a:r>
              <a:rPr lang="en-US" altLang="en-US" dirty="0">
                <a:latin typeface="Arial" panose="020B0604020202020204" pitchFamily="34" charset="0"/>
              </a:rPr>
              <a:t> </a:t>
            </a:r>
            <a:r>
              <a:rPr lang="en-US" altLang="en-US" dirty="0" err="1">
                <a:latin typeface="Arial" panose="020B0604020202020204" pitchFamily="34" charset="0"/>
              </a:rPr>
              <a:t>phụ</a:t>
            </a:r>
            <a:r>
              <a:rPr lang="en-US" altLang="en-US" dirty="0">
                <a:latin typeface="Arial" panose="020B0604020202020204" pitchFamily="34" charset="0"/>
              </a:rPr>
              <a:t> </a:t>
            </a:r>
            <a:r>
              <a:rPr lang="en-US" altLang="en-US" dirty="0" err="1">
                <a:latin typeface="Arial" panose="020B0604020202020204" pitchFamily="34" charset="0"/>
              </a:rPr>
              <a:t>thuộc</a:t>
            </a:r>
            <a:r>
              <a:rPr lang="en-US" altLang="en-US" dirty="0">
                <a:latin typeface="Arial" panose="020B0604020202020204" pitchFamily="34" charset="0"/>
              </a:rPr>
              <a:t> </a:t>
            </a:r>
            <a:r>
              <a:rPr lang="en-US" altLang="en-US" dirty="0" err="1">
                <a:latin typeface="Arial" panose="020B0604020202020204" pitchFamily="34" charset="0"/>
              </a:rPr>
              <a:t>vào</a:t>
            </a:r>
            <a:r>
              <a:rPr lang="en-US" altLang="en-US" dirty="0">
                <a:latin typeface="Arial" panose="020B0604020202020204" pitchFamily="34" charset="0"/>
              </a:rPr>
              <a:t> </a:t>
            </a:r>
            <a:r>
              <a:rPr lang="en-US" altLang="en-US" dirty="0" err="1">
                <a:latin typeface="Arial" panose="020B0604020202020204" pitchFamily="34" charset="0"/>
              </a:rPr>
              <a:t>những</a:t>
            </a:r>
            <a:r>
              <a:rPr lang="en-US" altLang="en-US" dirty="0">
                <a:latin typeface="Arial" panose="020B0604020202020204" pitchFamily="34" charset="0"/>
              </a:rPr>
              <a:t> </a:t>
            </a:r>
            <a:r>
              <a:rPr lang="en-US" altLang="en-US" dirty="0" err="1">
                <a:latin typeface="Arial" panose="020B0604020202020204" pitchFamily="34" charset="0"/>
              </a:rPr>
              <a:t>lỗ</a:t>
            </a:r>
            <a:r>
              <a:rPr lang="en-US" altLang="en-US" dirty="0">
                <a:latin typeface="Arial" panose="020B0604020202020204" pitchFamily="34" charset="0"/>
              </a:rPr>
              <a:t> </a:t>
            </a:r>
            <a:r>
              <a:rPr lang="en-US" altLang="en-US" dirty="0" err="1">
                <a:latin typeface="Arial" panose="020B0604020202020204" pitchFamily="34" charset="0"/>
              </a:rPr>
              <a:t>hổng</a:t>
            </a:r>
            <a:r>
              <a:rPr lang="en-US" altLang="en-US" dirty="0">
                <a:latin typeface="Arial" panose="020B0604020202020204" pitchFamily="34" charset="0"/>
              </a:rPr>
              <a:t> </a:t>
            </a:r>
            <a:r>
              <a:rPr lang="en-US" altLang="en-US" dirty="0" err="1">
                <a:latin typeface="Arial" panose="020B0604020202020204" pitchFamily="34" charset="0"/>
              </a:rPr>
              <a:t>này</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thể</a:t>
            </a:r>
            <a:r>
              <a:rPr lang="en-US" altLang="en-US" dirty="0">
                <a:latin typeface="Arial" panose="020B0604020202020204" pitchFamily="34" charset="0"/>
              </a:rPr>
              <a:t> </a:t>
            </a: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chọn</a:t>
            </a:r>
            <a:endParaRPr lang="en-US" altLang="en-US" dirty="0">
              <a:latin typeface="Arial" panose="020B0604020202020204" pitchFamily="34" charset="0"/>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EF6F9A57-430C-42ED-B8B9-D13D26B98519}" type="slidenum">
              <a:rPr lang="en-GB" smtClean="0"/>
              <a:pPr/>
              <a:t>21</a:t>
            </a:fld>
            <a:endParaRPr lang="en-GB"/>
          </a:p>
        </p:txBody>
      </p:sp>
    </p:spTree>
    <p:extLst>
      <p:ext uri="{BB962C8B-B14F-4D97-AF65-F5344CB8AC3E}">
        <p14:creationId xmlns:p14="http://schemas.microsoft.com/office/powerpoint/2010/main" val="3405391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dirty="0">
                <a:latin typeface="Arial" panose="020B0604020202020204" pitchFamily="34" charset="0"/>
              </a:rPr>
              <a:t>Meta – characters: </a:t>
            </a:r>
            <a:r>
              <a:rPr lang="en-US" altLang="en-US" dirty="0" err="1">
                <a:latin typeface="Arial" panose="020B0604020202020204" pitchFamily="34" charset="0"/>
              </a:rPr>
              <a:t>siêu</a:t>
            </a:r>
            <a:r>
              <a:rPr lang="en-US" altLang="en-US" dirty="0">
                <a:latin typeface="Arial" panose="020B0604020202020204" pitchFamily="34" charset="0"/>
              </a:rPr>
              <a:t> </a:t>
            </a:r>
            <a:r>
              <a:rPr lang="en-US" altLang="en-US" dirty="0" err="1">
                <a:latin typeface="Arial" panose="020B0604020202020204" pitchFamily="34" charset="0"/>
              </a:rPr>
              <a:t>ký</a:t>
            </a:r>
            <a:r>
              <a:rPr lang="en-US" altLang="en-US" dirty="0">
                <a:latin typeface="Arial" panose="020B0604020202020204" pitchFamily="34" charset="0"/>
              </a:rPr>
              <a:t> </a:t>
            </a:r>
            <a:r>
              <a:rPr lang="en-US" altLang="en-US" dirty="0" err="1">
                <a:latin typeface="Arial" panose="020B0604020202020204" pitchFamily="34" charset="0"/>
              </a:rPr>
              <a:t>tự</a:t>
            </a:r>
            <a:r>
              <a:rPr lang="en-US" altLang="en-US" dirty="0">
                <a:latin typeface="Arial" panose="020B0604020202020204" pitchFamily="34" charset="0"/>
              </a:rPr>
              <a:t>, </a:t>
            </a:r>
            <a:r>
              <a:rPr lang="en-US" altLang="en-US" dirty="0" err="1">
                <a:latin typeface="Arial" panose="020B0604020202020204" pitchFamily="34" charset="0"/>
              </a:rPr>
              <a:t>ký</a:t>
            </a:r>
            <a:r>
              <a:rPr lang="en-US" altLang="en-US" dirty="0">
                <a:latin typeface="Arial" panose="020B0604020202020204" pitchFamily="34" charset="0"/>
              </a:rPr>
              <a:t> </a:t>
            </a:r>
            <a:r>
              <a:rPr lang="en-US" altLang="en-US" dirty="0" err="1">
                <a:latin typeface="Arial" panose="020B0604020202020204" pitchFamily="34" charset="0"/>
              </a:rPr>
              <a:t>tự</a:t>
            </a:r>
            <a:r>
              <a:rPr lang="en-US" altLang="en-US" dirty="0">
                <a:latin typeface="Arial" panose="020B0604020202020204" pitchFamily="34" charset="0"/>
              </a:rPr>
              <a:t> </a:t>
            </a:r>
            <a:r>
              <a:rPr lang="en-US" altLang="en-US" dirty="0" err="1">
                <a:latin typeface="Arial" panose="020B0604020202020204" pitchFamily="34" charset="0"/>
              </a:rPr>
              <a:t>gộp</a:t>
            </a:r>
            <a:endParaRPr lang="en-US" altLang="en-US" dirty="0">
              <a:latin typeface="Arial" panose="020B0604020202020204" pitchFamily="34" charset="0"/>
            </a:endParaRPr>
          </a:p>
          <a:p>
            <a:pPr marL="171450" indent="-171450" eaLnBrk="1" hangingPunct="1">
              <a:buFontTx/>
              <a:buChar char="•"/>
            </a:pPr>
            <a:r>
              <a:rPr lang="en-US" altLang="en-US" dirty="0" err="1">
                <a:latin typeface="Arial" panose="020B0604020202020204" pitchFamily="34" charset="0"/>
              </a:rPr>
              <a:t>Giới</a:t>
            </a:r>
            <a:r>
              <a:rPr lang="en-US" altLang="en-US" dirty="0">
                <a:latin typeface="Arial" panose="020B0604020202020204" pitchFamily="34" charset="0"/>
              </a:rPr>
              <a:t> </a:t>
            </a:r>
            <a:r>
              <a:rPr lang="en-US" altLang="en-US" dirty="0" err="1">
                <a:latin typeface="Arial" panose="020B0604020202020204" pitchFamily="34" charset="0"/>
              </a:rPr>
              <a:t>hạn</a:t>
            </a:r>
            <a:r>
              <a:rPr lang="en-US" altLang="en-US" dirty="0">
                <a:latin typeface="Arial" panose="020B0604020202020204" pitchFamily="34" charset="0"/>
              </a:rPr>
              <a:t> </a:t>
            </a:r>
            <a:r>
              <a:rPr lang="en-US" altLang="en-US" dirty="0" err="1">
                <a:latin typeface="Arial" panose="020B0604020202020204" pitchFamily="34" charset="0"/>
              </a:rPr>
              <a:t>tập</a:t>
            </a:r>
            <a:r>
              <a:rPr lang="en-US" altLang="en-US" dirty="0">
                <a:latin typeface="Arial" panose="020B0604020202020204" pitchFamily="34" charset="0"/>
              </a:rPr>
              <a:t> </a:t>
            </a:r>
            <a:r>
              <a:rPr lang="en-US" altLang="en-US" dirty="0" err="1">
                <a:latin typeface="Arial" panose="020B0604020202020204" pitchFamily="34" charset="0"/>
              </a:rPr>
              <a:t>hợp</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a:t>
            </a:r>
            <a:r>
              <a:rPr lang="en-US" altLang="en-US" dirty="0" err="1">
                <a:latin typeface="Arial" panose="020B0604020202020204" pitchFamily="34" charset="0"/>
              </a:rPr>
              <a:t>ký</a:t>
            </a:r>
            <a:r>
              <a:rPr lang="en-US" altLang="en-US" dirty="0">
                <a:latin typeface="Arial" panose="020B0604020202020204" pitchFamily="34" charset="0"/>
              </a:rPr>
              <a:t> </a:t>
            </a:r>
            <a:r>
              <a:rPr lang="en-US" altLang="en-US" dirty="0" err="1">
                <a:latin typeface="Arial" panose="020B0604020202020204" pitchFamily="34" charset="0"/>
              </a:rPr>
              <a:t>tự</a:t>
            </a:r>
            <a:r>
              <a:rPr lang="en-US" altLang="en-US" dirty="0">
                <a:latin typeface="Arial" panose="020B0604020202020204" pitchFamily="34" charset="0"/>
              </a:rPr>
              <a:t> an </a:t>
            </a:r>
            <a:r>
              <a:rPr lang="en-US" altLang="en-US" dirty="0" err="1">
                <a:latin typeface="Arial" panose="020B0604020202020204" pitchFamily="34" charset="0"/>
              </a:rPr>
              <a:t>toàn</a:t>
            </a:r>
            <a:r>
              <a:rPr lang="en-US" altLang="en-US" dirty="0">
                <a:latin typeface="Arial" panose="020B0604020202020204" pitchFamily="34" charset="0"/>
              </a:rPr>
              <a:t> </a:t>
            </a:r>
            <a:r>
              <a:rPr lang="en-US" altLang="en-US" dirty="0" err="1">
                <a:latin typeface="Arial" panose="020B0604020202020204" pitchFamily="34" charset="0"/>
              </a:rPr>
              <a:t>dựa</a:t>
            </a:r>
            <a:r>
              <a:rPr lang="en-US" altLang="en-US" dirty="0">
                <a:latin typeface="Arial" panose="020B0604020202020204" pitchFamily="34" charset="0"/>
              </a:rPr>
              <a:t> </a:t>
            </a:r>
            <a:r>
              <a:rPr lang="en-US" altLang="en-US" dirty="0" err="1">
                <a:latin typeface="Arial" panose="020B0604020202020204" pitchFamily="34" charset="0"/>
              </a:rPr>
              <a:t>trên</a:t>
            </a:r>
            <a:r>
              <a:rPr lang="en-US" altLang="en-US" dirty="0">
                <a:latin typeface="Arial" panose="020B0604020202020204" pitchFamily="34" charset="0"/>
              </a:rPr>
              <a:t> </a:t>
            </a:r>
            <a:r>
              <a:rPr lang="en-US" altLang="en-US" dirty="0" err="1">
                <a:latin typeface="Arial" panose="020B0604020202020204" pitchFamily="34" charset="0"/>
              </a:rPr>
              <a:t>giá</a:t>
            </a:r>
            <a:r>
              <a:rPr lang="en-US" altLang="en-US" dirty="0">
                <a:latin typeface="Arial" panose="020B0604020202020204" pitchFamily="34" charset="0"/>
              </a:rPr>
              <a:t> </a:t>
            </a:r>
            <a:r>
              <a:rPr lang="en-US" altLang="en-US" dirty="0" err="1">
                <a:latin typeface="Arial" panose="020B0604020202020204" pitchFamily="34" charset="0"/>
              </a:rPr>
              <a:t>trị</a:t>
            </a:r>
            <a:r>
              <a:rPr lang="en-US" altLang="en-US" dirty="0">
                <a:latin typeface="Arial" panose="020B0604020202020204" pitchFamily="34" charset="0"/>
              </a:rPr>
              <a:t> </a:t>
            </a:r>
            <a:r>
              <a:rPr lang="en-US" altLang="en-US" dirty="0" err="1">
                <a:latin typeface="Arial" panose="020B0604020202020204" pitchFamily="34" charset="0"/>
              </a:rPr>
              <a:t>dự</a:t>
            </a:r>
            <a:r>
              <a:rPr lang="en-US" altLang="en-US" dirty="0">
                <a:latin typeface="Arial" panose="020B0604020202020204" pitchFamily="34" charset="0"/>
              </a:rPr>
              <a:t> </a:t>
            </a:r>
            <a:r>
              <a:rPr lang="en-US" altLang="en-US" dirty="0" err="1">
                <a:latin typeface="Arial" panose="020B0604020202020204" pitchFamily="34" charset="0"/>
              </a:rPr>
              <a:t>kiến</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a:t>
            </a:r>
            <a:r>
              <a:rPr lang="en-US" altLang="en-US" dirty="0" err="1">
                <a:latin typeface="Arial" panose="020B0604020202020204" pitchFamily="34" charset="0"/>
              </a:rPr>
              <a:t>tham</a:t>
            </a:r>
            <a:r>
              <a:rPr lang="en-US" altLang="en-US" dirty="0">
                <a:latin typeface="Arial" panose="020B0604020202020204" pitchFamily="34" charset="0"/>
              </a:rPr>
              <a:t> </a:t>
            </a:r>
            <a:r>
              <a:rPr lang="en-US" altLang="en-US" dirty="0" err="1">
                <a:latin typeface="Arial" panose="020B0604020202020204" pitchFamily="34" charset="0"/>
              </a:rPr>
              <a:t>số</a:t>
            </a:r>
            <a:r>
              <a:rPr lang="en-US" altLang="en-US" dirty="0">
                <a:latin typeface="Arial" panose="020B0604020202020204" pitchFamily="34" charset="0"/>
              </a:rPr>
              <a:t> </a:t>
            </a:r>
            <a:r>
              <a:rPr lang="en-US" altLang="en-US" dirty="0" err="1">
                <a:latin typeface="Arial" panose="020B0604020202020204" pitchFamily="34" charset="0"/>
              </a:rPr>
              <a:t>trong</a:t>
            </a:r>
            <a:r>
              <a:rPr lang="en-US" altLang="en-US" dirty="0">
                <a:latin typeface="Arial" panose="020B0604020202020204" pitchFamily="34" charset="0"/>
              </a:rPr>
              <a:t> request.</a:t>
            </a:r>
          </a:p>
          <a:p>
            <a:pPr marL="171450" indent="-171450" eaLnBrk="1" hangingPunct="1">
              <a:buFontTx/>
              <a:buChar char="•"/>
            </a:pPr>
            <a:r>
              <a:rPr lang="en-US" altLang="en-US" dirty="0">
                <a:latin typeface="Arial" panose="020B0604020202020204" pitchFamily="34" charset="0"/>
              </a:rPr>
              <a:t>Bind: </a:t>
            </a:r>
            <a:r>
              <a:rPr lang="en-US" altLang="en-US" dirty="0" err="1">
                <a:latin typeface="Arial" panose="020B0604020202020204" pitchFamily="34" charset="0"/>
              </a:rPr>
              <a:t>ràng</a:t>
            </a:r>
            <a:r>
              <a:rPr lang="en-US" altLang="en-US" dirty="0">
                <a:latin typeface="Arial" panose="020B0604020202020204" pitchFamily="34" charset="0"/>
              </a:rPr>
              <a:t> </a:t>
            </a:r>
            <a:r>
              <a:rPr lang="en-US" altLang="en-US" dirty="0" err="1">
                <a:latin typeface="Arial" panose="020B0604020202020204" pitchFamily="34" charset="0"/>
              </a:rPr>
              <a:t>buộc</a:t>
            </a:r>
            <a:endParaRPr lang="en-US" alt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22</a:t>
            </a:fld>
            <a:endParaRPr lang="en-GB"/>
          </a:p>
        </p:txBody>
      </p:sp>
    </p:spTree>
    <p:extLst>
      <p:ext uri="{BB962C8B-B14F-4D97-AF65-F5344CB8AC3E}">
        <p14:creationId xmlns:p14="http://schemas.microsoft.com/office/powerpoint/2010/main" val="3445142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Xác nhận đầu vào: thường bị bỏ qua trong giai đoạn thực thi vì nó không thêm chức năng</a:t>
            </a:r>
          </a:p>
        </p:txBody>
      </p:sp>
      <p:sp>
        <p:nvSpPr>
          <p:cNvPr id="4" name="Slide Number Placeholder 3"/>
          <p:cNvSpPr>
            <a:spLocks noGrp="1"/>
          </p:cNvSpPr>
          <p:nvPr>
            <p:ph type="sldNum" sz="quarter" idx="10"/>
          </p:nvPr>
        </p:nvSpPr>
        <p:spPr/>
        <p:txBody>
          <a:bodyPr/>
          <a:lstStyle/>
          <a:p>
            <a:fld id="{EF6F9A57-430C-42ED-B8B9-D13D26B98519}" type="slidenum">
              <a:rPr lang="en-GB" smtClean="0"/>
              <a:pPr/>
              <a:t>23</a:t>
            </a:fld>
            <a:endParaRPr lang="en-GB"/>
          </a:p>
        </p:txBody>
      </p:sp>
    </p:spTree>
    <p:extLst>
      <p:ext uri="{BB962C8B-B14F-4D97-AF65-F5344CB8AC3E}">
        <p14:creationId xmlns:p14="http://schemas.microsoft.com/office/powerpoint/2010/main" val="4274370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24</a:t>
            </a:fld>
            <a:endParaRPr lang="en-GB"/>
          </a:p>
        </p:txBody>
      </p:sp>
    </p:spTree>
    <p:extLst>
      <p:ext uri="{BB962C8B-B14F-4D97-AF65-F5344CB8AC3E}">
        <p14:creationId xmlns:p14="http://schemas.microsoft.com/office/powerpoint/2010/main" val="164956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Harsh: khắc nghiệt</a:t>
            </a:r>
          </a:p>
          <a:p>
            <a:pPr marL="171450" indent="-171450" eaLnBrk="1" hangingPunct="1">
              <a:buFontTx/>
              <a:buChar char="•"/>
            </a:pPr>
            <a:r>
              <a:rPr lang="en-US" altLang="en-US">
                <a:latin typeface="Arial" panose="020B0604020202020204" pitchFamily="34" charset="0"/>
              </a:rPr>
              <a:t>Apostrophe: dấu móc lửng</a:t>
            </a: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25</a:t>
            </a:fld>
            <a:endParaRPr lang="en-GB"/>
          </a:p>
        </p:txBody>
      </p:sp>
    </p:spTree>
    <p:extLst>
      <p:ext uri="{BB962C8B-B14F-4D97-AF65-F5344CB8AC3E}">
        <p14:creationId xmlns:p14="http://schemas.microsoft.com/office/powerpoint/2010/main" val="1967404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Harsh: khắc nghiệt</a:t>
            </a:r>
          </a:p>
          <a:p>
            <a:pPr marL="171450" indent="-171450" eaLnBrk="1" hangingPunct="1">
              <a:buFontTx/>
              <a:buChar char="•"/>
            </a:pPr>
            <a:r>
              <a:rPr lang="en-US" altLang="en-US">
                <a:latin typeface="Arial" panose="020B0604020202020204" pitchFamily="34" charset="0"/>
              </a:rPr>
              <a:t>Apostrophe: dấu móc lửng</a:t>
            </a: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26</a:t>
            </a:fld>
            <a:endParaRPr lang="en-GB"/>
          </a:p>
        </p:txBody>
      </p:sp>
    </p:spTree>
    <p:extLst>
      <p:ext uri="{BB962C8B-B14F-4D97-AF65-F5344CB8AC3E}">
        <p14:creationId xmlns:p14="http://schemas.microsoft.com/office/powerpoint/2010/main" val="14582769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27</a:t>
            </a:fld>
            <a:endParaRPr lang="en-GB"/>
          </a:p>
        </p:txBody>
      </p:sp>
    </p:spTree>
    <p:extLst>
      <p:ext uri="{BB962C8B-B14F-4D97-AF65-F5344CB8AC3E}">
        <p14:creationId xmlns:p14="http://schemas.microsoft.com/office/powerpoint/2010/main" val="930888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28</a:t>
            </a:fld>
            <a:endParaRPr lang="en-GB"/>
          </a:p>
        </p:txBody>
      </p:sp>
    </p:spTree>
    <p:extLst>
      <p:ext uri="{BB962C8B-B14F-4D97-AF65-F5344CB8AC3E}">
        <p14:creationId xmlns:p14="http://schemas.microsoft.com/office/powerpoint/2010/main" val="3613481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29</a:t>
            </a:fld>
            <a:endParaRPr lang="en-GB"/>
          </a:p>
        </p:txBody>
      </p:sp>
    </p:spTree>
    <p:extLst>
      <p:ext uri="{BB962C8B-B14F-4D97-AF65-F5344CB8AC3E}">
        <p14:creationId xmlns:p14="http://schemas.microsoft.com/office/powerpoint/2010/main" val="992314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30</a:t>
            </a:fld>
            <a:endParaRPr lang="en-GB"/>
          </a:p>
        </p:txBody>
      </p:sp>
    </p:spTree>
    <p:extLst>
      <p:ext uri="{BB962C8B-B14F-4D97-AF65-F5344CB8AC3E}">
        <p14:creationId xmlns:p14="http://schemas.microsoft.com/office/powerpoint/2010/main" val="2811275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31</a:t>
            </a:fld>
            <a:endParaRPr lang="en-GB"/>
          </a:p>
        </p:txBody>
      </p:sp>
    </p:spTree>
    <p:extLst>
      <p:ext uri="{BB962C8B-B14F-4D97-AF65-F5344CB8AC3E}">
        <p14:creationId xmlns:p14="http://schemas.microsoft.com/office/powerpoint/2010/main" val="25473995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Tx/>
              <a:buChar char="•"/>
            </a:pPr>
            <a:r>
              <a:rPr lang="en-US" altLang="en-US">
                <a:latin typeface="Arial" panose="020B0604020202020204" pitchFamily="34" charset="0"/>
              </a:rPr>
              <a:t>Evade: tránh khỏi</a:t>
            </a:r>
          </a:p>
          <a:p>
            <a:pPr marL="171450" indent="-171450" eaLnBrk="1" hangingPunct="1">
              <a:buFontTx/>
              <a:buChar char="•"/>
            </a:pPr>
            <a:r>
              <a:rPr lang="en-US" altLang="en-US">
                <a:latin typeface="Arial" panose="020B0604020202020204" pitchFamily="34" charset="0"/>
              </a:rPr>
              <a:t>Intersperse: đặt rải rác</a:t>
            </a:r>
          </a:p>
          <a:p>
            <a:pPr marL="171450" indent="-171450" eaLnBrk="1" hangingPunct="1">
              <a:buFontTx/>
              <a:buChar char="•"/>
            </a:pPr>
            <a:endParaRPr lang="en-US" altLang="en-US">
              <a:latin typeface="Arial" panose="020B0604020202020204" pitchFamily="34" charset="0"/>
            </a:endParaRPr>
          </a:p>
          <a:p>
            <a:pPr marL="171450" indent="-171450" eaLnBrk="1" hangingPunct="1">
              <a:buFontTx/>
              <a:buChar char="•"/>
            </a:pPr>
            <a:endParaRPr lang="en-US" alt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EF6F9A57-430C-42ED-B8B9-D13D26B98519}" type="slidenum">
              <a:rPr lang="en-GB" smtClean="0"/>
              <a:pPr/>
              <a:t>32</a:t>
            </a:fld>
            <a:endParaRPr lang="en-GB"/>
          </a:p>
        </p:txBody>
      </p:sp>
    </p:spTree>
    <p:extLst>
      <p:ext uri="{BB962C8B-B14F-4D97-AF65-F5344CB8AC3E}">
        <p14:creationId xmlns:p14="http://schemas.microsoft.com/office/powerpoint/2010/main" val="22486998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3.jpeg"/><Relationship Id="rId5" Type="http://schemas.openxmlformats.org/officeDocument/2006/relationships/image" Target="../media/image7.jpeg"/><Relationship Id="rId4" Type="http://schemas.openxmlformats.org/officeDocument/2006/relationships/image" Target="../media/image6.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14" name="Rectangle 13"/>
          <p:cNvSpPr>
            <a:spLocks noChangeArrowheads="1"/>
          </p:cNvSpPr>
          <p:nvPr userDrawn="1"/>
        </p:nvSpPr>
        <p:spPr bwMode="white">
          <a:xfrm>
            <a:off x="0" y="5181600"/>
            <a:ext cx="9144000" cy="1676400"/>
          </a:xfrm>
          <a:prstGeom prst="rect">
            <a:avLst/>
          </a:prstGeom>
          <a:solidFill>
            <a:srgbClr val="A0B5C4">
              <a:alpha val="30980"/>
            </a:srgbClr>
          </a:solidFill>
          <a:ln w="9525">
            <a:noFill/>
            <a:miter lim="800000"/>
            <a:headEnd/>
            <a:tailEnd/>
          </a:ln>
          <a:effectLst/>
        </p:spPr>
        <p:txBody>
          <a:bodyPr wrap="none" anchor="ctr"/>
          <a:lstStyle/>
          <a:p>
            <a:pPr>
              <a:defRPr/>
            </a:pPr>
            <a:endParaRPr lang="en-US">
              <a:cs typeface="+mn-cs"/>
            </a:endParaRPr>
          </a:p>
        </p:txBody>
      </p:sp>
      <p:sp>
        <p:nvSpPr>
          <p:cNvPr id="15" name="Rectangle 14"/>
          <p:cNvSpPr>
            <a:spLocks noChangeArrowheads="1"/>
          </p:cNvSpPr>
          <p:nvPr userDrawn="1"/>
        </p:nvSpPr>
        <p:spPr bwMode="gray">
          <a:xfrm>
            <a:off x="0" y="1663700"/>
            <a:ext cx="9144000" cy="2324100"/>
          </a:xfrm>
          <a:prstGeom prst="rect">
            <a:avLst/>
          </a:prstGeom>
          <a:solidFill>
            <a:srgbClr val="003366"/>
          </a:solidFill>
          <a:ln w="9525">
            <a:noFill/>
            <a:miter lim="800000"/>
            <a:headEnd/>
            <a:tailEnd/>
          </a:ln>
          <a:effectLst/>
        </p:spPr>
        <p:txBody>
          <a:bodyPr wrap="none" anchor="ctr"/>
          <a:lstStyle/>
          <a:p>
            <a:pPr>
              <a:defRPr/>
            </a:pPr>
            <a:endParaRPr lang="en-US">
              <a:cs typeface="+mn-cs"/>
            </a:endParaRPr>
          </a:p>
        </p:txBody>
      </p:sp>
      <p:sp>
        <p:nvSpPr>
          <p:cNvPr id="20" name="AutoShape 113" descr="gdd01"/>
          <p:cNvSpPr>
            <a:spLocks noChangeArrowheads="1"/>
          </p:cNvSpPr>
          <p:nvPr userDrawn="1"/>
        </p:nvSpPr>
        <p:spPr bwMode="gray">
          <a:xfrm>
            <a:off x="12700" y="2044700"/>
            <a:ext cx="1752600" cy="1600200"/>
          </a:xfrm>
          <a:prstGeom prst="hexagon">
            <a:avLst>
              <a:gd name="adj" fmla="val 27381"/>
              <a:gd name="vf" fmla="val 115470"/>
            </a:avLst>
          </a:prstGeom>
          <a:blipFill dpi="0" rotWithShape="1">
            <a:blip r:embed="rId2" cstate="print"/>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defRPr/>
            </a:pPr>
            <a:endParaRPr lang="ko-KR" altLang="en-US">
              <a:latin typeface="Times New Roman" pitchFamily="18" charset="0"/>
              <a:ea typeface="Gulim" pitchFamily="34" charset="-127"/>
              <a:cs typeface="+mn-cs"/>
            </a:endParaRPr>
          </a:p>
        </p:txBody>
      </p:sp>
      <p:sp>
        <p:nvSpPr>
          <p:cNvPr id="21" name="AutoShape 114" descr="gdd04"/>
          <p:cNvSpPr>
            <a:spLocks noChangeArrowheads="1"/>
          </p:cNvSpPr>
          <p:nvPr userDrawn="1"/>
        </p:nvSpPr>
        <p:spPr bwMode="gray">
          <a:xfrm>
            <a:off x="1460500" y="1206500"/>
            <a:ext cx="1828800" cy="1600200"/>
          </a:xfrm>
          <a:prstGeom prst="hexagon">
            <a:avLst>
              <a:gd name="adj" fmla="val 28571"/>
              <a:gd name="vf" fmla="val 115470"/>
            </a:avLst>
          </a:prstGeom>
          <a:blipFill dpi="0" rotWithShape="1">
            <a:blip r:embed="rId3" cstate="print"/>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defRPr/>
            </a:pPr>
            <a:endParaRPr lang="ko-KR" altLang="en-US">
              <a:latin typeface="Times New Roman" pitchFamily="18" charset="0"/>
              <a:ea typeface="Gulim" pitchFamily="34" charset="-127"/>
              <a:cs typeface="+mn-cs"/>
            </a:endParaRPr>
          </a:p>
        </p:txBody>
      </p:sp>
      <p:sp>
        <p:nvSpPr>
          <p:cNvPr id="22" name="AutoShape 115" descr="gdd03"/>
          <p:cNvSpPr>
            <a:spLocks noChangeArrowheads="1"/>
          </p:cNvSpPr>
          <p:nvPr userDrawn="1"/>
        </p:nvSpPr>
        <p:spPr bwMode="gray">
          <a:xfrm>
            <a:off x="1422400" y="2921000"/>
            <a:ext cx="1828800" cy="1600200"/>
          </a:xfrm>
          <a:prstGeom prst="hexagon">
            <a:avLst>
              <a:gd name="adj" fmla="val 28571"/>
              <a:gd name="vf" fmla="val 115470"/>
            </a:avLst>
          </a:prstGeom>
          <a:blipFill dpi="0" rotWithShape="1">
            <a:blip r:embed="rId4" cstate="print"/>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defRPr/>
            </a:pPr>
            <a:endParaRPr lang="ko-KR" altLang="en-US">
              <a:latin typeface="Times New Roman" pitchFamily="18" charset="0"/>
              <a:ea typeface="Gulim" pitchFamily="34" charset="-127"/>
              <a:cs typeface="+mn-cs"/>
            </a:endParaRPr>
          </a:p>
        </p:txBody>
      </p:sp>
      <p:pic>
        <p:nvPicPr>
          <p:cNvPr id="23" name="Picture 6" descr="D:\HCMUTE\Khoa\hinhkhoa\logo_jpeg.jpg"/>
          <p:cNvPicPr>
            <a:picLocks noChangeAspect="1" noChangeArrowheads="1"/>
          </p:cNvPicPr>
          <p:nvPr userDrawn="1"/>
        </p:nvPicPr>
        <p:blipFill>
          <a:blip r:embed="rId5" cstate="print"/>
          <a:srcRect/>
          <a:stretch>
            <a:fillRect/>
          </a:stretch>
        </p:blipFill>
        <p:spPr bwMode="auto">
          <a:xfrm>
            <a:off x="7843838" y="0"/>
            <a:ext cx="1300162" cy="1295400"/>
          </a:xfrm>
          <a:prstGeom prst="rect">
            <a:avLst/>
          </a:prstGeom>
          <a:noFill/>
          <a:ln w="9525">
            <a:noFill/>
            <a:miter lim="800000"/>
            <a:headEnd/>
            <a:tailEnd/>
          </a:ln>
        </p:spPr>
      </p:pic>
      <p:sp>
        <p:nvSpPr>
          <p:cNvPr id="24" name="Rectangle 3"/>
          <p:cNvSpPr txBox="1">
            <a:spLocks noChangeArrowheads="1"/>
          </p:cNvSpPr>
          <p:nvPr userDrawn="1"/>
        </p:nvSpPr>
        <p:spPr bwMode="white">
          <a:xfrm>
            <a:off x="1295400" y="330200"/>
            <a:ext cx="6477000" cy="838200"/>
          </a:xfrm>
          <a:prstGeom prst="rect">
            <a:avLst/>
          </a:prstGeom>
          <a:noFill/>
          <a:ln w="9525">
            <a:noFill/>
            <a:miter lim="800000"/>
            <a:headEnd/>
            <a:tailEnd/>
          </a:ln>
        </p:spPr>
        <p:txBody>
          <a:bodyPr/>
          <a:lstStyle>
            <a:lvl1pPr marL="0" indent="0" algn="r">
              <a:buFont typeface="Wingdings" pitchFamily="2" charset="2"/>
              <a:buNone/>
              <a:defRPr sz="2800">
                <a:solidFill>
                  <a:schemeClr val="bg1"/>
                </a:solidFill>
              </a:defRPr>
            </a:lvl1pPr>
          </a:lstStyle>
          <a:p>
            <a:pPr eaLnBrk="0" hangingPunct="0">
              <a:spcBef>
                <a:spcPct val="20000"/>
              </a:spcBef>
              <a:buClr>
                <a:schemeClr val="hlink"/>
              </a:buClr>
              <a:defRPr/>
            </a:pPr>
            <a:r>
              <a:rPr lang="en-US" sz="3800" b="1" kern="1200" dirty="0">
                <a:solidFill>
                  <a:srgbClr val="5086C2"/>
                </a:solidFill>
                <a:latin typeface="Times New Roman" pitchFamily="18" charset="0"/>
                <a:cs typeface="Times New Roman" pitchFamily="18" charset="0"/>
              </a:rPr>
              <a:t>WEB SECURITY</a:t>
            </a:r>
            <a:endParaRPr lang="en-US" sz="3800" b="1" kern="0" dirty="0">
              <a:solidFill>
                <a:srgbClr val="5086C2"/>
              </a:solidFill>
              <a:latin typeface="Times New Roman" pitchFamily="18" charset="0"/>
              <a:cs typeface="Times New Roman" pitchFamily="18" charset="0"/>
            </a:endParaRPr>
          </a:p>
        </p:txBody>
      </p:sp>
      <p:sp>
        <p:nvSpPr>
          <p:cNvPr id="25" name="Rectangle 3"/>
          <p:cNvSpPr>
            <a:spLocks noGrp="1" noChangeArrowheads="1"/>
          </p:cNvSpPr>
          <p:nvPr>
            <p:ph type="subTitle" idx="1"/>
          </p:nvPr>
        </p:nvSpPr>
        <p:spPr bwMode="white">
          <a:xfrm>
            <a:off x="3352800" y="2349500"/>
            <a:ext cx="5486400" cy="990600"/>
          </a:xfrm>
        </p:spPr>
        <p:txBody>
          <a:bodyPr/>
          <a:lstStyle>
            <a:lvl1pPr marL="0" indent="0" algn="r">
              <a:buFont typeface="Wingdings" pitchFamily="2" charset="2"/>
              <a:buNone/>
              <a:defRPr sz="3000" baseline="0">
                <a:solidFill>
                  <a:schemeClr val="tx1"/>
                </a:solidFill>
                <a:latin typeface="Times New Roman" pitchFamily="18" charset="0"/>
                <a:cs typeface="Times New Roman" pitchFamily="18" charset="0"/>
              </a:defRPr>
            </a:lvl1pPr>
          </a:lstStyle>
          <a:p>
            <a:endParaRPr lang="en-US" dirty="0"/>
          </a:p>
        </p:txBody>
      </p:sp>
      <p:pic>
        <p:nvPicPr>
          <p:cNvPr id="26" name="Picture 2" descr="G:\MIT 2014\logo\logo\logo-truong.jpg"/>
          <p:cNvPicPr>
            <a:picLocks noChangeAspect="1" noChangeArrowheads="1"/>
          </p:cNvPicPr>
          <p:nvPr userDrawn="1"/>
        </p:nvPicPr>
        <p:blipFill>
          <a:blip r:embed="rId6" cstate="print"/>
          <a:srcRect/>
          <a:stretch>
            <a:fillRect/>
          </a:stretch>
        </p:blipFill>
        <p:spPr bwMode="auto">
          <a:xfrm>
            <a:off x="-1" y="0"/>
            <a:ext cx="1210165" cy="1295400"/>
          </a:xfrm>
          <a:prstGeom prst="rect">
            <a:avLst/>
          </a:prstGeom>
          <a:noFill/>
          <a:effectLst>
            <a:outerShdw blurRad="50800" dist="50800" dir="5400000" algn="ctr" rotWithShape="0">
              <a:srgbClr val="000000">
                <a:alpha val="0"/>
              </a:srgbClr>
            </a:outerShdw>
          </a:effectLst>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5038CF1-A7C8-40BD-B6B0-0DD8C764D05E}" type="slidenum">
              <a:rPr lang="en-GB" smtClean="0"/>
              <a:pPr/>
              <a:t>‹#›</a:t>
            </a:fld>
            <a:endParaRPr lang="en-GB"/>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dirty="0"/>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5038CF1-A7C8-40BD-B6B0-0DD8C764D05E}"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Slide Number Placeholder 9"/>
          <p:cNvSpPr>
            <a:spLocks noGrp="1"/>
          </p:cNvSpPr>
          <p:nvPr>
            <p:ph type="sldNum" sz="quarter" idx="16"/>
          </p:nvPr>
        </p:nvSpPr>
        <p:spPr/>
        <p:txBody>
          <a:bodyPr rtlCol="0"/>
          <a:lstStyle/>
          <a:p>
            <a:fld id="{D5038CF1-A7C8-40BD-B6B0-0DD8C764D05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dirty="0"/>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2" name="Slide Number Placeholder 11"/>
          <p:cNvSpPr>
            <a:spLocks noGrp="1"/>
          </p:cNvSpPr>
          <p:nvPr>
            <p:ph type="sldNum" sz="quarter" idx="16"/>
          </p:nvPr>
        </p:nvSpPr>
        <p:spPr/>
        <p:txBody>
          <a:bodyPr rtlCol="0"/>
          <a:lstStyle/>
          <a:p>
            <a:fld id="{D5038CF1-A7C8-40BD-B6B0-0DD8C764D05E}" type="slidenum">
              <a:rPr lang="en-GB" smtClean="0"/>
              <a:pPr/>
              <a:t>‹#›</a:t>
            </a:fld>
            <a:endParaRPr lang="en-GB"/>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dirty="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5038CF1-A7C8-40BD-B6B0-0DD8C764D05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5038CF1-A7C8-40BD-B6B0-0DD8C764D05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dirty="0"/>
              <a:t>Click to edit Master title style</a:t>
            </a: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5038CF1-A7C8-40BD-B6B0-0DD8C764D05E}" type="slidenum">
              <a:rPr lang="en-GB" smtClean="0"/>
              <a:pPr/>
              <a:t>‹#›</a:t>
            </a:fld>
            <a:endParaRPr lang="en-GB"/>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atin typeface="Times New Roman" pitchFamily="18" charset="0"/>
                <a:cs typeface="Times New Roman" pitchFamily="18" charset="0"/>
              </a:defRPr>
            </a:lvl1pPr>
            <a:lvl2pPr>
              <a:buNone/>
              <a:defRPr sz="1200"/>
            </a:lvl2pPr>
            <a:lvl3pPr>
              <a:buNone/>
              <a:defRPr sz="1000"/>
            </a:lvl3pPr>
            <a:lvl4pPr>
              <a:buNone/>
              <a:defRPr sz="900"/>
            </a:lvl4pPr>
            <a:lvl5pPr>
              <a:buNone/>
              <a:defRPr sz="900"/>
            </a:lvl5pPr>
          </a:lstStyle>
          <a:p>
            <a:pPr lvl="0" eaLnBrk="1" latinLnBrk="0" hangingPunct="1"/>
            <a:r>
              <a:rPr kumimoji="0" lang="en-US" dirty="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dirty="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dirty="0"/>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5038CF1-A7C8-40BD-B6B0-0DD8C764D05E}" type="slidenum">
              <a:rPr lang="en-GB" smtClean="0"/>
              <a:pPr/>
              <a:t>‹#›</a:t>
            </a:fld>
            <a:endParaRPr lang="en-GB"/>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D5038CF1-A7C8-40BD-B6B0-0DD8C764D05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dirty="0"/>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5038CF1-A7C8-40BD-B6B0-0DD8C764D05E}"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5038CF1-A7C8-40BD-B6B0-0DD8C764D05E}" type="slidenum">
              <a:rPr lang="en-GB" smtClean="0"/>
              <a:pPr/>
              <a:t>‹#›</a:t>
            </a:fld>
            <a:endParaRPr lang="en-GB"/>
          </a:p>
        </p:txBody>
      </p:sp>
      <p:pic>
        <p:nvPicPr>
          <p:cNvPr id="11" name="Picture 2" descr="G:\MIT 2014\logo\logo\logo-truong.jpg"/>
          <p:cNvPicPr>
            <a:picLocks noChangeAspect="1" noChangeArrowheads="1"/>
          </p:cNvPicPr>
          <p:nvPr userDrawn="1"/>
        </p:nvPicPr>
        <p:blipFill>
          <a:blip r:embed="rId13" cstate="print"/>
          <a:srcRect/>
          <a:stretch>
            <a:fillRect/>
          </a:stretch>
        </p:blipFill>
        <p:spPr bwMode="auto">
          <a:xfrm>
            <a:off x="7884368" y="260648"/>
            <a:ext cx="879248" cy="941176"/>
          </a:xfrm>
          <a:prstGeom prst="rect">
            <a:avLst/>
          </a:prstGeom>
          <a:noFill/>
          <a:effectLst>
            <a:outerShdw blurRad="50800" dist="50800" dir="5400000" algn="ctr" rotWithShape="0">
              <a:srgbClr val="000000">
                <a:alpha val="0"/>
              </a:srgbClr>
            </a:outerShdw>
          </a:effectLst>
        </p:spPr>
      </p:pic>
      <p:sp>
        <p:nvSpPr>
          <p:cNvPr id="12" name="Rectangle 6"/>
          <p:cNvSpPr txBox="1">
            <a:spLocks noChangeArrowheads="1"/>
          </p:cNvSpPr>
          <p:nvPr userDrawn="1"/>
        </p:nvSpPr>
        <p:spPr bwMode="auto">
          <a:xfrm>
            <a:off x="6084168" y="5546700"/>
            <a:ext cx="520700" cy="381000"/>
          </a:xfrm>
          <a:prstGeom prst="rect">
            <a:avLst/>
          </a:prstGeom>
          <a:noFill/>
          <a:ln w="9525">
            <a:noFill/>
            <a:miter lim="800000"/>
            <a:headEnd/>
            <a:tailEnd/>
          </a:ln>
          <a:effectLst/>
        </p:spPr>
        <p:txBody>
          <a:bodyPr/>
          <a:lstStyle>
            <a:lvl1pPr algn="l">
              <a:defRPr sz="1200">
                <a:latin typeface="Arial" charset="0"/>
              </a:defRPr>
            </a:lvl1pPr>
          </a:lstStyle>
          <a:p>
            <a:pPr algn="ctr">
              <a:defRPr/>
            </a:pPr>
            <a:r>
              <a:rPr lang="en-US" sz="1800" b="1">
                <a:solidFill>
                  <a:schemeClr val="bg1"/>
                </a:solidFill>
                <a:latin typeface="Corbel" pitchFamily="34" charset="0"/>
                <a:cs typeface="+mn-cs"/>
              </a:rPr>
              <a:t>LT</a:t>
            </a:r>
          </a:p>
        </p:txBody>
      </p:sp>
      <p:sp>
        <p:nvSpPr>
          <p:cNvPr id="15" name="Rectangle 6"/>
          <p:cNvSpPr txBox="1">
            <a:spLocks noChangeArrowheads="1"/>
          </p:cNvSpPr>
          <p:nvPr userDrawn="1"/>
        </p:nvSpPr>
        <p:spPr bwMode="auto">
          <a:xfrm>
            <a:off x="6642968" y="5229200"/>
            <a:ext cx="495300" cy="469900"/>
          </a:xfrm>
          <a:prstGeom prst="rect">
            <a:avLst/>
          </a:prstGeom>
          <a:noFill/>
          <a:ln w="9525">
            <a:noFill/>
            <a:miter lim="800000"/>
            <a:headEnd/>
            <a:tailEnd/>
          </a:ln>
          <a:effectLst/>
        </p:spPr>
        <p:txBody>
          <a:bodyPr/>
          <a:lstStyle>
            <a:lvl1pPr algn="l">
              <a:defRPr sz="1200">
                <a:latin typeface="Arial" charset="0"/>
              </a:defRPr>
            </a:lvl1pPr>
          </a:lstStyle>
          <a:p>
            <a:pPr algn="ctr">
              <a:defRPr/>
            </a:pPr>
            <a:r>
              <a:rPr lang="en-US" sz="1800" b="1">
                <a:solidFill>
                  <a:schemeClr val="bg1"/>
                </a:solidFill>
                <a:latin typeface="Corbel" pitchFamily="34" charset="0"/>
                <a:cs typeface="+mn-cs"/>
              </a:rPr>
              <a:t>VB</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400" kern="1200">
          <a:solidFill>
            <a:schemeClr val="tx2"/>
          </a:solidFill>
          <a:latin typeface="Times New Roman" pitchFamily="18" charset="0"/>
          <a:ea typeface="+mj-ea"/>
          <a:cs typeface="Times New Roman" pitchFamily="18" charset="0"/>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Arial" pitchFamily="34" charset="0"/>
          <a:ea typeface="+mn-ea"/>
          <a:cs typeface="Arial" pitchFamily="34" charset="0"/>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Arial" pitchFamily="34" charset="0"/>
          <a:ea typeface="+mn-ea"/>
          <a:cs typeface="Arial" pitchFamily="34" charset="0"/>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Arial" pitchFamily="34" charset="0"/>
          <a:ea typeface="+mn-ea"/>
          <a:cs typeface="Arial" pitchFamily="34" charset="0"/>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Arial" pitchFamily="34" charset="0"/>
          <a:ea typeface="+mn-ea"/>
          <a:cs typeface="Arial" pitchFamily="34" charset="0"/>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Arial" pitchFamily="34" charset="0"/>
          <a:ea typeface="+mn-ea"/>
          <a:cs typeface="Arial" pitchFamily="34" charset="0"/>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cve.mitre.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bwMode="white">
          <a:xfrm>
            <a:off x="2915816" y="2349500"/>
            <a:ext cx="5923384" cy="990600"/>
          </a:xfrm>
        </p:spPr>
        <p:txBody>
          <a:bodyPr>
            <a:normAutofit/>
          </a:bodyPr>
          <a:lstStyle>
            <a:lvl1pPr marL="0" indent="0" algn="r">
              <a:buFont typeface="Wingdings" pitchFamily="2" charset="2"/>
              <a:buNone/>
              <a:defRPr sz="3000" baseline="0">
                <a:solidFill>
                  <a:schemeClr val="tx1"/>
                </a:solidFill>
                <a:latin typeface="Times New Roman" pitchFamily="18" charset="0"/>
                <a:cs typeface="Times New Roman" pitchFamily="18" charset="0"/>
              </a:defRPr>
            </a:lvl1pPr>
          </a:lstStyle>
          <a:p>
            <a:r>
              <a:rPr lang="en-US" sz="3200" dirty="0">
                <a:latin typeface="Arial" pitchFamily="34" charset="0"/>
                <a:cs typeface="Arial" pitchFamily="34" charset="0"/>
              </a:rPr>
              <a:t>CHAPTER 2: SQL INJECTION</a:t>
            </a:r>
            <a:endParaRPr lang="en-US" sz="2200" dirty="0">
              <a:latin typeface="Arial" pitchFamily="34" charset="0"/>
              <a:cs typeface="Arial" pitchFamily="34" charset="0"/>
            </a:endParaRPr>
          </a:p>
        </p:txBody>
      </p:sp>
      <p:sp>
        <p:nvSpPr>
          <p:cNvPr id="5" name="Text Box 14"/>
          <p:cNvSpPr txBox="1">
            <a:spLocks noChangeArrowheads="1"/>
          </p:cNvSpPr>
          <p:nvPr/>
        </p:nvSpPr>
        <p:spPr bwMode="auto">
          <a:xfrm>
            <a:off x="3635896" y="4257675"/>
            <a:ext cx="5495404" cy="877163"/>
          </a:xfrm>
          <a:prstGeom prst="rect">
            <a:avLst/>
          </a:prstGeom>
          <a:noFill/>
          <a:ln w="9525">
            <a:noFill/>
            <a:miter lim="800000"/>
            <a:headEnd/>
            <a:tailEnd/>
          </a:ln>
          <a:effectLst/>
        </p:spPr>
        <p:txBody>
          <a:bodyPr wrap="square">
            <a:spAutoFit/>
          </a:bodyPr>
          <a:lstStyle/>
          <a:p>
            <a:pPr algn="r">
              <a:defRPr/>
            </a:pPr>
            <a:r>
              <a:rPr lang="en-US" sz="1700" b="1" err="1">
                <a:solidFill>
                  <a:srgbClr val="5086C2"/>
                </a:solidFill>
                <a:latin typeface="Tahoma" pitchFamily="34" charset="0"/>
                <a:cs typeface="Tahoma" pitchFamily="34" charset="0"/>
              </a:rPr>
              <a:t>Lê</a:t>
            </a:r>
            <a:r>
              <a:rPr lang="en-US" sz="1700" b="1">
                <a:solidFill>
                  <a:srgbClr val="5086C2"/>
                </a:solidFill>
                <a:latin typeface="Tahoma" pitchFamily="34" charset="0"/>
                <a:cs typeface="Tahoma" pitchFamily="34" charset="0"/>
              </a:rPr>
              <a:t> </a:t>
            </a:r>
            <a:r>
              <a:rPr lang="en-US" sz="1700" b="1" err="1">
                <a:solidFill>
                  <a:srgbClr val="5086C2"/>
                </a:solidFill>
                <a:latin typeface="Tahoma" pitchFamily="34" charset="0"/>
                <a:cs typeface="Tahoma" pitchFamily="34" charset="0"/>
              </a:rPr>
              <a:t>Thị</a:t>
            </a:r>
            <a:r>
              <a:rPr lang="en-US" sz="1700" b="1">
                <a:solidFill>
                  <a:srgbClr val="5086C2"/>
                </a:solidFill>
                <a:latin typeface="Tahoma" pitchFamily="34" charset="0"/>
                <a:cs typeface="Tahoma" pitchFamily="34" charset="0"/>
              </a:rPr>
              <a:t> Minh </a:t>
            </a:r>
            <a:r>
              <a:rPr lang="en-US" sz="1700" b="1" err="1">
                <a:solidFill>
                  <a:srgbClr val="5086C2"/>
                </a:solidFill>
                <a:latin typeface="Tahoma" pitchFamily="34" charset="0"/>
                <a:cs typeface="Tahoma" pitchFamily="34" charset="0"/>
              </a:rPr>
              <a:t>Châu</a:t>
            </a:r>
            <a:endParaRPr lang="en-US" sz="1700" b="1">
              <a:solidFill>
                <a:srgbClr val="5086C2"/>
              </a:solidFill>
              <a:latin typeface="Tahoma" pitchFamily="34" charset="0"/>
              <a:cs typeface="Tahoma" pitchFamily="34" charset="0"/>
            </a:endParaRPr>
          </a:p>
          <a:p>
            <a:pPr algn="r">
              <a:defRPr/>
            </a:pPr>
            <a:r>
              <a:rPr lang="en-US" sz="1700" b="1">
                <a:solidFill>
                  <a:srgbClr val="5086C2"/>
                </a:solidFill>
                <a:latin typeface="Tahoma" pitchFamily="34" charset="0"/>
                <a:cs typeface="Tahoma" pitchFamily="34" charset="0"/>
              </a:rPr>
              <a:t>Faculty Of Information Technology</a:t>
            </a:r>
          </a:p>
          <a:p>
            <a:pPr algn="r">
              <a:defRPr/>
            </a:pPr>
            <a:r>
              <a:rPr lang="en-US" sz="1700" b="1">
                <a:solidFill>
                  <a:srgbClr val="5086C2"/>
                </a:solidFill>
                <a:latin typeface="Tahoma" pitchFamily="34" charset="0"/>
                <a:cs typeface="Tahoma" pitchFamily="34" charset="0"/>
              </a:rPr>
              <a:t>HCMC University Of Technology And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Outline </a:t>
            </a:r>
          </a:p>
        </p:txBody>
      </p:sp>
      <p:sp>
        <p:nvSpPr>
          <p:cNvPr id="3" name="Content Placeholder 2"/>
          <p:cNvSpPr>
            <a:spLocks noGrp="1"/>
          </p:cNvSpPr>
          <p:nvPr>
            <p:ph sz="quarter" idx="1"/>
          </p:nvPr>
        </p:nvSpPr>
        <p:spPr/>
        <p:txBody>
          <a:bodyPr/>
          <a:lstStyle/>
          <a:p>
            <a:pPr marL="514350" indent="-514350">
              <a:buSzPct val="100000"/>
              <a:buFont typeface="+mj-lt"/>
              <a:buAutoNum type="arabicPeriod"/>
            </a:pPr>
            <a:r>
              <a:rPr lang="en-US"/>
              <a:t>Introduction</a:t>
            </a:r>
          </a:p>
          <a:p>
            <a:pPr marL="514350" indent="-514350">
              <a:buSzPct val="100000"/>
              <a:buFont typeface="+mj-lt"/>
              <a:buAutoNum type="arabicPeriod"/>
            </a:pPr>
            <a:r>
              <a:rPr lang="en-US"/>
              <a:t>What </a:t>
            </a:r>
            <a:r>
              <a:rPr lang="en-US" dirty="0"/>
              <a:t>is SQL </a:t>
            </a:r>
            <a:r>
              <a:rPr lang="en-US"/>
              <a:t>Injection?</a:t>
            </a:r>
          </a:p>
          <a:p>
            <a:pPr marL="514350" indent="-514350">
              <a:buSzPct val="100000"/>
              <a:buFont typeface="+mj-lt"/>
              <a:buAutoNum type="arabicPeriod"/>
            </a:pPr>
            <a:r>
              <a:rPr lang="en-US"/>
              <a:t>SQL Injection Attack</a:t>
            </a:r>
            <a:endParaRPr lang="en-US" dirty="0"/>
          </a:p>
          <a:p>
            <a:pPr marL="514350" indent="-514350">
              <a:buSzPct val="100000"/>
              <a:buFont typeface="+mj-lt"/>
              <a:buAutoNum type="arabicPeriod"/>
            </a:pPr>
            <a:r>
              <a:rPr lang="en-US"/>
              <a:t>Scenario</a:t>
            </a:r>
          </a:p>
          <a:p>
            <a:pPr marL="514350" indent="-514350">
              <a:buSzPct val="100000"/>
              <a:buFont typeface="+mj-lt"/>
              <a:buAutoNum type="arabicPeriod"/>
            </a:pPr>
            <a:r>
              <a:rPr lang="en-US"/>
              <a:t>SQL Injection Countermeasures </a:t>
            </a:r>
            <a:endParaRPr lang="en-US" dirty="0"/>
          </a:p>
          <a:p>
            <a:pPr marL="514350" indent="-514350">
              <a:buSzPct val="100000"/>
              <a:buFont typeface="+mj-lt"/>
              <a:buAutoNum type="arabicPeriod"/>
            </a:pPr>
            <a:endParaRPr lang="en-GB" dirty="0"/>
          </a:p>
        </p:txBody>
      </p:sp>
      <p:sp>
        <p:nvSpPr>
          <p:cNvPr id="6" name="Slide Number Placeholder 5"/>
          <p:cNvSpPr>
            <a:spLocks noGrp="1"/>
          </p:cNvSpPr>
          <p:nvPr>
            <p:ph type="sldNum" sz="quarter" idx="12"/>
          </p:nvPr>
        </p:nvSpPr>
        <p:spPr/>
        <p:txBody>
          <a:bodyPr>
            <a:normAutofit fontScale="85000" lnSpcReduction="20000"/>
          </a:bodyPr>
          <a:lstStyle/>
          <a:p>
            <a:fld id="{D5038CF1-A7C8-40BD-B6B0-0DD8C764D05E}" type="slidenum">
              <a:rPr lang="en-GB" smtClean="0"/>
              <a:pPr/>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3</a:t>
            </a:fld>
            <a:endParaRPr lang="en-GB"/>
          </a:p>
        </p:txBody>
      </p:sp>
      <p:sp>
        <p:nvSpPr>
          <p:cNvPr id="4" name="Content Placeholder 3"/>
          <p:cNvSpPr>
            <a:spLocks noGrp="1"/>
          </p:cNvSpPr>
          <p:nvPr>
            <p:ph sz="quarter" idx="1"/>
          </p:nvPr>
        </p:nvSpPr>
        <p:spPr/>
        <p:txBody>
          <a:bodyPr>
            <a:normAutofit/>
          </a:bodyPr>
          <a:lstStyle/>
          <a:p>
            <a:r>
              <a:rPr lang="en-US" dirty="0"/>
              <a:t>SQL Injection Attacks are ranked as one of the most common form of attack on web applications (Common Vulnerabilities and Exposures list – CVE </a:t>
            </a:r>
            <a:r>
              <a:rPr lang="en-US" dirty="0">
                <a:solidFill>
                  <a:srgbClr val="3333CC"/>
                </a:solidFill>
                <a:hlinkClick r:id="rId3"/>
              </a:rPr>
              <a:t>http://cve.mitre.org/</a:t>
            </a:r>
            <a:r>
              <a:rPr lang="en-US" dirty="0"/>
              <a:t>).</a:t>
            </a:r>
          </a:p>
          <a:p>
            <a:r>
              <a:rPr lang="en-US" dirty="0"/>
              <a:t>Injection are mentioned as the first security risk in Web Application </a:t>
            </a:r>
            <a:r>
              <a:rPr lang="en-US"/>
              <a:t>(</a:t>
            </a:r>
            <a:r>
              <a:rPr lang="en-US">
                <a:solidFill>
                  <a:srgbClr val="3333CC"/>
                </a:solidFill>
              </a:rPr>
              <a:t>OWASP </a:t>
            </a:r>
            <a:r>
              <a:rPr lang="en-US" dirty="0">
                <a:solidFill>
                  <a:srgbClr val="3333CC"/>
                </a:solidFill>
              </a:rPr>
              <a:t>Top 10 – 2017</a:t>
            </a:r>
            <a:r>
              <a:rPr lang="en-US" dirty="0"/>
              <a:t>).</a:t>
            </a:r>
          </a:p>
        </p:txBody>
      </p:sp>
    </p:spTree>
    <p:extLst>
      <p:ext uri="{BB962C8B-B14F-4D97-AF65-F5344CB8AC3E}">
        <p14:creationId xmlns:p14="http://schemas.microsoft.com/office/powerpoint/2010/main" val="229659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4</a:t>
            </a:fld>
            <a:endParaRPr lang="en-GB"/>
          </a:p>
        </p:txBody>
      </p:sp>
      <p:sp>
        <p:nvSpPr>
          <p:cNvPr id="4" name="Content Placeholder 3"/>
          <p:cNvSpPr>
            <a:spLocks noGrp="1"/>
          </p:cNvSpPr>
          <p:nvPr>
            <p:ph sz="quarter" idx="1"/>
          </p:nvPr>
        </p:nvSpPr>
        <p:spPr/>
        <p:txBody>
          <a:bodyPr/>
          <a:lstStyle/>
          <a:p>
            <a:r>
              <a:rPr lang="en-US"/>
              <a:t>CardSystems, credit card payment processing ruined by SQL Injection Attack in June 2005</a:t>
            </a:r>
          </a:p>
          <a:p>
            <a:pPr lvl="1"/>
            <a:r>
              <a:rPr lang="en-US"/>
              <a:t>263,000 credit cards were stolen from its DB.</a:t>
            </a:r>
          </a:p>
          <a:p>
            <a:pPr lvl="1"/>
            <a:r>
              <a:rPr lang="en-US"/>
              <a:t> Credit cards were stored unencrypted, 40 million were exposed.</a:t>
            </a:r>
          </a:p>
        </p:txBody>
      </p:sp>
    </p:spTree>
    <p:extLst>
      <p:ext uri="{BB962C8B-B14F-4D97-AF65-F5344CB8AC3E}">
        <p14:creationId xmlns:p14="http://schemas.microsoft.com/office/powerpoint/2010/main" val="3099542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SQL Injection?</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5</a:t>
            </a:fld>
            <a:endParaRPr lang="en-GB"/>
          </a:p>
        </p:txBody>
      </p:sp>
      <p:sp>
        <p:nvSpPr>
          <p:cNvPr id="4" name="Content Placeholder 3"/>
          <p:cNvSpPr>
            <a:spLocks noGrp="1"/>
          </p:cNvSpPr>
          <p:nvPr>
            <p:ph sz="quarter" idx="1"/>
          </p:nvPr>
        </p:nvSpPr>
        <p:spPr/>
        <p:txBody>
          <a:bodyPr>
            <a:normAutofit/>
          </a:bodyPr>
          <a:lstStyle/>
          <a:p>
            <a:r>
              <a:rPr lang="en-US"/>
              <a:t>SQL Injection is a technique that exploits a security vulnerability occurring in the database layer of an application.</a:t>
            </a:r>
          </a:p>
          <a:p>
            <a:r>
              <a:rPr lang="en-US"/>
              <a:t>A SQL Injection Attack involves the alteration of SQL statements issued by the application.</a:t>
            </a:r>
          </a:p>
        </p:txBody>
      </p:sp>
    </p:spTree>
    <p:extLst>
      <p:ext uri="{BB962C8B-B14F-4D97-AF65-F5344CB8AC3E}">
        <p14:creationId xmlns:p14="http://schemas.microsoft.com/office/powerpoint/2010/main" val="247133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SQL Injection?</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6</a:t>
            </a:fld>
            <a:endParaRPr lang="en-GB"/>
          </a:p>
        </p:txBody>
      </p:sp>
      <p:sp>
        <p:nvSpPr>
          <p:cNvPr id="4" name="Content Placeholder 3"/>
          <p:cNvSpPr>
            <a:spLocks noGrp="1"/>
          </p:cNvSpPr>
          <p:nvPr>
            <p:ph sz="quarter" idx="1"/>
          </p:nvPr>
        </p:nvSpPr>
        <p:spPr/>
        <p:txBody>
          <a:bodyPr/>
          <a:lstStyle/>
          <a:p>
            <a:r>
              <a:rPr lang="en-US"/>
              <a:t>The vulnerability occurs when:</a:t>
            </a:r>
          </a:p>
          <a:p>
            <a:pPr lvl="1"/>
            <a:r>
              <a:rPr lang="en-US"/>
              <a:t>The application does not check the user input</a:t>
            </a:r>
          </a:p>
          <a:p>
            <a:pPr lvl="1"/>
            <a:r>
              <a:rPr lang="en-US"/>
              <a:t> Incorrectly filters user input for string literal escape characters embedded in SQL statements</a:t>
            </a:r>
          </a:p>
          <a:p>
            <a:pPr lvl="1"/>
            <a:r>
              <a:rPr lang="en-US"/>
              <a:t>When user input is not strongly typed.</a:t>
            </a:r>
          </a:p>
          <a:p>
            <a:pPr lvl="1"/>
            <a:endParaRPr lang="en-US"/>
          </a:p>
          <a:p>
            <a:endParaRPr lang="en-US"/>
          </a:p>
        </p:txBody>
      </p:sp>
      <p:pic>
        <p:nvPicPr>
          <p:cNvPr id="5" name="Picture 4"/>
          <p:cNvPicPr>
            <a:picLocks noChangeAspect="1"/>
          </p:cNvPicPr>
          <p:nvPr/>
        </p:nvPicPr>
        <p:blipFill>
          <a:blip r:embed="rId2"/>
          <a:stretch>
            <a:fillRect/>
          </a:stretch>
        </p:blipFill>
        <p:spPr>
          <a:xfrm>
            <a:off x="1423987" y="4439766"/>
            <a:ext cx="6296025" cy="933450"/>
          </a:xfrm>
          <a:prstGeom prst="rect">
            <a:avLst/>
          </a:prstGeom>
        </p:spPr>
      </p:pic>
    </p:spTree>
    <p:extLst>
      <p:ext uri="{BB962C8B-B14F-4D97-AF65-F5344CB8AC3E}">
        <p14:creationId xmlns:p14="http://schemas.microsoft.com/office/powerpoint/2010/main" val="1716691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SQL Injection?</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7</a:t>
            </a:fld>
            <a:endParaRPr lang="en-GB"/>
          </a:p>
        </p:txBody>
      </p:sp>
      <p:sp>
        <p:nvSpPr>
          <p:cNvPr id="4" name="Content Placeholder 3"/>
          <p:cNvSpPr>
            <a:spLocks noGrp="1"/>
          </p:cNvSpPr>
          <p:nvPr>
            <p:ph sz="quarter" idx="1"/>
          </p:nvPr>
        </p:nvSpPr>
        <p:spPr/>
        <p:txBody>
          <a:bodyPr/>
          <a:lstStyle/>
          <a:p>
            <a:r>
              <a:rPr lang="en-US"/>
              <a:t>Injection Mechanisms:</a:t>
            </a:r>
          </a:p>
          <a:p>
            <a:pPr lvl="1"/>
            <a:r>
              <a:rPr lang="en-US"/>
              <a:t>Through the user input (e.g., HTTP GET/POST parameters).</a:t>
            </a:r>
          </a:p>
          <a:p>
            <a:pPr lvl="1"/>
            <a:r>
              <a:rPr lang="en-US"/>
              <a:t>Through cookies:</a:t>
            </a:r>
          </a:p>
          <a:p>
            <a:pPr lvl="2"/>
            <a:r>
              <a:rPr lang="en-US"/>
              <a:t>If a Web Application uses the cookie’s contents to build SQL queries, an attacker could easily submit an attack by embedding the “malicious” input in the cookie. </a:t>
            </a:r>
          </a:p>
        </p:txBody>
      </p:sp>
    </p:spTree>
    <p:extLst>
      <p:ext uri="{BB962C8B-B14F-4D97-AF65-F5344CB8AC3E}">
        <p14:creationId xmlns:p14="http://schemas.microsoft.com/office/powerpoint/2010/main" val="1454896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8</a:t>
            </a:fld>
            <a:endParaRPr lang="en-GB"/>
          </a:p>
        </p:txBody>
      </p:sp>
      <p:sp>
        <p:nvSpPr>
          <p:cNvPr id="4" name="Content Placeholder 3"/>
          <p:cNvSpPr>
            <a:spLocks noGrp="1"/>
          </p:cNvSpPr>
          <p:nvPr>
            <p:ph sz="quarter" idx="1"/>
          </p:nvPr>
        </p:nvSpPr>
        <p:spPr/>
        <p:txBody>
          <a:bodyPr>
            <a:normAutofit lnSpcReduction="10000"/>
          </a:bodyPr>
          <a:lstStyle/>
          <a:p>
            <a:r>
              <a:rPr lang="en-US"/>
              <a:t>Attack Objectives:</a:t>
            </a:r>
          </a:p>
          <a:p>
            <a:pPr marL="880110" lvl="1" indent="-514350">
              <a:buFont typeface="+mj-lt"/>
              <a:buAutoNum type="arabicPeriod"/>
            </a:pPr>
            <a:r>
              <a:rPr lang="en-US">
                <a:solidFill>
                  <a:srgbClr val="3333CC"/>
                </a:solidFill>
              </a:rPr>
              <a:t>Identify application injectable parameters</a:t>
            </a:r>
            <a:r>
              <a:rPr lang="en-US"/>
              <a:t>: discover which parameters and user-input fields are vunerable to SQL Injection.</a:t>
            </a:r>
          </a:p>
          <a:p>
            <a:pPr marL="880110" lvl="1" indent="-514350">
              <a:buFont typeface="+mj-lt"/>
              <a:buAutoNum type="arabicPeriod"/>
            </a:pPr>
            <a:r>
              <a:rPr lang="en-US">
                <a:solidFill>
                  <a:srgbClr val="3333CC"/>
                </a:solidFill>
              </a:rPr>
              <a:t>Performing database finger-printing</a:t>
            </a:r>
            <a:r>
              <a:rPr lang="en-US"/>
              <a:t>: discover the type and version of database that a Web application is using</a:t>
            </a:r>
          </a:p>
          <a:p>
            <a:pPr marL="880110" lvl="1" indent="-514350">
              <a:buFont typeface="+mj-lt"/>
              <a:buAutoNum type="arabicPeriod"/>
            </a:pPr>
            <a:r>
              <a:rPr lang="en-US">
                <a:solidFill>
                  <a:srgbClr val="3333CC"/>
                </a:solidFill>
              </a:rPr>
              <a:t>Determine the database schema</a:t>
            </a:r>
            <a:r>
              <a:rPr lang="en-US"/>
              <a:t>: know database schema information such as table names, column names and column data types to correctly extract data from a database.</a:t>
            </a:r>
          </a:p>
        </p:txBody>
      </p:sp>
    </p:spTree>
    <p:extLst>
      <p:ext uri="{BB962C8B-B14F-4D97-AF65-F5344CB8AC3E}">
        <p14:creationId xmlns:p14="http://schemas.microsoft.com/office/powerpoint/2010/main" val="3819185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9</a:t>
            </a:fld>
            <a:endParaRPr lang="en-GB"/>
          </a:p>
        </p:txBody>
      </p:sp>
      <p:sp>
        <p:nvSpPr>
          <p:cNvPr id="4" name="Content Placeholder 3"/>
          <p:cNvSpPr>
            <a:spLocks noGrp="1"/>
          </p:cNvSpPr>
          <p:nvPr>
            <p:ph sz="quarter" idx="1"/>
          </p:nvPr>
        </p:nvSpPr>
        <p:spPr/>
        <p:txBody>
          <a:bodyPr>
            <a:normAutofit fontScale="92500"/>
          </a:bodyPr>
          <a:lstStyle/>
          <a:p>
            <a:pPr marL="880110" lvl="1" indent="-514350">
              <a:buFont typeface="+mj-lt"/>
              <a:buAutoNum type="arabicPeriod" startAt="4"/>
            </a:pPr>
            <a:r>
              <a:rPr lang="en-US" dirty="0">
                <a:solidFill>
                  <a:srgbClr val="3333CC"/>
                </a:solidFill>
              </a:rPr>
              <a:t>Extracting data</a:t>
            </a:r>
            <a:r>
              <a:rPr lang="en-US" dirty="0"/>
              <a:t>: employ techniques that will extract data values from the database. Depending on the type of the Web Application, this information could be sensitive and valuable to the attacker.</a:t>
            </a:r>
          </a:p>
          <a:p>
            <a:pPr marL="880110" lvl="1" indent="-514350">
              <a:buFont typeface="+mj-lt"/>
              <a:buAutoNum type="arabicPeriod" startAt="4"/>
            </a:pPr>
            <a:r>
              <a:rPr lang="en-US" dirty="0">
                <a:solidFill>
                  <a:srgbClr val="3333CC"/>
                </a:solidFill>
              </a:rPr>
              <a:t>Adding or </a:t>
            </a:r>
            <a:r>
              <a:rPr lang="en-US" dirty="0" err="1">
                <a:solidFill>
                  <a:srgbClr val="3333CC"/>
                </a:solidFill>
              </a:rPr>
              <a:t>modifiying</a:t>
            </a:r>
            <a:r>
              <a:rPr lang="en-US" dirty="0">
                <a:solidFill>
                  <a:srgbClr val="3333CC"/>
                </a:solidFill>
              </a:rPr>
              <a:t> data</a:t>
            </a:r>
          </a:p>
          <a:p>
            <a:pPr marL="880110" lvl="1" indent="-514350">
              <a:buFont typeface="+mj-lt"/>
              <a:buAutoNum type="arabicPeriod" startAt="4"/>
            </a:pPr>
            <a:r>
              <a:rPr lang="en-US" dirty="0">
                <a:solidFill>
                  <a:srgbClr val="3333CC"/>
                </a:solidFill>
              </a:rPr>
              <a:t>Performing Denial of Service</a:t>
            </a:r>
            <a:r>
              <a:rPr lang="en-US" dirty="0"/>
              <a:t>: lock or drop database tables, shut down the database, thus denying service to other users.</a:t>
            </a:r>
          </a:p>
          <a:p>
            <a:pPr marL="880110" lvl="1" indent="-514350">
              <a:buFont typeface="+mj-lt"/>
              <a:buAutoNum type="arabicPeriod" startAt="4"/>
            </a:pPr>
            <a:r>
              <a:rPr lang="en-US" dirty="0">
                <a:solidFill>
                  <a:srgbClr val="3333CC"/>
                </a:solidFill>
              </a:rPr>
              <a:t>Evading detection</a:t>
            </a:r>
            <a:r>
              <a:rPr lang="en-US" dirty="0"/>
              <a:t>: employ certain attack technique to avoid auditing and detection by system protection mechanisms. </a:t>
            </a:r>
          </a:p>
        </p:txBody>
      </p:sp>
    </p:spTree>
    <p:extLst>
      <p:ext uri="{BB962C8B-B14F-4D97-AF65-F5344CB8AC3E}">
        <p14:creationId xmlns:p14="http://schemas.microsoft.com/office/powerpoint/2010/main" val="86358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10</a:t>
            </a:fld>
            <a:endParaRPr lang="en-GB"/>
          </a:p>
        </p:txBody>
      </p:sp>
      <p:sp>
        <p:nvSpPr>
          <p:cNvPr id="4" name="Content Placeholder 3"/>
          <p:cNvSpPr>
            <a:spLocks noGrp="1"/>
          </p:cNvSpPr>
          <p:nvPr>
            <p:ph sz="quarter" idx="1"/>
          </p:nvPr>
        </p:nvSpPr>
        <p:spPr/>
        <p:txBody>
          <a:bodyPr>
            <a:normAutofit fontScale="92500" lnSpcReduction="10000"/>
          </a:bodyPr>
          <a:lstStyle/>
          <a:p>
            <a:pPr marL="880110" lvl="1" indent="-514350">
              <a:buFont typeface="+mj-lt"/>
              <a:buAutoNum type="arabicPeriod" startAt="8"/>
            </a:pPr>
            <a:r>
              <a:rPr lang="en-US">
                <a:solidFill>
                  <a:srgbClr val="3333CC"/>
                </a:solidFill>
              </a:rPr>
              <a:t>Bypassing Authentication</a:t>
            </a:r>
            <a:r>
              <a:rPr lang="en-US"/>
              <a:t>: assume the rights and privileges associated with another application users.</a:t>
            </a:r>
          </a:p>
          <a:p>
            <a:pPr marL="880110" lvl="1" indent="-514350">
              <a:buFont typeface="+mj-lt"/>
              <a:buAutoNum type="arabicPeriod" startAt="8"/>
            </a:pPr>
            <a:r>
              <a:rPr lang="en-US">
                <a:solidFill>
                  <a:srgbClr val="3333CC"/>
                </a:solidFill>
              </a:rPr>
              <a:t>Executing remote commands</a:t>
            </a:r>
            <a:r>
              <a:rPr lang="en-US"/>
              <a:t>: attempt to execute arbitrary commands on the database. These commands can be stored procedures or functions available to database users.</a:t>
            </a:r>
          </a:p>
          <a:p>
            <a:pPr marL="880110" lvl="1" indent="-514350">
              <a:buFont typeface="+mj-lt"/>
              <a:buAutoNum type="arabicPeriod" startAt="8"/>
            </a:pPr>
            <a:r>
              <a:rPr lang="en-US">
                <a:solidFill>
                  <a:srgbClr val="3333CC"/>
                </a:solidFill>
              </a:rPr>
              <a:t>Performing privilege escalation</a:t>
            </a:r>
            <a:r>
              <a:rPr lang="en-US"/>
              <a:t>: take advantage of implementation errors or logical flaws in the database in order to escalate the privileges of the attacker. As opposed to bypassing authentication attacks, these attacks focus on exploiting the database user privileges.</a:t>
            </a:r>
          </a:p>
        </p:txBody>
      </p:sp>
    </p:spTree>
    <p:extLst>
      <p:ext uri="{BB962C8B-B14F-4D97-AF65-F5344CB8AC3E}">
        <p14:creationId xmlns:p14="http://schemas.microsoft.com/office/powerpoint/2010/main" val="2988284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11</a:t>
            </a:fld>
            <a:endParaRPr lang="en-GB"/>
          </a:p>
        </p:txBody>
      </p:sp>
      <p:sp>
        <p:nvSpPr>
          <p:cNvPr id="4" name="Content Placeholder 3"/>
          <p:cNvSpPr>
            <a:spLocks noGrp="1"/>
          </p:cNvSpPr>
          <p:nvPr>
            <p:ph sz="quarter" idx="1"/>
          </p:nvPr>
        </p:nvSpPr>
        <p:spPr/>
        <p:txBody>
          <a:bodyPr/>
          <a:lstStyle/>
          <a:p>
            <a:r>
              <a:rPr lang="en-US"/>
              <a:t>Attack Phases:</a:t>
            </a:r>
          </a:p>
          <a:p>
            <a:pPr marL="880110" lvl="1" indent="-514350">
              <a:buFont typeface="+mj-lt"/>
              <a:buAutoNum type="arabicPeriod"/>
            </a:pPr>
            <a:r>
              <a:rPr lang="en-US"/>
              <a:t>Exploring</a:t>
            </a:r>
          </a:p>
          <a:p>
            <a:pPr marL="880110" lvl="1" indent="-514350">
              <a:buFont typeface="+mj-lt"/>
              <a:buAutoNum type="arabicPeriod"/>
            </a:pPr>
            <a:r>
              <a:rPr lang="en-US"/>
              <a:t>Experiment</a:t>
            </a:r>
          </a:p>
          <a:p>
            <a:pPr marL="880110" lvl="1" indent="-514350">
              <a:buFont typeface="+mj-lt"/>
              <a:buAutoNum type="arabicPeriod"/>
            </a:pPr>
            <a:r>
              <a:rPr lang="en-US"/>
              <a:t>Try to exploit the vulnerabilities discovered.</a:t>
            </a:r>
          </a:p>
        </p:txBody>
      </p:sp>
    </p:spTree>
    <p:extLst>
      <p:ext uri="{BB962C8B-B14F-4D97-AF65-F5344CB8AC3E}">
        <p14:creationId xmlns:p14="http://schemas.microsoft.com/office/powerpoint/2010/main" val="4238355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 – Explore </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12</a:t>
            </a:fld>
            <a:endParaRPr lang="en-GB"/>
          </a:p>
        </p:txBody>
      </p:sp>
      <p:sp>
        <p:nvSpPr>
          <p:cNvPr id="4" name="Content Placeholder 3"/>
          <p:cNvSpPr>
            <a:spLocks noGrp="1"/>
          </p:cNvSpPr>
          <p:nvPr>
            <p:ph sz="quarter" idx="1"/>
          </p:nvPr>
        </p:nvSpPr>
        <p:spPr/>
        <p:txBody>
          <a:bodyPr/>
          <a:lstStyle/>
          <a:p>
            <a:pPr marL="514350" indent="-514350">
              <a:buFont typeface="+mj-lt"/>
              <a:buAutoNum type="arabicPeriod"/>
            </a:pPr>
            <a:r>
              <a:rPr lang="en-US" dirty="0">
                <a:solidFill>
                  <a:srgbClr val="3333CC"/>
                </a:solidFill>
              </a:rPr>
              <a:t>Explore</a:t>
            </a:r>
            <a:r>
              <a:rPr lang="en-US" dirty="0"/>
              <a:t>: determine the functionalities exposed by the application</a:t>
            </a:r>
          </a:p>
          <a:p>
            <a:pPr marL="777240" lvl="1" indent="-457200">
              <a:buFontTx/>
              <a:buChar char="-"/>
            </a:pPr>
            <a:r>
              <a:rPr lang="en-US" dirty="0"/>
              <a:t>By sniffing and analyzing the traffic to/from a given Web service.</a:t>
            </a:r>
          </a:p>
          <a:p>
            <a:pPr marL="777240" lvl="1" indent="-457200">
              <a:buFontTx/>
              <a:buChar char="-"/>
            </a:pPr>
            <a:r>
              <a:rPr lang="en-US" dirty="0"/>
              <a:t>By examining the landing HTML page of the website.</a:t>
            </a:r>
          </a:p>
          <a:p>
            <a:pPr marL="777240" lvl="1" indent="-457200">
              <a:buFontTx/>
              <a:buChar char="-"/>
            </a:pPr>
            <a:endParaRPr lang="en-US" dirty="0"/>
          </a:p>
        </p:txBody>
      </p:sp>
    </p:spTree>
    <p:extLst>
      <p:ext uri="{BB962C8B-B14F-4D97-AF65-F5344CB8AC3E}">
        <p14:creationId xmlns:p14="http://schemas.microsoft.com/office/powerpoint/2010/main" val="245781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 – Experiment </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13</a:t>
            </a:fld>
            <a:endParaRPr lang="en-GB"/>
          </a:p>
        </p:txBody>
      </p:sp>
      <p:sp>
        <p:nvSpPr>
          <p:cNvPr id="4" name="Content Placeholder 3"/>
          <p:cNvSpPr>
            <a:spLocks noGrp="1"/>
          </p:cNvSpPr>
          <p:nvPr>
            <p:ph sz="quarter" idx="1"/>
          </p:nvPr>
        </p:nvSpPr>
        <p:spPr/>
        <p:txBody>
          <a:bodyPr>
            <a:normAutofit fontScale="92500" lnSpcReduction="20000"/>
          </a:bodyPr>
          <a:lstStyle/>
          <a:p>
            <a:pPr marL="514350" indent="-514350">
              <a:buFont typeface="+mj-lt"/>
              <a:buAutoNum type="arabicPeriod" startAt="2"/>
            </a:pPr>
            <a:r>
              <a:rPr lang="en-US">
                <a:solidFill>
                  <a:srgbClr val="3333CC"/>
                </a:solidFill>
              </a:rPr>
              <a:t>Experiment</a:t>
            </a:r>
            <a:r>
              <a:rPr lang="en-US"/>
              <a:t>: determine user-controllable input susceptible to injection.</a:t>
            </a:r>
          </a:p>
          <a:p>
            <a:pPr marL="777240" lvl="1" indent="-457200">
              <a:buFontTx/>
              <a:buChar char="-"/>
            </a:pPr>
            <a:r>
              <a:rPr lang="en-US"/>
              <a:t>Inject characters that have special meaning in SQL such as ‘ “ = (</a:t>
            </a:r>
          </a:p>
          <a:p>
            <a:pPr marL="1051560" lvl="2" indent="-457200">
              <a:buFont typeface="Arial" panose="020B0604020202020204" pitchFamily="34" charset="0"/>
              <a:buChar char="•"/>
            </a:pPr>
            <a:r>
              <a:rPr lang="en-US"/>
              <a:t>Inject input through text fields or through HTTP GET parameters.</a:t>
            </a:r>
          </a:p>
          <a:p>
            <a:pPr marL="1051560" lvl="2" indent="-457200">
              <a:buFont typeface="Arial" panose="020B0604020202020204" pitchFamily="34" charset="0"/>
              <a:buChar char="•"/>
            </a:pPr>
            <a:r>
              <a:rPr lang="en-US"/>
              <a:t>Modify HTTP POST parameters, hidden fields by using a Web application debugging tool.</a:t>
            </a:r>
          </a:p>
          <a:p>
            <a:pPr marL="777240" lvl="1" indent="-457200">
              <a:buFontTx/>
              <a:buChar char="-"/>
            </a:pPr>
            <a:r>
              <a:rPr lang="en-US"/>
              <a:t>Analyzing the response/output of the application (which often returns back to the caller the DBMS error response unfiltered): a typical error resulting from an injection would look like: </a:t>
            </a:r>
            <a:r>
              <a:rPr lang="en-US" i="1">
                <a:solidFill>
                  <a:srgbClr val="3333CC"/>
                </a:solidFill>
              </a:rPr>
              <a:t>“You have an error in your SQL syntax. Check your manual for the right syntax to use near FROM db_users.user_table”.</a:t>
            </a:r>
          </a:p>
          <a:p>
            <a:pPr marL="777240" lvl="1" indent="-457200">
              <a:buFontTx/>
              <a:buChar char="-"/>
            </a:pPr>
            <a:endParaRPr lang="en-US"/>
          </a:p>
        </p:txBody>
      </p:sp>
    </p:spTree>
    <p:extLst>
      <p:ext uri="{BB962C8B-B14F-4D97-AF65-F5344CB8AC3E}">
        <p14:creationId xmlns:p14="http://schemas.microsoft.com/office/powerpoint/2010/main" val="3182101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Attack – Exploit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14</a:t>
            </a:fld>
            <a:endParaRPr lang="en-GB"/>
          </a:p>
        </p:txBody>
      </p:sp>
      <p:sp>
        <p:nvSpPr>
          <p:cNvPr id="4" name="Content Placeholder 3"/>
          <p:cNvSpPr>
            <a:spLocks noGrp="1"/>
          </p:cNvSpPr>
          <p:nvPr>
            <p:ph sz="quarter" idx="1"/>
          </p:nvPr>
        </p:nvSpPr>
        <p:spPr/>
        <p:txBody>
          <a:bodyPr>
            <a:normAutofit/>
          </a:bodyPr>
          <a:lstStyle/>
          <a:p>
            <a:pPr marL="514350" indent="-514350">
              <a:buFont typeface="+mj-lt"/>
              <a:buAutoNum type="arabicPeriod" startAt="3"/>
            </a:pPr>
            <a:r>
              <a:rPr lang="en-US">
                <a:solidFill>
                  <a:srgbClr val="3333CC"/>
                </a:solidFill>
              </a:rPr>
              <a:t>Exploit:</a:t>
            </a:r>
            <a:r>
              <a:rPr lang="en-US"/>
              <a:t> perform the attack through malicious SQL input injection.</a:t>
            </a:r>
          </a:p>
          <a:p>
            <a:r>
              <a:rPr lang="en-US"/>
              <a:t>SQL Injection Attacks can be further classified in:</a:t>
            </a:r>
          </a:p>
          <a:p>
            <a:pPr lvl="1"/>
            <a:r>
              <a:rPr lang="en-US"/>
              <a:t>First Order SQL Injection Attack</a:t>
            </a:r>
          </a:p>
          <a:p>
            <a:pPr lvl="1"/>
            <a:r>
              <a:rPr lang="en-US"/>
              <a:t>Second Order SQL Injection Attack</a:t>
            </a:r>
          </a:p>
        </p:txBody>
      </p:sp>
    </p:spTree>
    <p:extLst>
      <p:ext uri="{BB962C8B-B14F-4D97-AF65-F5344CB8AC3E}">
        <p14:creationId xmlns:p14="http://schemas.microsoft.com/office/powerpoint/2010/main" val="152658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15</a:t>
            </a:fld>
            <a:endParaRPr lang="en-GB"/>
          </a:p>
        </p:txBody>
      </p:sp>
      <p:sp>
        <p:nvSpPr>
          <p:cNvPr id="4" name="Content Placeholder 3"/>
          <p:cNvSpPr>
            <a:spLocks noGrp="1"/>
          </p:cNvSpPr>
          <p:nvPr>
            <p:ph sz="quarter" idx="1"/>
          </p:nvPr>
        </p:nvSpPr>
        <p:spPr/>
        <p:txBody>
          <a:bodyPr>
            <a:normAutofit/>
          </a:bodyPr>
          <a:lstStyle/>
          <a:p>
            <a:r>
              <a:rPr lang="en-US" b="1"/>
              <a:t>Example 1</a:t>
            </a:r>
            <a:r>
              <a:rPr lang="en-US"/>
              <a:t>: Incorrectly filtered escape characters (like single quote)</a:t>
            </a:r>
          </a:p>
          <a:p>
            <a:pPr marL="320040" lvl="1" indent="0">
              <a:buNone/>
            </a:pPr>
            <a:r>
              <a:rPr lang="en-US">
                <a:latin typeface="Courier New" panose="02070309020205020404" pitchFamily="49" charset="0"/>
                <a:cs typeface="Courier New" panose="02070309020205020404" pitchFamily="49" charset="0"/>
              </a:rPr>
              <a:t>SQL statement := </a:t>
            </a:r>
            <a:r>
              <a:rPr lang="en-US">
                <a:solidFill>
                  <a:srgbClr val="3333CC"/>
                </a:solidFill>
                <a:latin typeface="Courier New" panose="02070309020205020404" pitchFamily="49" charset="0"/>
                <a:cs typeface="Courier New" panose="02070309020205020404" pitchFamily="49" charset="0"/>
              </a:rPr>
              <a:t>"SELECT * FROM users WHERE name =</a:t>
            </a:r>
            <a:r>
              <a:rPr lang="en-US">
                <a:latin typeface="Courier New" panose="02070309020205020404" pitchFamily="49" charset="0"/>
                <a:cs typeface="Courier New" panose="02070309020205020404" pitchFamily="49" charset="0"/>
              </a:rPr>
              <a:t> </a:t>
            </a:r>
            <a:r>
              <a:rPr lang="en-US">
                <a:solidFill>
                  <a:srgbClr val="FF0000"/>
                </a:solidFill>
                <a:latin typeface="Courier New" panose="02070309020205020404" pitchFamily="49" charset="0"/>
                <a:cs typeface="Courier New" panose="02070309020205020404" pitchFamily="49" charset="0"/>
              </a:rPr>
              <a:t>'</a:t>
            </a:r>
            <a:r>
              <a:rPr lang="en-US">
                <a:solidFill>
                  <a:srgbClr val="3333CC"/>
                </a:solidFill>
                <a:latin typeface="Courier New" panose="02070309020205020404" pitchFamily="49" charset="0"/>
                <a:cs typeface="Courier New" panose="02070309020205020404" pitchFamily="49" charset="0"/>
              </a:rPr>
              <a:t>" +</a:t>
            </a:r>
            <a:r>
              <a:rPr lang="en-US">
                <a:latin typeface="Courier New" panose="02070309020205020404" pitchFamily="49" charset="0"/>
                <a:cs typeface="Courier New" panose="02070309020205020404" pitchFamily="49" charset="0"/>
              </a:rPr>
              <a:t> </a:t>
            </a:r>
            <a:r>
              <a:rPr lang="en-US">
                <a:solidFill>
                  <a:srgbClr val="FF0000"/>
                </a:solidFill>
                <a:latin typeface="Courier New" panose="02070309020205020404" pitchFamily="49" charset="0"/>
                <a:cs typeface="Courier New" panose="02070309020205020404" pitchFamily="49" charset="0"/>
              </a:rPr>
              <a:t>userName</a:t>
            </a:r>
            <a:r>
              <a:rPr lang="en-US">
                <a:latin typeface="Courier New" panose="02070309020205020404" pitchFamily="49" charset="0"/>
                <a:cs typeface="Courier New" panose="02070309020205020404" pitchFamily="49" charset="0"/>
              </a:rPr>
              <a:t> </a:t>
            </a:r>
            <a:r>
              <a:rPr lang="en-US">
                <a:solidFill>
                  <a:srgbClr val="3333CC"/>
                </a:solidFill>
                <a:latin typeface="Courier New" panose="02070309020205020404" pitchFamily="49" charset="0"/>
                <a:cs typeface="Courier New" panose="02070309020205020404" pitchFamily="49" charset="0"/>
              </a:rPr>
              <a:t>+ "</a:t>
            </a:r>
            <a:r>
              <a:rPr lang="en-US">
                <a:solidFill>
                  <a:srgbClr val="FF0000"/>
                </a:solidFill>
                <a:latin typeface="Courier New" panose="02070309020205020404" pitchFamily="49" charset="0"/>
                <a:cs typeface="Courier New" panose="02070309020205020404" pitchFamily="49" charset="0"/>
              </a:rPr>
              <a:t>'</a:t>
            </a:r>
            <a:r>
              <a:rPr lang="en-US">
                <a:solidFill>
                  <a:srgbClr val="3333CC"/>
                </a:solidFill>
                <a:latin typeface="Courier New" panose="02070309020205020404" pitchFamily="49" charset="0"/>
                <a:cs typeface="Courier New" panose="02070309020205020404" pitchFamily="49" charset="0"/>
              </a:rPr>
              <a:t>; “</a:t>
            </a:r>
          </a:p>
          <a:p>
            <a:pPr>
              <a:lnSpc>
                <a:spcPct val="90000"/>
              </a:lnSpc>
            </a:pPr>
            <a:r>
              <a:rPr lang="en-US" altLang="en-US"/>
              <a:t>If a malicious user puts in the username variable the following string:</a:t>
            </a:r>
          </a:p>
          <a:p>
            <a:pPr marL="365760" lvl="1" indent="0">
              <a:lnSpc>
                <a:spcPct val="90000"/>
              </a:lnSpc>
              <a:buNone/>
            </a:pPr>
            <a:r>
              <a:rPr lang="en-US" altLang="en-US" i="1">
                <a:solidFill>
                  <a:srgbClr val="FF0000"/>
                </a:solidFill>
                <a:latin typeface="Courier New" panose="02070309020205020404" pitchFamily="49" charset="0"/>
                <a:cs typeface="Courier New" panose="02070309020205020404" pitchFamily="49" charset="0"/>
              </a:rPr>
              <a:t>a' or 't'='t</a:t>
            </a:r>
            <a:r>
              <a:rPr lang="en-US" altLang="en-US" b="1" i="1">
                <a:solidFill>
                  <a:srgbClr val="FF0000"/>
                </a:solidFill>
                <a:latin typeface="Courier New" panose="02070309020205020404" pitchFamily="49" charset="0"/>
                <a:cs typeface="Courier New" panose="02070309020205020404" pitchFamily="49" charset="0"/>
              </a:rPr>
              <a:t> </a:t>
            </a:r>
          </a:p>
          <a:p>
            <a:pPr>
              <a:lnSpc>
                <a:spcPct val="90000"/>
              </a:lnSpc>
            </a:pPr>
            <a:r>
              <a:rPr lang="en-US" altLang="en-US" sz="2400"/>
              <a:t>Then the following SQL statement is generated:</a:t>
            </a:r>
          </a:p>
          <a:p>
            <a:pPr marL="365760" lvl="1" indent="0">
              <a:lnSpc>
                <a:spcPct val="90000"/>
              </a:lnSpc>
              <a:buNone/>
            </a:pPr>
            <a:r>
              <a:rPr lang="en-US" altLang="en-US" i="1">
                <a:solidFill>
                  <a:srgbClr val="0000FF"/>
                </a:solidFill>
                <a:latin typeface="Courier New" panose="02070309020205020404" pitchFamily="49" charset="0"/>
                <a:cs typeface="Courier New" panose="02070309020205020404" pitchFamily="49" charset="0"/>
              </a:rPr>
              <a:t>SELECT * FROM users WHERE </a:t>
            </a:r>
            <a:r>
              <a:rPr lang="en-US" altLang="en-US" i="1">
                <a:solidFill>
                  <a:srgbClr val="0000FF"/>
                </a:solidFill>
                <a:highlight>
                  <a:srgbClr val="FFFF00"/>
                </a:highlight>
                <a:latin typeface="Courier New" panose="02070309020205020404" pitchFamily="49" charset="0"/>
                <a:cs typeface="Courier New" panose="02070309020205020404" pitchFamily="49" charset="0"/>
              </a:rPr>
              <a:t>name = </a:t>
            </a:r>
            <a:r>
              <a:rPr lang="en-US" altLang="en-US" i="1">
                <a:solidFill>
                  <a:srgbClr val="FF0000"/>
                </a:solidFill>
                <a:highlight>
                  <a:srgbClr val="FFFF00"/>
                </a:highlight>
                <a:latin typeface="Courier New" panose="02070309020205020404" pitchFamily="49" charset="0"/>
                <a:cs typeface="Courier New" panose="02070309020205020404" pitchFamily="49" charset="0"/>
              </a:rPr>
              <a:t>'a' OR 't'='t'</a:t>
            </a:r>
            <a:r>
              <a:rPr lang="en-US" altLang="en-US" i="1">
                <a:solidFill>
                  <a:srgbClr val="0000FF"/>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321257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16</a:t>
            </a:fld>
            <a:endParaRPr lang="en-GB"/>
          </a:p>
        </p:txBody>
      </p:sp>
      <p:sp>
        <p:nvSpPr>
          <p:cNvPr id="4" name="Content Placeholder 3"/>
          <p:cNvSpPr>
            <a:spLocks noGrp="1"/>
          </p:cNvSpPr>
          <p:nvPr>
            <p:ph sz="quarter" idx="1"/>
          </p:nvPr>
        </p:nvSpPr>
        <p:spPr/>
        <p:txBody>
          <a:bodyPr>
            <a:normAutofit fontScale="92500" lnSpcReduction="10000"/>
          </a:bodyPr>
          <a:lstStyle/>
          <a:p>
            <a:pPr>
              <a:lnSpc>
                <a:spcPct val="90000"/>
              </a:lnSpc>
            </a:pPr>
            <a:r>
              <a:rPr lang="en-US" altLang="en-US" sz="2400"/>
              <a:t>Example 2: </a:t>
            </a:r>
            <a:r>
              <a:rPr lang="en-US" altLang="en-US" sz="2400" u="sng"/>
              <a:t>in this case the SQL engine allows the execution of multiple commands in the same SQL query</a:t>
            </a:r>
          </a:p>
          <a:p>
            <a:pPr lvl="1">
              <a:lnSpc>
                <a:spcPct val="90000"/>
              </a:lnSpc>
              <a:buNone/>
            </a:pPr>
            <a:r>
              <a:rPr lang="en-US" altLang="en-US" sz="2100" b="1">
                <a:solidFill>
                  <a:srgbClr val="FF0000"/>
                </a:solidFill>
              </a:rPr>
              <a:t>	</a:t>
            </a:r>
            <a:r>
              <a:rPr lang="en-US" altLang="en-US">
                <a:latin typeface="Courier New" panose="02070309020205020404" pitchFamily="49" charset="0"/>
                <a:cs typeface="Courier New" panose="02070309020205020404" pitchFamily="49" charset="0"/>
              </a:rPr>
              <a:t>SQL statement := </a:t>
            </a:r>
            <a:r>
              <a:rPr lang="en-US" altLang="en-US">
                <a:solidFill>
                  <a:srgbClr val="0000FF"/>
                </a:solidFill>
                <a:latin typeface="Courier New" panose="02070309020205020404" pitchFamily="49" charset="0"/>
                <a:cs typeface="Courier New" panose="02070309020205020404" pitchFamily="49" charset="0"/>
              </a:rPr>
              <a:t>"SELECT * FROM users WHERE name = </a:t>
            </a:r>
            <a:r>
              <a:rPr lang="en-US" altLang="en-US">
                <a:solidFill>
                  <a:srgbClr val="FF0000"/>
                </a:solidFill>
                <a:latin typeface="Courier New" panose="02070309020205020404" pitchFamily="49" charset="0"/>
                <a:cs typeface="Courier New" panose="02070309020205020404" pitchFamily="49" charset="0"/>
              </a:rPr>
              <a:t>'</a:t>
            </a:r>
            <a:r>
              <a:rPr lang="en-US" altLang="en-US">
                <a:solidFill>
                  <a:srgbClr val="0000FF"/>
                </a:solidFill>
                <a:latin typeface="Courier New" panose="02070309020205020404" pitchFamily="49" charset="0"/>
                <a:cs typeface="Courier New" panose="02070309020205020404" pitchFamily="49" charset="0"/>
              </a:rPr>
              <a:t>" + </a:t>
            </a:r>
            <a:r>
              <a:rPr lang="en-US" altLang="en-US">
                <a:solidFill>
                  <a:srgbClr val="FF0000"/>
                </a:solidFill>
                <a:latin typeface="Courier New" panose="02070309020205020404" pitchFamily="49" charset="0"/>
                <a:cs typeface="Courier New" panose="02070309020205020404" pitchFamily="49" charset="0"/>
              </a:rPr>
              <a:t>userName</a:t>
            </a:r>
            <a:r>
              <a:rPr lang="en-US" altLang="en-US">
                <a:solidFill>
                  <a:srgbClr val="0000FF"/>
                </a:solidFill>
                <a:latin typeface="Courier New" panose="02070309020205020404" pitchFamily="49" charset="0"/>
                <a:cs typeface="Courier New" panose="02070309020205020404" pitchFamily="49" charset="0"/>
              </a:rPr>
              <a:t> + "</a:t>
            </a:r>
            <a:r>
              <a:rPr lang="en-US" altLang="en-US">
                <a:solidFill>
                  <a:srgbClr val="FF0000"/>
                </a:solidFill>
                <a:latin typeface="Courier New" panose="02070309020205020404" pitchFamily="49" charset="0"/>
                <a:cs typeface="Courier New" panose="02070309020205020404" pitchFamily="49" charset="0"/>
              </a:rPr>
              <a:t>'</a:t>
            </a:r>
            <a:r>
              <a:rPr lang="en-US" altLang="en-US">
                <a:solidFill>
                  <a:srgbClr val="0000FF"/>
                </a:solidFill>
                <a:latin typeface="Courier New" panose="02070309020205020404" pitchFamily="49" charset="0"/>
                <a:cs typeface="Courier New" panose="02070309020205020404" pitchFamily="49" charset="0"/>
              </a:rPr>
              <a:t>; "</a:t>
            </a:r>
            <a:endParaRPr lang="en-US" altLang="en-US" sz="800">
              <a:solidFill>
                <a:srgbClr val="FF0000"/>
              </a:solidFill>
            </a:endParaRPr>
          </a:p>
          <a:p>
            <a:pPr>
              <a:lnSpc>
                <a:spcPct val="90000"/>
              </a:lnSpc>
            </a:pPr>
            <a:r>
              <a:rPr lang="en-US" altLang="en-US" sz="2400"/>
              <a:t>If a malicious user puts in the </a:t>
            </a:r>
            <a:r>
              <a:rPr lang="en-US" altLang="en-US" sz="2400" i="1"/>
              <a:t>username</a:t>
            </a:r>
            <a:r>
              <a:rPr lang="en-US" altLang="en-US" sz="2400"/>
              <a:t> variable the following string:</a:t>
            </a:r>
          </a:p>
          <a:p>
            <a:pPr marL="640080" lvl="2" indent="0">
              <a:lnSpc>
                <a:spcPct val="90000"/>
              </a:lnSpc>
              <a:buNone/>
            </a:pPr>
            <a:r>
              <a:rPr lang="en-US" altLang="en-US" sz="2600">
                <a:solidFill>
                  <a:srgbClr val="FF0000"/>
                </a:solidFill>
                <a:latin typeface="Courier New" panose="02070309020205020404" pitchFamily="49" charset="0"/>
                <a:cs typeface="Courier New" panose="02070309020205020404" pitchFamily="49" charset="0"/>
              </a:rPr>
              <a:t>a';DROP TABLE users; SELECT * FROM data WHERE name LIKE '%</a:t>
            </a:r>
          </a:p>
          <a:p>
            <a:pPr lvl="1">
              <a:lnSpc>
                <a:spcPct val="90000"/>
              </a:lnSpc>
              <a:buNone/>
            </a:pPr>
            <a:endParaRPr lang="en-US" altLang="en-US" sz="800">
              <a:solidFill>
                <a:srgbClr val="FF0000"/>
              </a:solidFill>
            </a:endParaRPr>
          </a:p>
          <a:p>
            <a:pPr>
              <a:lnSpc>
                <a:spcPct val="90000"/>
              </a:lnSpc>
            </a:pPr>
            <a:r>
              <a:rPr lang="en-US" altLang="en-US" sz="2400"/>
              <a:t>Then the following SQL statement is generated:</a:t>
            </a:r>
          </a:p>
          <a:p>
            <a:pPr lvl="1">
              <a:lnSpc>
                <a:spcPct val="90000"/>
              </a:lnSpc>
              <a:buNone/>
            </a:pPr>
            <a:r>
              <a:rPr lang="en-US" altLang="en-US" sz="2400" b="1">
                <a:solidFill>
                  <a:srgbClr val="FF0000"/>
                </a:solidFill>
              </a:rPr>
              <a:t>	</a:t>
            </a:r>
            <a:r>
              <a:rPr lang="en-US" altLang="en-US" sz="2800">
                <a:solidFill>
                  <a:srgbClr val="0000FF"/>
                </a:solidFill>
                <a:latin typeface="Courier New" panose="02070309020205020404" pitchFamily="49" charset="0"/>
                <a:cs typeface="Courier New" panose="02070309020205020404" pitchFamily="49" charset="0"/>
              </a:rPr>
              <a:t>SELECT * FROM users WHERE name = </a:t>
            </a:r>
            <a:r>
              <a:rPr lang="en-US" altLang="en-US" sz="2800">
                <a:solidFill>
                  <a:srgbClr val="FF0000"/>
                </a:solidFill>
                <a:latin typeface="Courier New" panose="02070309020205020404" pitchFamily="49" charset="0"/>
                <a:cs typeface="Courier New" panose="02070309020205020404" pitchFamily="49" charset="0"/>
              </a:rPr>
              <a:t>'a';DROP TABLE users; SELECT * FROM DATA WHERE name LIKE '%'</a:t>
            </a:r>
            <a:r>
              <a:rPr lang="en-US" altLang="en-US" sz="2800">
                <a:solidFill>
                  <a:srgbClr val="0000FF"/>
                </a:solidFill>
                <a:latin typeface="Courier New" panose="02070309020205020404" pitchFamily="49" charset="0"/>
                <a:cs typeface="Courier New" panose="02070309020205020404" pitchFamily="49" charset="0"/>
              </a:rPr>
              <a:t>; </a:t>
            </a:r>
          </a:p>
          <a:p>
            <a:endParaRPr lang="en-US"/>
          </a:p>
        </p:txBody>
      </p:sp>
    </p:spTree>
    <p:extLst>
      <p:ext uri="{BB962C8B-B14F-4D97-AF65-F5344CB8AC3E}">
        <p14:creationId xmlns:p14="http://schemas.microsoft.com/office/powerpoint/2010/main" val="373765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 </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17</a:t>
            </a:fld>
            <a:endParaRPr lang="en-GB"/>
          </a:p>
        </p:txBody>
      </p:sp>
      <p:sp>
        <p:nvSpPr>
          <p:cNvPr id="4" name="Content Placeholder 3"/>
          <p:cNvSpPr>
            <a:spLocks noGrp="1"/>
          </p:cNvSpPr>
          <p:nvPr>
            <p:ph sz="quarter" idx="1"/>
          </p:nvPr>
        </p:nvSpPr>
        <p:spPr/>
        <p:txBody>
          <a:bodyPr>
            <a:normAutofit fontScale="92500" lnSpcReduction="10000"/>
          </a:bodyPr>
          <a:lstStyle/>
          <a:p>
            <a:pPr>
              <a:lnSpc>
                <a:spcPct val="90000"/>
              </a:lnSpc>
            </a:pPr>
            <a:r>
              <a:rPr lang="en-US" altLang="en-US" sz="2400"/>
              <a:t>Example 3: </a:t>
            </a:r>
            <a:r>
              <a:rPr lang="en-US" altLang="en-US" sz="2400" u="sng"/>
              <a:t>a user supplied field is not strongly typed or is not checked for type constraints by the application</a:t>
            </a:r>
          </a:p>
          <a:p>
            <a:pPr lvl="1">
              <a:lnSpc>
                <a:spcPct val="90000"/>
              </a:lnSpc>
              <a:buNone/>
            </a:pPr>
            <a:r>
              <a:rPr lang="en-US" altLang="en-US" sz="2100" b="1"/>
              <a:t>	</a:t>
            </a:r>
            <a:r>
              <a:rPr lang="en-US" altLang="en-US" sz="2800">
                <a:solidFill>
                  <a:srgbClr val="0000FF"/>
                </a:solidFill>
                <a:latin typeface="Courier New" panose="02070309020205020404" pitchFamily="49" charset="0"/>
                <a:cs typeface="Courier New" panose="02070309020205020404" pitchFamily="49" charset="0"/>
              </a:rPr>
              <a:t>SQL statement := "SELECT * FROM data WHERE id = " + </a:t>
            </a:r>
            <a:r>
              <a:rPr lang="en-US" altLang="en-US" sz="2800">
                <a:solidFill>
                  <a:srgbClr val="FF0000"/>
                </a:solidFill>
                <a:latin typeface="Courier New" panose="02070309020205020404" pitchFamily="49" charset="0"/>
                <a:cs typeface="Courier New" panose="02070309020205020404" pitchFamily="49" charset="0"/>
              </a:rPr>
              <a:t>a_variable</a:t>
            </a:r>
            <a:r>
              <a:rPr lang="en-US" altLang="en-US" sz="2800">
                <a:solidFill>
                  <a:srgbClr val="0000FF"/>
                </a:solidFill>
                <a:latin typeface="Courier New" panose="02070309020205020404" pitchFamily="49" charset="0"/>
                <a:cs typeface="Courier New" panose="02070309020205020404" pitchFamily="49" charset="0"/>
              </a:rPr>
              <a:t> + ";"</a:t>
            </a:r>
          </a:p>
          <a:p>
            <a:pPr>
              <a:lnSpc>
                <a:spcPct val="90000"/>
              </a:lnSpc>
            </a:pPr>
            <a:r>
              <a:rPr lang="en-US" altLang="en-US" sz="2400"/>
              <a:t>With this statement the developer intended </a:t>
            </a:r>
            <a:r>
              <a:rPr lang="en-US" altLang="en-US" sz="2400">
                <a:solidFill>
                  <a:srgbClr val="FF0000"/>
                </a:solidFill>
              </a:rPr>
              <a:t>a_variable</a:t>
            </a:r>
            <a:r>
              <a:rPr lang="en-US" altLang="en-US" sz="2400"/>
              <a:t> to be a </a:t>
            </a:r>
            <a:r>
              <a:rPr lang="en-US" altLang="en-US" sz="2400" u="sng">
                <a:solidFill>
                  <a:srgbClr val="FF0000"/>
                </a:solidFill>
              </a:rPr>
              <a:t>number</a:t>
            </a:r>
            <a:r>
              <a:rPr lang="en-US" altLang="en-US" sz="2400"/>
              <a:t> correlating to the "id" field. However, if it is in fact a </a:t>
            </a:r>
            <a:r>
              <a:rPr lang="en-US" altLang="en-US" sz="2400" u="sng">
                <a:solidFill>
                  <a:srgbClr val="FF0000"/>
                </a:solidFill>
              </a:rPr>
              <a:t>string</a:t>
            </a:r>
            <a:r>
              <a:rPr lang="en-US" altLang="en-US" sz="2400" u="sng"/>
              <a:t>,</a:t>
            </a:r>
            <a:r>
              <a:rPr lang="en-US" altLang="en-US" sz="2400"/>
              <a:t> the end users may manipulate the statement as they choose, thereby bypassing the need for escape characters</a:t>
            </a:r>
          </a:p>
          <a:p>
            <a:pPr>
              <a:lnSpc>
                <a:spcPct val="90000"/>
              </a:lnSpc>
            </a:pPr>
            <a:r>
              <a:rPr lang="en-US" altLang="en-US" sz="2400"/>
              <a:t>For example, if the maliciuos input is injected: </a:t>
            </a:r>
            <a:endParaRPr lang="en-US" altLang="en-US" sz="2400" b="1"/>
          </a:p>
          <a:p>
            <a:pPr marL="640080" lvl="2" indent="0">
              <a:lnSpc>
                <a:spcPct val="90000"/>
              </a:lnSpc>
              <a:buNone/>
            </a:pPr>
            <a:r>
              <a:rPr lang="en-US" altLang="en-US" sz="2800">
                <a:solidFill>
                  <a:srgbClr val="FF0000"/>
                </a:solidFill>
                <a:latin typeface="Courier New" panose="02070309020205020404" pitchFamily="49" charset="0"/>
                <a:cs typeface="Courier New" panose="02070309020205020404" pitchFamily="49" charset="0"/>
              </a:rPr>
              <a:t>1;DROP TABLE users</a:t>
            </a:r>
          </a:p>
          <a:p>
            <a:pPr>
              <a:lnSpc>
                <a:spcPct val="90000"/>
              </a:lnSpc>
            </a:pPr>
            <a:r>
              <a:rPr lang="en-US" altLang="en-US" sz="2400"/>
              <a:t>Then the following SQL statement is generated:</a:t>
            </a:r>
          </a:p>
          <a:p>
            <a:pPr marL="640080" lvl="2" indent="0">
              <a:lnSpc>
                <a:spcPct val="90000"/>
              </a:lnSpc>
              <a:buNone/>
            </a:pPr>
            <a:r>
              <a:rPr lang="en-US" altLang="en-US" sz="2800">
                <a:solidFill>
                  <a:srgbClr val="0000FF"/>
                </a:solidFill>
                <a:latin typeface="Courier New" panose="02070309020205020404" pitchFamily="49" charset="0"/>
                <a:cs typeface="Courier New" panose="02070309020205020404" pitchFamily="49" charset="0"/>
              </a:rPr>
              <a:t>SELECT * FROM DATA WHERE id = </a:t>
            </a:r>
            <a:r>
              <a:rPr lang="en-US" altLang="en-US" sz="2800">
                <a:solidFill>
                  <a:srgbClr val="FF0000"/>
                </a:solidFill>
                <a:latin typeface="Courier New" panose="02070309020205020404" pitchFamily="49" charset="0"/>
                <a:cs typeface="Courier New" panose="02070309020205020404" pitchFamily="49" charset="0"/>
              </a:rPr>
              <a:t>1;DROP TABLE users</a:t>
            </a:r>
            <a:r>
              <a:rPr lang="en-US" altLang="en-US" sz="2800">
                <a:solidFill>
                  <a:srgbClr val="0000FF"/>
                </a:solidFill>
                <a:latin typeface="Courier New" panose="02070309020205020404" pitchFamily="49" charset="0"/>
                <a:cs typeface="Courier New" panose="02070309020205020404" pitchFamily="49" charset="0"/>
              </a:rPr>
              <a:t>;</a:t>
            </a:r>
          </a:p>
          <a:p>
            <a:endParaRPr lang="en-US"/>
          </a:p>
        </p:txBody>
      </p:sp>
    </p:spTree>
    <p:extLst>
      <p:ext uri="{BB962C8B-B14F-4D97-AF65-F5344CB8AC3E}">
        <p14:creationId xmlns:p14="http://schemas.microsoft.com/office/powerpoint/2010/main" val="90210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18</a:t>
            </a:fld>
            <a:endParaRPr lang="en-GB"/>
          </a:p>
        </p:txBody>
      </p:sp>
      <p:sp>
        <p:nvSpPr>
          <p:cNvPr id="4" name="Content Placeholder 3"/>
          <p:cNvSpPr>
            <a:spLocks noGrp="1"/>
          </p:cNvSpPr>
          <p:nvPr>
            <p:ph sz="quarter" idx="1"/>
          </p:nvPr>
        </p:nvSpPr>
        <p:spPr/>
        <p:txBody>
          <a:bodyPr/>
          <a:lstStyle/>
          <a:p>
            <a:r>
              <a:rPr lang="en-US" altLang="en-US" sz="2400"/>
              <a:t>Even if an application always escapes single - quotes, an attacker can still inject SQL as long as data in the database is re-used by the application</a:t>
            </a:r>
            <a:endParaRPr lang="en-US" altLang="en-US" sz="800"/>
          </a:p>
          <a:p>
            <a:r>
              <a:rPr lang="en-US" altLang="en-US" sz="2400"/>
              <a:t>An attacker might register with an application, creating a username </a:t>
            </a:r>
          </a:p>
          <a:p>
            <a:pPr lvl="1"/>
            <a:r>
              <a:rPr lang="en-US" altLang="en-US" sz="2000"/>
              <a:t>Username: </a:t>
            </a:r>
            <a:r>
              <a:rPr lang="en-US" altLang="en-US" sz="2000">
                <a:solidFill>
                  <a:srgbClr val="FF0000"/>
                </a:solidFill>
              </a:rPr>
              <a:t>admin'-- </a:t>
            </a:r>
          </a:p>
          <a:p>
            <a:pPr lvl="1"/>
            <a:r>
              <a:rPr lang="en-US" altLang="en-US" sz="2000"/>
              <a:t>Password: </a:t>
            </a:r>
            <a:r>
              <a:rPr lang="en-US" altLang="en-US" sz="2000">
                <a:solidFill>
                  <a:srgbClr val="FF0000"/>
                </a:solidFill>
              </a:rPr>
              <a:t>password </a:t>
            </a:r>
          </a:p>
          <a:p>
            <a:pPr lvl="1"/>
            <a:r>
              <a:rPr lang="en-US" altLang="en-US" sz="2000"/>
              <a:t>Suppose that the application correctly escapes the single quote, resulting in an 'insert' statement like this:</a:t>
            </a:r>
          </a:p>
          <a:p>
            <a:pPr lvl="1"/>
            <a:r>
              <a:rPr lang="en-US" altLang="en-US" sz="2000">
                <a:solidFill>
                  <a:srgbClr val="0000FF"/>
                </a:solidFill>
              </a:rPr>
              <a:t>insert into users values( 123, '</a:t>
            </a:r>
            <a:r>
              <a:rPr lang="en-US" altLang="en-US" sz="2000">
                <a:solidFill>
                  <a:srgbClr val="FF0000"/>
                </a:solidFill>
                <a:highlight>
                  <a:srgbClr val="FFFF00"/>
                </a:highlight>
              </a:rPr>
              <a:t>admin”--</a:t>
            </a:r>
            <a:r>
              <a:rPr lang="en-US" altLang="en-US" sz="2000">
                <a:solidFill>
                  <a:srgbClr val="0000FF"/>
                </a:solidFill>
              </a:rPr>
              <a:t>', '</a:t>
            </a:r>
            <a:r>
              <a:rPr lang="en-US" altLang="en-US" sz="2000">
                <a:solidFill>
                  <a:srgbClr val="FF0000"/>
                </a:solidFill>
              </a:rPr>
              <a:t>password</a:t>
            </a:r>
            <a:r>
              <a:rPr lang="en-US" altLang="en-US" sz="2000">
                <a:solidFill>
                  <a:srgbClr val="0000FF"/>
                </a:solidFill>
              </a:rPr>
              <a:t>', 0xffff )  </a:t>
            </a:r>
          </a:p>
          <a:p>
            <a:endParaRPr lang="en-US"/>
          </a:p>
        </p:txBody>
      </p:sp>
    </p:spTree>
    <p:extLst>
      <p:ext uri="{BB962C8B-B14F-4D97-AF65-F5344CB8AC3E}">
        <p14:creationId xmlns:p14="http://schemas.microsoft.com/office/powerpoint/2010/main" val="3725538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19</a:t>
            </a:fld>
            <a:endParaRPr lang="en-GB"/>
          </a:p>
        </p:txBody>
      </p:sp>
      <p:sp>
        <p:nvSpPr>
          <p:cNvPr id="4" name="Content Placeholder 3"/>
          <p:cNvSpPr>
            <a:spLocks noGrp="1"/>
          </p:cNvSpPr>
          <p:nvPr>
            <p:ph sz="quarter" idx="1"/>
          </p:nvPr>
        </p:nvSpPr>
        <p:spPr/>
        <p:txBody>
          <a:bodyPr>
            <a:normAutofit fontScale="55000" lnSpcReduction="20000"/>
          </a:bodyPr>
          <a:lstStyle/>
          <a:p>
            <a:r>
              <a:rPr lang="en-US" sz="3600" dirty="0"/>
              <a:t>Suppose that the application allows users to change their password.  The ASP script code first ensures that the user has the 'old' password correct before setting the new password. The code might look like this: </a:t>
            </a:r>
          </a:p>
          <a:p>
            <a:pPr lvl="1">
              <a:spcBef>
                <a:spcPct val="0"/>
              </a:spcBef>
              <a:buNone/>
            </a:pPr>
            <a:r>
              <a:rPr lang="en-US" altLang="en-US" sz="3500" dirty="0">
                <a:latin typeface="Courier New" panose="02070309020205020404" pitchFamily="49" charset="0"/>
                <a:cs typeface="Courier New" panose="02070309020205020404" pitchFamily="49" charset="0"/>
              </a:rPr>
              <a:t>username = escape( </a:t>
            </a:r>
            <a:r>
              <a:rPr lang="en-US" altLang="en-US" sz="3500" dirty="0" err="1">
                <a:latin typeface="Courier New" panose="02070309020205020404" pitchFamily="49" charset="0"/>
                <a:cs typeface="Courier New" panose="02070309020205020404" pitchFamily="49" charset="0"/>
              </a:rPr>
              <a:t>Request.form</a:t>
            </a:r>
            <a:r>
              <a:rPr lang="en-US" altLang="en-US" sz="3500" dirty="0">
                <a:latin typeface="Courier New" panose="02070309020205020404" pitchFamily="49" charset="0"/>
                <a:cs typeface="Courier New" panose="02070309020205020404" pitchFamily="49" charset="0"/>
              </a:rPr>
              <a:t>("username") ); </a:t>
            </a:r>
          </a:p>
          <a:p>
            <a:pPr lvl="1">
              <a:spcBef>
                <a:spcPct val="0"/>
              </a:spcBef>
              <a:buNone/>
            </a:pPr>
            <a:r>
              <a:rPr lang="en-US" altLang="en-US" sz="3500" dirty="0" err="1">
                <a:latin typeface="Courier New" panose="02070309020205020404" pitchFamily="49" charset="0"/>
                <a:cs typeface="Courier New" panose="02070309020205020404" pitchFamily="49" charset="0"/>
              </a:rPr>
              <a:t>oldpassword</a:t>
            </a:r>
            <a:r>
              <a:rPr lang="en-US" altLang="en-US" sz="3500" dirty="0">
                <a:latin typeface="Courier New" panose="02070309020205020404" pitchFamily="49" charset="0"/>
                <a:cs typeface="Courier New" panose="02070309020205020404" pitchFamily="49" charset="0"/>
              </a:rPr>
              <a:t> = escape( </a:t>
            </a:r>
            <a:r>
              <a:rPr lang="en-US" altLang="en-US" sz="3500" dirty="0" err="1">
                <a:latin typeface="Courier New" panose="02070309020205020404" pitchFamily="49" charset="0"/>
                <a:cs typeface="Courier New" panose="02070309020205020404" pitchFamily="49" charset="0"/>
              </a:rPr>
              <a:t>Request.form</a:t>
            </a:r>
            <a:r>
              <a:rPr lang="en-US" altLang="en-US" sz="3500" dirty="0">
                <a:latin typeface="Courier New" panose="02070309020205020404" pitchFamily="49" charset="0"/>
                <a:cs typeface="Courier New" panose="02070309020205020404" pitchFamily="49" charset="0"/>
              </a:rPr>
              <a:t>("</a:t>
            </a:r>
            <a:r>
              <a:rPr lang="en-US" altLang="en-US" sz="3500" dirty="0" err="1">
                <a:latin typeface="Courier New" panose="02070309020205020404" pitchFamily="49" charset="0"/>
                <a:cs typeface="Courier New" panose="02070309020205020404" pitchFamily="49" charset="0"/>
              </a:rPr>
              <a:t>oldpassword</a:t>
            </a:r>
            <a:r>
              <a:rPr lang="en-US" altLang="en-US" sz="3500" dirty="0">
                <a:latin typeface="Courier New" panose="02070309020205020404" pitchFamily="49" charset="0"/>
                <a:cs typeface="Courier New" panose="02070309020205020404" pitchFamily="49" charset="0"/>
              </a:rPr>
              <a:t>") ); </a:t>
            </a:r>
          </a:p>
          <a:p>
            <a:pPr lvl="1">
              <a:spcBef>
                <a:spcPct val="0"/>
              </a:spcBef>
              <a:buNone/>
            </a:pPr>
            <a:r>
              <a:rPr lang="en-US" altLang="en-US" sz="3500" dirty="0" err="1">
                <a:latin typeface="Courier New" panose="02070309020205020404" pitchFamily="49" charset="0"/>
                <a:cs typeface="Courier New" panose="02070309020205020404" pitchFamily="49" charset="0"/>
              </a:rPr>
              <a:t>newpassword</a:t>
            </a:r>
            <a:r>
              <a:rPr lang="en-US" altLang="en-US" sz="3500" dirty="0">
                <a:latin typeface="Courier New" panose="02070309020205020404" pitchFamily="49" charset="0"/>
                <a:cs typeface="Courier New" panose="02070309020205020404" pitchFamily="49" charset="0"/>
              </a:rPr>
              <a:t> = escape( </a:t>
            </a:r>
            <a:r>
              <a:rPr lang="en-US" altLang="en-US" sz="3500" dirty="0" err="1">
                <a:latin typeface="Courier New" panose="02070309020205020404" pitchFamily="49" charset="0"/>
                <a:cs typeface="Courier New" panose="02070309020205020404" pitchFamily="49" charset="0"/>
              </a:rPr>
              <a:t>Request.form</a:t>
            </a:r>
            <a:r>
              <a:rPr lang="en-US" altLang="en-US" sz="3500" dirty="0">
                <a:latin typeface="Courier New" panose="02070309020205020404" pitchFamily="49" charset="0"/>
                <a:cs typeface="Courier New" panose="02070309020205020404" pitchFamily="49" charset="0"/>
              </a:rPr>
              <a:t>("</a:t>
            </a:r>
            <a:r>
              <a:rPr lang="en-US" altLang="en-US" sz="3500" dirty="0" err="1">
                <a:latin typeface="Courier New" panose="02070309020205020404" pitchFamily="49" charset="0"/>
                <a:cs typeface="Courier New" panose="02070309020205020404" pitchFamily="49" charset="0"/>
              </a:rPr>
              <a:t>newpassword</a:t>
            </a:r>
            <a:r>
              <a:rPr lang="en-US" altLang="en-US" sz="3500" dirty="0">
                <a:latin typeface="Courier New" panose="02070309020205020404" pitchFamily="49" charset="0"/>
                <a:cs typeface="Courier New" panose="02070309020205020404" pitchFamily="49" charset="0"/>
              </a:rPr>
              <a:t>") ); </a:t>
            </a:r>
          </a:p>
          <a:p>
            <a:pPr lvl="1">
              <a:spcBef>
                <a:spcPct val="0"/>
              </a:spcBef>
              <a:buNone/>
            </a:pPr>
            <a:r>
              <a:rPr lang="en-US" altLang="en-US" sz="3500" dirty="0">
                <a:latin typeface="Courier New" panose="02070309020205020404" pitchFamily="49" charset="0"/>
                <a:cs typeface="Courier New" panose="02070309020205020404" pitchFamily="49" charset="0"/>
              </a:rPr>
              <a:t>var </a:t>
            </a:r>
            <a:r>
              <a:rPr lang="en-US" altLang="en-US" sz="3500" dirty="0" err="1">
                <a:latin typeface="Courier New" panose="02070309020205020404" pitchFamily="49" charset="0"/>
                <a:cs typeface="Courier New" panose="02070309020205020404" pitchFamily="49" charset="0"/>
              </a:rPr>
              <a:t>rso</a:t>
            </a:r>
            <a:r>
              <a:rPr lang="en-US" altLang="en-US" sz="3500" dirty="0">
                <a:latin typeface="Courier New" panose="02070309020205020404" pitchFamily="49" charset="0"/>
                <a:cs typeface="Courier New" panose="02070309020205020404" pitchFamily="49" charset="0"/>
              </a:rPr>
              <a:t> = </a:t>
            </a:r>
            <a:r>
              <a:rPr lang="en-US" altLang="en-US" sz="3500" dirty="0" err="1">
                <a:latin typeface="Courier New" panose="02070309020205020404" pitchFamily="49" charset="0"/>
                <a:cs typeface="Courier New" panose="02070309020205020404" pitchFamily="49" charset="0"/>
              </a:rPr>
              <a:t>Server.CreateObject</a:t>
            </a:r>
            <a:r>
              <a:rPr lang="en-US" altLang="en-US" sz="3500" dirty="0">
                <a:latin typeface="Courier New" panose="02070309020205020404" pitchFamily="49" charset="0"/>
                <a:cs typeface="Courier New" panose="02070309020205020404" pitchFamily="49" charset="0"/>
              </a:rPr>
              <a:t>("</a:t>
            </a:r>
            <a:r>
              <a:rPr lang="en-US" altLang="en-US" sz="3500" dirty="0" err="1">
                <a:latin typeface="Courier New" panose="02070309020205020404" pitchFamily="49" charset="0"/>
                <a:cs typeface="Courier New" panose="02070309020205020404" pitchFamily="49" charset="0"/>
              </a:rPr>
              <a:t>ADODB.Recordset</a:t>
            </a:r>
            <a:r>
              <a:rPr lang="en-US" altLang="en-US" sz="3500" dirty="0">
                <a:latin typeface="Courier New" panose="02070309020205020404" pitchFamily="49" charset="0"/>
                <a:cs typeface="Courier New" panose="02070309020205020404" pitchFamily="49" charset="0"/>
              </a:rPr>
              <a:t>"); </a:t>
            </a:r>
          </a:p>
          <a:p>
            <a:pPr lvl="1">
              <a:spcBef>
                <a:spcPct val="0"/>
              </a:spcBef>
              <a:buNone/>
            </a:pPr>
            <a:r>
              <a:rPr lang="en-US" altLang="en-US" sz="3500" dirty="0">
                <a:latin typeface="Courier New" panose="02070309020205020404" pitchFamily="49" charset="0"/>
                <a:cs typeface="Courier New" panose="02070309020205020404" pitchFamily="49" charset="0"/>
              </a:rPr>
              <a:t>var </a:t>
            </a:r>
            <a:r>
              <a:rPr lang="en-US" altLang="en-US" sz="3500" dirty="0" err="1">
                <a:latin typeface="Courier New" panose="02070309020205020404" pitchFamily="49" charset="0"/>
                <a:cs typeface="Courier New" panose="02070309020205020404" pitchFamily="49" charset="0"/>
              </a:rPr>
              <a:t>sql</a:t>
            </a:r>
            <a:r>
              <a:rPr lang="en-US" altLang="en-US" sz="3500" dirty="0">
                <a:latin typeface="Courier New" panose="02070309020205020404" pitchFamily="49" charset="0"/>
                <a:cs typeface="Courier New" panose="02070309020205020404" pitchFamily="49" charset="0"/>
              </a:rPr>
              <a:t> = "select * from users where username = '" + username + "' and password = '" + </a:t>
            </a:r>
            <a:r>
              <a:rPr lang="en-US" altLang="en-US" sz="3500" dirty="0" err="1">
                <a:latin typeface="Courier New" panose="02070309020205020404" pitchFamily="49" charset="0"/>
                <a:cs typeface="Courier New" panose="02070309020205020404" pitchFamily="49" charset="0"/>
              </a:rPr>
              <a:t>oldpassword</a:t>
            </a:r>
            <a:r>
              <a:rPr lang="en-US" altLang="en-US" sz="3500" dirty="0">
                <a:latin typeface="Courier New" panose="02070309020205020404" pitchFamily="49" charset="0"/>
                <a:cs typeface="Courier New" panose="02070309020205020404" pitchFamily="49" charset="0"/>
              </a:rPr>
              <a:t> + "'"; </a:t>
            </a:r>
          </a:p>
          <a:p>
            <a:pPr lvl="1">
              <a:spcBef>
                <a:spcPct val="0"/>
              </a:spcBef>
              <a:buNone/>
            </a:pPr>
            <a:r>
              <a:rPr lang="en-US" altLang="en-US" sz="3500" dirty="0" err="1">
                <a:latin typeface="Courier New" panose="02070309020205020404" pitchFamily="49" charset="0"/>
                <a:cs typeface="Courier New" panose="02070309020205020404" pitchFamily="49" charset="0"/>
              </a:rPr>
              <a:t>rso.open</a:t>
            </a:r>
            <a:r>
              <a:rPr lang="en-US" altLang="en-US" sz="3500" dirty="0">
                <a:latin typeface="Courier New" panose="02070309020205020404" pitchFamily="49" charset="0"/>
                <a:cs typeface="Courier New" panose="02070309020205020404" pitchFamily="49" charset="0"/>
              </a:rPr>
              <a:t>( </a:t>
            </a:r>
            <a:r>
              <a:rPr lang="en-US" altLang="en-US" sz="3500" dirty="0" err="1">
                <a:latin typeface="Courier New" panose="02070309020205020404" pitchFamily="49" charset="0"/>
                <a:cs typeface="Courier New" panose="02070309020205020404" pitchFamily="49" charset="0"/>
              </a:rPr>
              <a:t>sql</a:t>
            </a:r>
            <a:r>
              <a:rPr lang="en-US" altLang="en-US" sz="3500" dirty="0">
                <a:latin typeface="Courier New" panose="02070309020205020404" pitchFamily="49" charset="0"/>
                <a:cs typeface="Courier New" panose="02070309020205020404" pitchFamily="49" charset="0"/>
              </a:rPr>
              <a:t>, </a:t>
            </a:r>
            <a:r>
              <a:rPr lang="en-US" altLang="en-US" sz="3500" dirty="0" err="1">
                <a:latin typeface="Courier New" panose="02070309020205020404" pitchFamily="49" charset="0"/>
                <a:cs typeface="Courier New" panose="02070309020205020404" pitchFamily="49" charset="0"/>
              </a:rPr>
              <a:t>cn</a:t>
            </a:r>
            <a:r>
              <a:rPr lang="en-US" altLang="en-US" sz="3500" dirty="0">
                <a:latin typeface="Courier New" panose="02070309020205020404" pitchFamily="49" charset="0"/>
                <a:cs typeface="Courier New" panose="02070309020205020404" pitchFamily="49" charset="0"/>
              </a:rPr>
              <a:t> ); </a:t>
            </a:r>
          </a:p>
          <a:p>
            <a:pPr lvl="1">
              <a:spcBef>
                <a:spcPct val="0"/>
              </a:spcBef>
              <a:buNone/>
            </a:pPr>
            <a:r>
              <a:rPr lang="en-US" altLang="en-US" sz="3500" dirty="0">
                <a:latin typeface="Courier New" panose="02070309020205020404" pitchFamily="49" charset="0"/>
                <a:cs typeface="Courier New" panose="02070309020205020404" pitchFamily="49" charset="0"/>
              </a:rPr>
              <a:t>if (</a:t>
            </a:r>
            <a:r>
              <a:rPr lang="en-US" altLang="en-US" sz="3500" dirty="0" err="1">
                <a:latin typeface="Courier New" panose="02070309020205020404" pitchFamily="49" charset="0"/>
                <a:cs typeface="Courier New" panose="02070309020205020404" pitchFamily="49" charset="0"/>
              </a:rPr>
              <a:t>rso.EOF</a:t>
            </a:r>
            <a:r>
              <a:rPr lang="en-US" altLang="en-US" sz="3500" dirty="0">
                <a:latin typeface="Courier New" panose="02070309020205020404" pitchFamily="49" charset="0"/>
                <a:cs typeface="Courier New" panose="02070309020205020404" pitchFamily="49" charset="0"/>
              </a:rPr>
              <a:t>) </a:t>
            </a:r>
          </a:p>
          <a:p>
            <a:pPr lvl="1">
              <a:spcBef>
                <a:spcPct val="0"/>
              </a:spcBef>
              <a:buNone/>
            </a:pPr>
            <a:r>
              <a:rPr lang="en-US" altLang="en-US" sz="3500" dirty="0">
                <a:latin typeface="Courier New" panose="02070309020205020404" pitchFamily="49" charset="0"/>
                <a:cs typeface="Courier New" panose="02070309020205020404" pitchFamily="49" charset="0"/>
              </a:rPr>
              <a:t>{ </a:t>
            </a:r>
          </a:p>
          <a:p>
            <a:pPr lvl="1">
              <a:spcBef>
                <a:spcPct val="0"/>
              </a:spcBef>
              <a:buNone/>
            </a:pPr>
            <a:r>
              <a:rPr lang="en-US" altLang="en-US" sz="3500" dirty="0">
                <a:latin typeface="Courier New" panose="02070309020205020404" pitchFamily="49" charset="0"/>
                <a:cs typeface="Courier New" panose="02070309020205020404" pitchFamily="49" charset="0"/>
              </a:rPr>
              <a:t>… </a:t>
            </a:r>
          </a:p>
          <a:p>
            <a:pPr lvl="1">
              <a:spcBef>
                <a:spcPct val="0"/>
              </a:spcBef>
              <a:buNone/>
            </a:pPr>
            <a:r>
              <a:rPr lang="en-US" altLang="en-US" sz="3500" dirty="0" err="1"/>
              <a:t>rso</a:t>
            </a:r>
            <a:r>
              <a:rPr lang="en-US" altLang="en-US" sz="3500" dirty="0"/>
              <a:t>("username") is the username retrieved from the 'login' query</a:t>
            </a:r>
          </a:p>
        </p:txBody>
      </p:sp>
    </p:spTree>
    <p:extLst>
      <p:ext uri="{BB962C8B-B14F-4D97-AF65-F5344CB8AC3E}">
        <p14:creationId xmlns:p14="http://schemas.microsoft.com/office/powerpoint/2010/main" val="2517465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20</a:t>
            </a:fld>
            <a:endParaRPr lang="en-GB"/>
          </a:p>
        </p:txBody>
      </p:sp>
      <p:sp>
        <p:nvSpPr>
          <p:cNvPr id="4" name="Content Placeholder 3"/>
          <p:cNvSpPr>
            <a:spLocks noGrp="1"/>
          </p:cNvSpPr>
          <p:nvPr>
            <p:ph sz="quarter" idx="1"/>
          </p:nvPr>
        </p:nvSpPr>
        <p:spPr/>
        <p:txBody>
          <a:bodyPr/>
          <a:lstStyle/>
          <a:p>
            <a:pPr>
              <a:lnSpc>
                <a:spcPct val="80000"/>
              </a:lnSpc>
            </a:pPr>
            <a:r>
              <a:rPr lang="en-US" altLang="en-US" sz="2000"/>
              <a:t>The query to set the new password might look like this:</a:t>
            </a:r>
          </a:p>
          <a:p>
            <a:pPr lvl="1">
              <a:lnSpc>
                <a:spcPct val="80000"/>
              </a:lnSpc>
            </a:pPr>
            <a:r>
              <a:rPr lang="en-US" altLang="en-US" sz="1800">
                <a:solidFill>
                  <a:srgbClr val="0000FF"/>
                </a:solidFill>
              </a:rPr>
              <a:t>sql = "update users set password = </a:t>
            </a:r>
            <a:r>
              <a:rPr lang="en-US" altLang="en-US" sz="1800">
                <a:solidFill>
                  <a:srgbClr val="FF0000"/>
                </a:solidFill>
              </a:rPr>
              <a:t>'</a:t>
            </a:r>
            <a:r>
              <a:rPr lang="en-US" altLang="en-US" sz="1800">
                <a:solidFill>
                  <a:srgbClr val="0000FF"/>
                </a:solidFill>
              </a:rPr>
              <a:t>" + </a:t>
            </a:r>
            <a:r>
              <a:rPr lang="en-US" altLang="en-US" sz="1800">
                <a:solidFill>
                  <a:srgbClr val="FF0000"/>
                </a:solidFill>
              </a:rPr>
              <a:t>newpassword</a:t>
            </a:r>
            <a:r>
              <a:rPr lang="en-US" altLang="en-US" sz="1800">
                <a:solidFill>
                  <a:srgbClr val="0000FF"/>
                </a:solidFill>
              </a:rPr>
              <a:t> + "</a:t>
            </a:r>
            <a:r>
              <a:rPr lang="en-US" altLang="en-US" sz="1800">
                <a:solidFill>
                  <a:srgbClr val="FF0000"/>
                </a:solidFill>
              </a:rPr>
              <a:t>'</a:t>
            </a:r>
            <a:r>
              <a:rPr lang="en-US" altLang="en-US" sz="1800">
                <a:solidFill>
                  <a:srgbClr val="0000FF"/>
                </a:solidFill>
              </a:rPr>
              <a:t> where username = </a:t>
            </a:r>
            <a:r>
              <a:rPr lang="en-US" altLang="en-US" sz="1800">
                <a:solidFill>
                  <a:srgbClr val="FF0000"/>
                </a:solidFill>
              </a:rPr>
              <a:t>'</a:t>
            </a:r>
            <a:r>
              <a:rPr lang="en-US" altLang="en-US" sz="1800">
                <a:solidFill>
                  <a:srgbClr val="0000FF"/>
                </a:solidFill>
              </a:rPr>
              <a:t>" + </a:t>
            </a:r>
            <a:r>
              <a:rPr lang="en-US" altLang="en-US" sz="1800">
                <a:solidFill>
                  <a:srgbClr val="FF0000"/>
                </a:solidFill>
              </a:rPr>
              <a:t>rso("username")</a:t>
            </a:r>
            <a:r>
              <a:rPr lang="en-US" altLang="en-US" sz="1800">
                <a:solidFill>
                  <a:srgbClr val="0000FF"/>
                </a:solidFill>
              </a:rPr>
              <a:t> + "</a:t>
            </a:r>
            <a:r>
              <a:rPr lang="en-US" altLang="en-US" sz="1800">
                <a:solidFill>
                  <a:srgbClr val="FF0000"/>
                </a:solidFill>
              </a:rPr>
              <a:t>'</a:t>
            </a:r>
            <a:r>
              <a:rPr lang="en-US" altLang="en-US" sz="1800">
                <a:solidFill>
                  <a:srgbClr val="0000FF"/>
                </a:solidFill>
              </a:rPr>
              <a:t>"</a:t>
            </a:r>
          </a:p>
          <a:p>
            <a:pPr>
              <a:lnSpc>
                <a:spcPct val="80000"/>
              </a:lnSpc>
            </a:pPr>
            <a:r>
              <a:rPr lang="en-US" altLang="en-US" sz="2000"/>
              <a:t>Given the username </a:t>
            </a:r>
            <a:r>
              <a:rPr lang="en-US" altLang="en-US" sz="2000">
                <a:solidFill>
                  <a:srgbClr val="FF0000"/>
                </a:solidFill>
              </a:rPr>
              <a:t>admin'--</a:t>
            </a:r>
            <a:r>
              <a:rPr lang="en-US" altLang="en-US" sz="2000"/>
              <a:t>, the query produces the following query:</a:t>
            </a:r>
          </a:p>
          <a:p>
            <a:pPr lvl="1">
              <a:lnSpc>
                <a:spcPct val="80000"/>
              </a:lnSpc>
            </a:pPr>
            <a:r>
              <a:rPr lang="en-US" altLang="en-US" sz="1800">
                <a:solidFill>
                  <a:srgbClr val="0000FF"/>
                </a:solidFill>
              </a:rPr>
              <a:t>update users set password = </a:t>
            </a:r>
            <a:r>
              <a:rPr lang="en-US" altLang="en-US" sz="1800">
                <a:solidFill>
                  <a:srgbClr val="FF0000"/>
                </a:solidFill>
              </a:rPr>
              <a:t>'password'</a:t>
            </a:r>
            <a:r>
              <a:rPr lang="en-US" altLang="en-US" sz="1800">
                <a:solidFill>
                  <a:srgbClr val="0000FF"/>
                </a:solidFill>
              </a:rPr>
              <a:t> where username = </a:t>
            </a:r>
            <a:r>
              <a:rPr lang="en-US" altLang="en-US" sz="1800">
                <a:solidFill>
                  <a:srgbClr val="FF0000"/>
                </a:solidFill>
              </a:rPr>
              <a:t>'admin'--‘</a:t>
            </a:r>
          </a:p>
          <a:p>
            <a:pPr lvl="1">
              <a:lnSpc>
                <a:spcPct val="80000"/>
              </a:lnSpc>
            </a:pPr>
            <a:endParaRPr lang="en-US" altLang="en-US" sz="1800"/>
          </a:p>
          <a:p>
            <a:pPr>
              <a:lnSpc>
                <a:spcPct val="80000"/>
              </a:lnSpc>
            </a:pPr>
            <a:r>
              <a:rPr lang="en-US" altLang="en-US" sz="2800" b="1" i="1">
                <a:solidFill>
                  <a:srgbClr val="FF0000"/>
                </a:solidFill>
              </a:rPr>
              <a:t>The attacker can set the admin password to the value of his choice, by registering as a user called admin'--.</a:t>
            </a:r>
            <a:r>
              <a:rPr lang="en-US" altLang="en-US" sz="2800"/>
              <a:t> </a:t>
            </a:r>
            <a:endParaRPr lang="en-US" altLang="en-US" sz="2400" b="1"/>
          </a:p>
          <a:p>
            <a:pPr>
              <a:lnSpc>
                <a:spcPct val="80000"/>
              </a:lnSpc>
            </a:pPr>
            <a:endParaRPr lang="en-US" altLang="ko-KR" sz="2400" b="1">
              <a:ea typeface="굴림" panose="020B0600000101010101" pitchFamily="34" charset="-127"/>
            </a:endParaRPr>
          </a:p>
          <a:p>
            <a:pPr lvl="1">
              <a:lnSpc>
                <a:spcPct val="80000"/>
              </a:lnSpc>
              <a:buNone/>
            </a:pPr>
            <a:r>
              <a:rPr lang="en-US" altLang="en-US" sz="2400"/>
              <a:t>	</a:t>
            </a:r>
            <a:r>
              <a:rPr lang="en-US" altLang="en-US" sz="2000"/>
              <a:t>Note that the </a:t>
            </a:r>
            <a:r>
              <a:rPr lang="en-US" altLang="en-US" sz="2000">
                <a:solidFill>
                  <a:srgbClr val="FF0000"/>
                </a:solidFill>
              </a:rPr>
              <a:t>double hyphens (--) </a:t>
            </a:r>
            <a:r>
              <a:rPr lang="en-US" altLang="en-US" sz="2000"/>
              <a:t>are used in SQL to denote comments. Everything after the -- until the end of the line is considered a comment not part of the SQL </a:t>
            </a:r>
          </a:p>
          <a:p>
            <a:endParaRPr lang="en-US"/>
          </a:p>
        </p:txBody>
      </p:sp>
    </p:spTree>
    <p:extLst>
      <p:ext uri="{BB962C8B-B14F-4D97-AF65-F5344CB8AC3E}">
        <p14:creationId xmlns:p14="http://schemas.microsoft.com/office/powerpoint/2010/main" val="3399872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Countermeasures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21</a:t>
            </a:fld>
            <a:endParaRPr lang="en-GB"/>
          </a:p>
        </p:txBody>
      </p:sp>
      <p:sp>
        <p:nvSpPr>
          <p:cNvPr id="4" name="Content Placeholder 3"/>
          <p:cNvSpPr>
            <a:spLocks noGrp="1"/>
          </p:cNvSpPr>
          <p:nvPr>
            <p:ph sz="quarter" idx="1"/>
          </p:nvPr>
        </p:nvSpPr>
        <p:spPr/>
        <p:txBody>
          <a:bodyPr>
            <a:normAutofit fontScale="92500"/>
          </a:bodyPr>
          <a:lstStyle/>
          <a:p>
            <a:r>
              <a:rPr lang="en-US" altLang="en-US" sz="2400"/>
              <a:t>Requirement definition phase: </a:t>
            </a:r>
          </a:p>
          <a:p>
            <a:pPr lvl="1"/>
            <a:r>
              <a:rPr lang="en-US" altLang="en-US" sz="2400"/>
              <a:t>A non-SQL style database which is not subject to these flaws may be chosen</a:t>
            </a:r>
          </a:p>
          <a:p>
            <a:r>
              <a:rPr lang="en-US" altLang="en-US" sz="2400"/>
              <a:t>Design phase:</a:t>
            </a:r>
          </a:p>
          <a:p>
            <a:pPr lvl="1"/>
            <a:r>
              <a:rPr lang="en-US" altLang="ko-KR" sz="2400">
                <a:solidFill>
                  <a:srgbClr val="000000"/>
                </a:solidFill>
                <a:ea typeface="Batang" panose="02030600000101010101" pitchFamily="18" charset="-127"/>
                <a:cs typeface="Times New Roman" panose="02020603050405020304" pitchFamily="18" charset="0"/>
              </a:rPr>
              <a:t>Duplicate any filtering done on the client-side on the server side</a:t>
            </a:r>
            <a:r>
              <a:rPr lang="it-IT" altLang="ko-KR" sz="2400">
                <a:ea typeface="굴림" panose="020B0600000101010101" pitchFamily="34" charset="-127"/>
              </a:rPr>
              <a:t> </a:t>
            </a:r>
          </a:p>
          <a:p>
            <a:pPr lvl="1"/>
            <a:r>
              <a:rPr lang="en-US" altLang="ko-KR" sz="2400">
                <a:ea typeface="굴림" panose="020B0600000101010101" pitchFamily="34" charset="-127"/>
              </a:rPr>
              <a:t>Follow the principle of least privilege when creating user accounts to a SQL database. Users should only have the minimum privileges necessary to use their account. If the requirements of the system indicate that a user can read and modify their own data, then limit their privileges so they cannot read/write others' data</a:t>
            </a:r>
          </a:p>
          <a:p>
            <a:endParaRPr lang="en-US"/>
          </a:p>
        </p:txBody>
      </p:sp>
    </p:spTree>
    <p:extLst>
      <p:ext uri="{BB962C8B-B14F-4D97-AF65-F5344CB8AC3E}">
        <p14:creationId xmlns:p14="http://schemas.microsoft.com/office/powerpoint/2010/main" val="47816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Countermeasures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22</a:t>
            </a:fld>
            <a:endParaRPr lang="en-GB"/>
          </a:p>
        </p:txBody>
      </p:sp>
      <p:sp>
        <p:nvSpPr>
          <p:cNvPr id="4" name="Content Placeholder 3"/>
          <p:cNvSpPr>
            <a:spLocks noGrp="1"/>
          </p:cNvSpPr>
          <p:nvPr>
            <p:ph sz="quarter" idx="1"/>
          </p:nvPr>
        </p:nvSpPr>
        <p:spPr/>
        <p:txBody>
          <a:bodyPr>
            <a:normAutofit/>
          </a:bodyPr>
          <a:lstStyle/>
          <a:p>
            <a:r>
              <a:rPr lang="en-US" altLang="en-US" sz="2800" dirty="0"/>
              <a:t>Implementation phase:</a:t>
            </a:r>
          </a:p>
          <a:p>
            <a:pPr lvl="1">
              <a:buNone/>
            </a:pPr>
            <a:endParaRPr lang="en-US" altLang="ko-KR" sz="800" dirty="0">
              <a:ea typeface="굴림" panose="020B0600000101010101" pitchFamily="34" charset="-127"/>
            </a:endParaRPr>
          </a:p>
          <a:p>
            <a:pPr lvl="1"/>
            <a:r>
              <a:rPr lang="en-US" altLang="en-US" sz="2000" dirty="0"/>
              <a:t>Disallow meta-characters rather than escaping them</a:t>
            </a:r>
          </a:p>
          <a:p>
            <a:pPr lvl="1"/>
            <a:endParaRPr lang="en-US" altLang="en-US" sz="700" dirty="0"/>
          </a:p>
          <a:p>
            <a:pPr lvl="1"/>
            <a:r>
              <a:rPr lang="en-US" altLang="en-US" sz="2000" dirty="0"/>
              <a:t>Narrowly define the set of safe characters based on the expected value of the parameter in the request </a:t>
            </a:r>
          </a:p>
          <a:p>
            <a:pPr lvl="1"/>
            <a:endParaRPr lang="en-US" altLang="en-US" sz="700" dirty="0"/>
          </a:p>
          <a:p>
            <a:pPr lvl="1"/>
            <a:r>
              <a:rPr lang="en-US" altLang="ko-KR" sz="2000" dirty="0">
                <a:ea typeface="굴림" panose="020B0600000101010101" pitchFamily="34" charset="-127"/>
              </a:rPr>
              <a:t>White-list style checking on any user input that may be used in a SQL command</a:t>
            </a:r>
          </a:p>
          <a:p>
            <a:pPr lvl="1"/>
            <a:endParaRPr lang="en-US" altLang="ko-KR" sz="700" dirty="0">
              <a:ea typeface="굴림" panose="020B0600000101010101" pitchFamily="34" charset="-127"/>
            </a:endParaRPr>
          </a:p>
          <a:p>
            <a:pPr lvl="1"/>
            <a:r>
              <a:rPr lang="en-US" altLang="ko-KR" sz="2000" dirty="0">
                <a:ea typeface="굴림" panose="020B0600000101010101" pitchFamily="34" charset="-127"/>
              </a:rPr>
              <a:t>Build the SQL query strings using parameterized statements that bind variables. P</a:t>
            </a:r>
            <a:r>
              <a:rPr lang="en-US" altLang="en-US" sz="2000" dirty="0"/>
              <a:t>aram</a:t>
            </a:r>
            <a:r>
              <a:rPr lang="en-US" altLang="moh-CA" sz="2000" dirty="0"/>
              <a:t>e</a:t>
            </a:r>
            <a:r>
              <a:rPr lang="en-US" altLang="ko-KR" sz="2000" dirty="0">
                <a:ea typeface="굴림" panose="020B0600000101010101" pitchFamily="34" charset="-127"/>
              </a:rPr>
              <a:t>t</a:t>
            </a:r>
            <a:r>
              <a:rPr lang="en-US" altLang="en-US" sz="2000" dirty="0"/>
              <a:t>erized</a:t>
            </a:r>
            <a:r>
              <a:rPr lang="en-US" altLang="ko-KR" sz="2000" dirty="0">
                <a:ea typeface="굴림" panose="020B0600000101010101" pitchFamily="34" charset="-127"/>
              </a:rPr>
              <a:t> statements that do not bind variables can be vulnerable to attack</a:t>
            </a:r>
            <a:endParaRPr lang="en-US" altLang="en-US" dirty="0"/>
          </a:p>
        </p:txBody>
      </p:sp>
    </p:spTree>
    <p:extLst>
      <p:ext uri="{BB962C8B-B14F-4D97-AF65-F5344CB8AC3E}">
        <p14:creationId xmlns:p14="http://schemas.microsoft.com/office/powerpoint/2010/main" val="448576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SQL Injection Countermeasures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23</a:t>
            </a:fld>
            <a:endParaRPr lang="en-GB"/>
          </a:p>
        </p:txBody>
      </p:sp>
      <p:sp>
        <p:nvSpPr>
          <p:cNvPr id="4" name="Content Placeholder 3"/>
          <p:cNvSpPr>
            <a:spLocks noGrp="1"/>
          </p:cNvSpPr>
          <p:nvPr>
            <p:ph sz="quarter" idx="1"/>
          </p:nvPr>
        </p:nvSpPr>
        <p:spPr/>
        <p:txBody>
          <a:bodyPr>
            <a:normAutofit fontScale="92500"/>
          </a:bodyPr>
          <a:lstStyle/>
          <a:p>
            <a:r>
              <a:rPr lang="en-US" altLang="en-US" sz="2800"/>
              <a:t>Input validation</a:t>
            </a:r>
          </a:p>
          <a:p>
            <a:pPr lvl="1"/>
            <a:r>
              <a:rPr lang="en-US" altLang="en-US" sz="2400"/>
              <a:t>Complex matter</a:t>
            </a:r>
          </a:p>
          <a:p>
            <a:pPr lvl="1"/>
            <a:r>
              <a:rPr lang="en-US" altLang="en-US" sz="2400"/>
              <a:t>Often overlooked in the implementation phase since it does not add functionalities</a:t>
            </a:r>
          </a:p>
          <a:p>
            <a:r>
              <a:rPr lang="en-US" altLang="en-US" sz="2800"/>
              <a:t>Approaches to input validation:</a:t>
            </a:r>
          </a:p>
          <a:p>
            <a:pPr lvl="1"/>
            <a:r>
              <a:rPr lang="en-US" altLang="en-US" sz="2400"/>
              <a:t>Transform (“filtering”) the input </a:t>
            </a:r>
          </a:p>
          <a:p>
            <a:pPr lvl="1"/>
            <a:r>
              <a:rPr lang="en-US" altLang="en-US" sz="2400" i="1"/>
              <a:t>Blacklisting</a:t>
            </a:r>
            <a:r>
              <a:rPr lang="en-US" altLang="en-US" sz="2400"/>
              <a:t>: reject input that is known to be “bad”, </a:t>
            </a:r>
            <a:r>
              <a:rPr lang="en-US" altLang="en-US" sz="2400" i="1">
                <a:solidFill>
                  <a:srgbClr val="FF0000"/>
                </a:solidFill>
              </a:rPr>
              <a:t>BUT</a:t>
            </a:r>
          </a:p>
          <a:p>
            <a:pPr lvl="2"/>
            <a:r>
              <a:rPr lang="en-US" altLang="en-US" sz="2000"/>
              <a:t>Known “bad input” may change over time as new attack techniques develop</a:t>
            </a:r>
          </a:p>
          <a:p>
            <a:pPr lvl="1"/>
            <a:r>
              <a:rPr lang="en-US" altLang="en-US" sz="2400" i="1"/>
              <a:t>Whitelisting</a:t>
            </a:r>
            <a:r>
              <a:rPr lang="en-US" altLang="en-US" sz="2400"/>
              <a:t>: accept only input that is know to be “good”</a:t>
            </a:r>
          </a:p>
        </p:txBody>
      </p:sp>
    </p:spTree>
    <p:extLst>
      <p:ext uri="{BB962C8B-B14F-4D97-AF65-F5344CB8AC3E}">
        <p14:creationId xmlns:p14="http://schemas.microsoft.com/office/powerpoint/2010/main" val="2350413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Filtering Characters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24</a:t>
            </a:fld>
            <a:endParaRPr lang="en-GB"/>
          </a:p>
        </p:txBody>
      </p:sp>
      <p:sp>
        <p:nvSpPr>
          <p:cNvPr id="4" name="Content Placeholder 3"/>
          <p:cNvSpPr>
            <a:spLocks noGrp="1"/>
          </p:cNvSpPr>
          <p:nvPr>
            <p:ph sz="quarter" idx="1"/>
          </p:nvPr>
        </p:nvSpPr>
        <p:spPr/>
        <p:txBody>
          <a:bodyPr>
            <a:normAutofit fontScale="92500" lnSpcReduction="10000"/>
          </a:bodyPr>
          <a:lstStyle/>
          <a:p>
            <a:r>
              <a:rPr lang="en-US" altLang="en-US" sz="2400"/>
              <a:t>Input validation – filtering characters</a:t>
            </a:r>
          </a:p>
          <a:p>
            <a:pPr lvl="1"/>
            <a:r>
              <a:rPr lang="en-US" altLang="en-US" sz="2400"/>
              <a:t>Filter out characters like:</a:t>
            </a:r>
          </a:p>
          <a:p>
            <a:pPr lvl="2"/>
            <a:r>
              <a:rPr lang="en-US" altLang="en-US"/>
              <a:t>single quote </a:t>
            </a:r>
            <a:r>
              <a:rPr lang="en-US" altLang="en-US" b="1">
                <a:solidFill>
                  <a:srgbClr val="FF0000"/>
                </a:solidFill>
              </a:rPr>
              <a:t>‘</a:t>
            </a:r>
            <a:r>
              <a:rPr lang="en-US" altLang="en-US"/>
              <a:t>, double quote </a:t>
            </a:r>
            <a:r>
              <a:rPr lang="en-US" altLang="en-US" b="1">
                <a:solidFill>
                  <a:srgbClr val="FF0000"/>
                </a:solidFill>
              </a:rPr>
              <a:t>“</a:t>
            </a:r>
            <a:r>
              <a:rPr lang="en-US" altLang="en-US"/>
              <a:t>, </a:t>
            </a:r>
          </a:p>
          <a:p>
            <a:pPr lvl="2"/>
            <a:r>
              <a:rPr lang="en-US" altLang="en-US"/>
              <a:t>Slash </a:t>
            </a:r>
            <a:r>
              <a:rPr lang="en-US" altLang="en-US" b="1">
                <a:solidFill>
                  <a:srgbClr val="FF0000"/>
                </a:solidFill>
              </a:rPr>
              <a:t>/</a:t>
            </a:r>
            <a:r>
              <a:rPr lang="en-US" altLang="en-US"/>
              <a:t>, back slash </a:t>
            </a:r>
            <a:r>
              <a:rPr lang="en-US" altLang="en-US" b="1">
                <a:solidFill>
                  <a:srgbClr val="FF0000"/>
                </a:solidFill>
              </a:rPr>
              <a:t>\</a:t>
            </a:r>
            <a:r>
              <a:rPr lang="en-US" altLang="en-US"/>
              <a:t>, </a:t>
            </a:r>
          </a:p>
          <a:p>
            <a:pPr lvl="2"/>
            <a:r>
              <a:rPr lang="en-US" altLang="en-US"/>
              <a:t>semi colon </a:t>
            </a:r>
            <a:r>
              <a:rPr lang="en-US" altLang="en-US" b="1">
                <a:solidFill>
                  <a:srgbClr val="FF0000"/>
                </a:solidFill>
              </a:rPr>
              <a:t>;</a:t>
            </a:r>
            <a:r>
              <a:rPr lang="en-US" altLang="en-US"/>
              <a:t>, </a:t>
            </a:r>
          </a:p>
          <a:p>
            <a:pPr lvl="2"/>
            <a:r>
              <a:rPr lang="en-US" altLang="en-US"/>
              <a:t>extended character like </a:t>
            </a:r>
            <a:r>
              <a:rPr lang="en-US" altLang="en-US">
                <a:solidFill>
                  <a:srgbClr val="FF0000"/>
                </a:solidFill>
              </a:rPr>
              <a:t>NULL</a:t>
            </a:r>
            <a:r>
              <a:rPr lang="en-US" altLang="en-US"/>
              <a:t>, </a:t>
            </a:r>
          </a:p>
          <a:p>
            <a:pPr lvl="2"/>
            <a:r>
              <a:rPr lang="en-US" altLang="en-US"/>
              <a:t>carriage return, </a:t>
            </a:r>
          </a:p>
          <a:p>
            <a:pPr lvl="2"/>
            <a:r>
              <a:rPr lang="en-US" altLang="en-US"/>
              <a:t>new line, etc, </a:t>
            </a:r>
          </a:p>
          <a:p>
            <a:pPr lvl="1"/>
            <a:r>
              <a:rPr lang="en-US" altLang="en-US" sz="2400"/>
              <a:t>in all strings from:</a:t>
            </a:r>
            <a:br>
              <a:rPr lang="en-US" altLang="en-US" sz="2400"/>
            </a:br>
            <a:r>
              <a:rPr lang="en-US" altLang="en-US" sz="2400"/>
              <a:t> - input from users</a:t>
            </a:r>
            <a:br>
              <a:rPr lang="en-US" altLang="en-US" sz="2400"/>
            </a:br>
            <a:r>
              <a:rPr lang="en-US" altLang="en-US" sz="2400"/>
              <a:t> - parameters from URL</a:t>
            </a:r>
            <a:br>
              <a:rPr lang="en-US" altLang="en-US" sz="2400"/>
            </a:br>
            <a:r>
              <a:rPr lang="en-US" altLang="en-US" sz="2400"/>
              <a:t> - values from cookie </a:t>
            </a:r>
          </a:p>
        </p:txBody>
      </p:sp>
    </p:spTree>
    <p:extLst>
      <p:ext uri="{BB962C8B-B14F-4D97-AF65-F5344CB8AC3E}">
        <p14:creationId xmlns:p14="http://schemas.microsoft.com/office/powerpoint/2010/main" val="381069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Reject “bad”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25</a:t>
            </a:fld>
            <a:endParaRPr lang="en-GB"/>
          </a:p>
        </p:txBody>
      </p:sp>
      <p:sp>
        <p:nvSpPr>
          <p:cNvPr id="4" name="Content Placeholder 3"/>
          <p:cNvSpPr>
            <a:spLocks noGrp="1"/>
          </p:cNvSpPr>
          <p:nvPr>
            <p:ph sz="quarter" idx="1"/>
          </p:nvPr>
        </p:nvSpPr>
        <p:spPr/>
        <p:txBody>
          <a:bodyPr>
            <a:normAutofit fontScale="92500" lnSpcReduction="20000"/>
          </a:bodyPr>
          <a:lstStyle/>
          <a:p>
            <a:r>
              <a:rPr lang="en-US" altLang="en-US" sz="2000"/>
              <a:t>The application must act deterministically when it receives invalid characters from a user. </a:t>
            </a:r>
          </a:p>
          <a:p>
            <a:endParaRPr lang="en-US" altLang="en-US" sz="800"/>
          </a:p>
          <a:p>
            <a:r>
              <a:rPr lang="en-US" altLang="en-US" sz="2000"/>
              <a:t>For example, applications should patently reject users who submit two dash characters (--) or a semi-colon character (;) as part of their login name or password, and a high severity alert should be sent to application administrators. </a:t>
            </a:r>
          </a:p>
          <a:p>
            <a:endParaRPr lang="en-US" altLang="en-US" sz="800"/>
          </a:p>
          <a:p>
            <a:r>
              <a:rPr lang="en-US" altLang="en-US" sz="2000"/>
              <a:t>However, this somewhat harsh response may not be appropriate when an application receives a single apostrophe character as part of a person name (e.g., O’brien) or street address that is submitted by an authenticated user who is entering package shipping information. Nonetheless, the application should behave as intended, and a notification should be sent to application administrators if the submitted apostrophe was not handled properly by the application.</a:t>
            </a:r>
          </a:p>
          <a:p>
            <a:endParaRPr lang="en-US" altLang="en-US" sz="800"/>
          </a:p>
          <a:p>
            <a:r>
              <a:rPr lang="en-US" altLang="ko-KR" sz="2000">
                <a:ea typeface="굴림" panose="020B0600000101010101" pitchFamily="34" charset="-127"/>
              </a:rPr>
              <a:t>Invalid characters should also consider numeric parameters</a:t>
            </a:r>
          </a:p>
          <a:p>
            <a:pPr lvl="1"/>
            <a:endParaRPr lang="en-US" altLang="en-US" sz="2000" b="1"/>
          </a:p>
        </p:txBody>
      </p:sp>
    </p:spTree>
    <p:extLst>
      <p:ext uri="{BB962C8B-B14F-4D97-AF65-F5344CB8AC3E}">
        <p14:creationId xmlns:p14="http://schemas.microsoft.com/office/powerpoint/2010/main" val="2192787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Reject “bad”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26</a:t>
            </a:fld>
            <a:endParaRPr lang="en-GB"/>
          </a:p>
        </p:txBody>
      </p:sp>
      <p:sp>
        <p:nvSpPr>
          <p:cNvPr id="4" name="Content Placeholder 3"/>
          <p:cNvSpPr>
            <a:spLocks noGrp="1"/>
          </p:cNvSpPr>
          <p:nvPr>
            <p:ph sz="quarter" idx="1"/>
          </p:nvPr>
        </p:nvSpPr>
        <p:spPr/>
        <p:txBody>
          <a:bodyPr>
            <a:normAutofit fontScale="92500" lnSpcReduction="10000"/>
          </a:bodyPr>
          <a:lstStyle/>
          <a:p>
            <a:pPr>
              <a:lnSpc>
                <a:spcPct val="90000"/>
              </a:lnSpc>
              <a:buNone/>
            </a:pPr>
            <a:r>
              <a:rPr lang="en-US" altLang="en-US" sz="2400" b="1"/>
              <a:t>Example: disallow select/insert/update/delete/drop/--/’ in the user input</a:t>
            </a:r>
          </a:p>
          <a:p>
            <a:pPr>
              <a:lnSpc>
                <a:spcPct val="90000"/>
              </a:lnSpc>
              <a:buNone/>
            </a:pPr>
            <a:r>
              <a:rPr lang="en-US" altLang="en-US" sz="2400">
                <a:latin typeface="Courier New" panose="02070309020205020404" pitchFamily="49" charset="0"/>
                <a:cs typeface="Courier New" panose="02070309020205020404" pitchFamily="49" charset="0"/>
              </a:rPr>
              <a:t>function validate_string( input )</a:t>
            </a:r>
          </a:p>
          <a:p>
            <a:pPr>
              <a:lnSpc>
                <a:spcPct val="50000"/>
              </a:lnSpc>
              <a:spcBef>
                <a:spcPct val="30000"/>
              </a:spcBef>
              <a:spcAft>
                <a:spcPct val="40000"/>
              </a:spcAft>
              <a:buNone/>
            </a:pPr>
            <a:r>
              <a:rPr lang="en-US" altLang="en-US" sz="2400">
                <a:latin typeface="Courier New" panose="02070309020205020404" pitchFamily="49" charset="0"/>
                <a:cs typeface="Courier New" panose="02070309020205020404" pitchFamily="49" charset="0"/>
              </a:rPr>
              <a:t>	known_bad = array( "select", "insert“, </a:t>
            </a:r>
          </a:p>
          <a:p>
            <a:pPr>
              <a:lnSpc>
                <a:spcPct val="50000"/>
              </a:lnSpc>
              <a:spcBef>
                <a:spcPct val="30000"/>
              </a:spcBef>
              <a:spcAft>
                <a:spcPct val="40000"/>
              </a:spcAft>
              <a:buNone/>
            </a:pPr>
            <a:r>
              <a:rPr lang="en-US" altLang="en-US" sz="2400">
                <a:latin typeface="Courier New" panose="02070309020205020404" pitchFamily="49" charset="0"/>
                <a:cs typeface="Courier New" panose="02070309020205020404" pitchFamily="49" charset="0"/>
              </a:rPr>
              <a:t>	"update", "delete“, “drop", "--", "'" )</a:t>
            </a:r>
          </a:p>
          <a:p>
            <a:pPr>
              <a:lnSpc>
                <a:spcPct val="50000"/>
              </a:lnSpc>
              <a:spcBef>
                <a:spcPct val="30000"/>
              </a:spcBef>
              <a:spcAft>
                <a:spcPct val="20000"/>
              </a:spcAft>
              <a:buNone/>
            </a:pPr>
            <a:r>
              <a:rPr lang="en-US" altLang="en-US" sz="2400">
                <a:latin typeface="Courier New" panose="02070309020205020404" pitchFamily="49" charset="0"/>
                <a:cs typeface="Courier New" panose="02070309020205020404" pitchFamily="49" charset="0"/>
              </a:rPr>
              <a:t>	validate_string = true</a:t>
            </a:r>
          </a:p>
          <a:p>
            <a:pPr>
              <a:lnSpc>
                <a:spcPct val="50000"/>
              </a:lnSpc>
              <a:spcBef>
                <a:spcPct val="30000"/>
              </a:spcBef>
              <a:spcAft>
                <a:spcPct val="20000"/>
              </a:spcAft>
              <a:buNone/>
            </a:pPr>
            <a:r>
              <a:rPr lang="en-US" altLang="en-US" sz="2400">
                <a:latin typeface="Courier New" panose="02070309020205020404" pitchFamily="49" charset="0"/>
                <a:cs typeface="Courier New" panose="02070309020205020404" pitchFamily="49" charset="0"/>
              </a:rPr>
              <a:t>	for i = lbound(known_bad)to ubound(known_bad)</a:t>
            </a:r>
          </a:p>
          <a:p>
            <a:pPr lvl="1">
              <a:lnSpc>
                <a:spcPct val="50000"/>
              </a:lnSpc>
              <a:spcBef>
                <a:spcPct val="30000"/>
              </a:spcBef>
              <a:spcAft>
                <a:spcPct val="20000"/>
              </a:spcAft>
              <a:buNone/>
            </a:pPr>
            <a:r>
              <a:rPr lang="en-US" altLang="en-US" sz="2000">
                <a:latin typeface="Courier New" panose="02070309020205020404" pitchFamily="49" charset="0"/>
                <a:cs typeface="Courier New" panose="02070309020205020404" pitchFamily="49" charset="0"/>
              </a:rPr>
              <a:t>	</a:t>
            </a:r>
            <a:r>
              <a:rPr lang="en-US" altLang="en-US" sz="2400">
                <a:latin typeface="Courier New" panose="02070309020205020404" pitchFamily="49" charset="0"/>
                <a:cs typeface="Courier New" panose="02070309020205020404" pitchFamily="49" charset="0"/>
              </a:rPr>
              <a:t>if (instr( 1, input, known_bad(i), </a:t>
            </a:r>
          </a:p>
          <a:p>
            <a:pPr lvl="1">
              <a:lnSpc>
                <a:spcPct val="50000"/>
              </a:lnSpc>
              <a:spcBef>
                <a:spcPct val="30000"/>
              </a:spcBef>
              <a:spcAft>
                <a:spcPct val="20000"/>
              </a:spcAft>
              <a:buNone/>
            </a:pPr>
            <a:r>
              <a:rPr lang="en-US" altLang="en-US" sz="2400">
                <a:latin typeface="Courier New" panose="02070309020205020404" pitchFamily="49" charset="0"/>
                <a:cs typeface="Courier New" panose="02070309020205020404" pitchFamily="49" charset="0"/>
              </a:rPr>
              <a:t>		vbtextcompare) &lt;&gt; 0 ) then</a:t>
            </a:r>
          </a:p>
          <a:p>
            <a:pPr lvl="2">
              <a:lnSpc>
                <a:spcPct val="50000"/>
              </a:lnSpc>
              <a:spcBef>
                <a:spcPct val="30000"/>
              </a:spcBef>
              <a:spcAft>
                <a:spcPct val="20000"/>
              </a:spcAft>
              <a:buNone/>
            </a:pPr>
            <a:r>
              <a:rPr lang="en-US" altLang="en-US" sz="2000">
                <a:latin typeface="Courier New" panose="02070309020205020404" pitchFamily="49" charset="0"/>
                <a:cs typeface="Courier New" panose="02070309020205020404" pitchFamily="49" charset="0"/>
              </a:rPr>
              <a:t>		</a:t>
            </a:r>
            <a:r>
              <a:rPr lang="en-US" altLang="en-US">
                <a:latin typeface="Courier New" panose="02070309020205020404" pitchFamily="49" charset="0"/>
                <a:cs typeface="Courier New" panose="02070309020205020404" pitchFamily="49" charset="0"/>
              </a:rPr>
              <a:t>validate_string = false</a:t>
            </a:r>
          </a:p>
          <a:p>
            <a:pPr lvl="2">
              <a:lnSpc>
                <a:spcPct val="50000"/>
              </a:lnSpc>
              <a:spcBef>
                <a:spcPct val="30000"/>
              </a:spcBef>
              <a:spcAft>
                <a:spcPct val="20000"/>
              </a:spcAft>
              <a:buNone/>
            </a:pPr>
            <a:r>
              <a:rPr lang="en-US" altLang="en-US">
                <a:latin typeface="Courier New" panose="02070309020205020404" pitchFamily="49" charset="0"/>
                <a:cs typeface="Courier New" panose="02070309020205020404" pitchFamily="49" charset="0"/>
              </a:rPr>
              <a:t>		exit function</a:t>
            </a:r>
          </a:p>
          <a:p>
            <a:pPr lvl="1">
              <a:lnSpc>
                <a:spcPct val="50000"/>
              </a:lnSpc>
              <a:spcBef>
                <a:spcPct val="30000"/>
              </a:spcBef>
              <a:spcAft>
                <a:spcPct val="20000"/>
              </a:spcAft>
              <a:buNone/>
            </a:pPr>
            <a:r>
              <a:rPr lang="en-US" altLang="en-US" sz="2400">
                <a:latin typeface="Courier New" panose="02070309020205020404" pitchFamily="49" charset="0"/>
                <a:cs typeface="Courier New" panose="02070309020205020404" pitchFamily="49" charset="0"/>
              </a:rPr>
              <a:t>	end if</a:t>
            </a:r>
          </a:p>
          <a:p>
            <a:pPr>
              <a:lnSpc>
                <a:spcPct val="50000"/>
              </a:lnSpc>
              <a:spcBef>
                <a:spcPct val="30000"/>
              </a:spcBef>
              <a:spcAft>
                <a:spcPct val="20000"/>
              </a:spcAft>
              <a:buNone/>
            </a:pPr>
            <a:r>
              <a:rPr lang="en-US" altLang="en-US" sz="2400">
                <a:latin typeface="Courier New" panose="02070309020205020404" pitchFamily="49" charset="0"/>
                <a:cs typeface="Courier New" panose="02070309020205020404" pitchFamily="49" charset="0"/>
              </a:rPr>
              <a:t>	next</a:t>
            </a:r>
          </a:p>
          <a:p>
            <a:pPr>
              <a:lnSpc>
                <a:spcPct val="50000"/>
              </a:lnSpc>
              <a:buNone/>
            </a:pPr>
            <a:r>
              <a:rPr lang="en-US" altLang="en-US" sz="2400">
                <a:latin typeface="Courier New" panose="02070309020205020404" pitchFamily="49" charset="0"/>
                <a:cs typeface="Courier New" panose="02070309020205020404" pitchFamily="49" charset="0"/>
              </a:rPr>
              <a:t>end function</a:t>
            </a:r>
            <a:endParaRPr lang="en-US" altLang="en-US" sz="2400">
              <a:solidFill>
                <a:srgbClr val="FF0000"/>
              </a:solidFill>
              <a:latin typeface="Courier New" panose="02070309020205020404" pitchFamily="49" charset="0"/>
              <a:cs typeface="Courier New" panose="02070309020205020404" pitchFamily="49" charset="0"/>
            </a:endParaRPr>
          </a:p>
          <a:p>
            <a:pPr lvl="1"/>
            <a:endParaRPr lang="en-US" altLang="en-US" sz="2000" b="1"/>
          </a:p>
        </p:txBody>
      </p:sp>
    </p:spTree>
    <p:extLst>
      <p:ext uri="{BB962C8B-B14F-4D97-AF65-F5344CB8AC3E}">
        <p14:creationId xmlns:p14="http://schemas.microsoft.com/office/powerpoint/2010/main" val="1543547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Reject “bad”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27</a:t>
            </a:fld>
            <a:endParaRPr lang="en-GB"/>
          </a:p>
        </p:txBody>
      </p:sp>
      <p:sp>
        <p:nvSpPr>
          <p:cNvPr id="4" name="Content Placeholder 3"/>
          <p:cNvSpPr>
            <a:spLocks noGrp="1"/>
          </p:cNvSpPr>
          <p:nvPr>
            <p:ph sz="quarter" idx="1"/>
          </p:nvPr>
        </p:nvSpPr>
        <p:spPr/>
        <p:txBody>
          <a:bodyPr>
            <a:normAutofit fontScale="92500"/>
          </a:bodyPr>
          <a:lstStyle/>
          <a:p>
            <a:r>
              <a:rPr lang="en-US" altLang="en-US" sz="2800"/>
              <a:t>Problem: when combining the filtering of data with validation of character sequences the attacker could still evade the detection</a:t>
            </a:r>
          </a:p>
          <a:p>
            <a:r>
              <a:rPr lang="en-US" altLang="en-US" sz="2800"/>
              <a:t>Example:</a:t>
            </a:r>
          </a:p>
          <a:p>
            <a:pPr lvl="1"/>
            <a:r>
              <a:rPr lang="en-US" altLang="en-US" sz="2400"/>
              <a:t>A known bad input filter detects '--', 'select' and 'union' followed by a filter that removes single-quotes</a:t>
            </a:r>
          </a:p>
          <a:p>
            <a:pPr lvl="1"/>
            <a:r>
              <a:rPr lang="en-US" altLang="en-US" sz="2400"/>
              <a:t>The attacker could specify an input:</a:t>
            </a:r>
            <a:r>
              <a:rPr lang="en-US" altLang="en-US" sz="2400" b="1"/>
              <a:t> </a:t>
            </a:r>
          </a:p>
          <a:p>
            <a:pPr lvl="2">
              <a:buNone/>
            </a:pPr>
            <a:r>
              <a:rPr lang="en-US" altLang="en-US" sz="2000" b="1">
                <a:solidFill>
                  <a:srgbClr val="FF0000"/>
                </a:solidFill>
              </a:rPr>
              <a:t>	</a:t>
            </a:r>
            <a:r>
              <a:rPr lang="en-US" altLang="en-US" sz="2000" b="1">
                <a:solidFill>
                  <a:srgbClr val="0000FF"/>
                </a:solidFill>
              </a:rPr>
              <a:t>uni'on sel'ect @@version-'-    </a:t>
            </a:r>
          </a:p>
          <a:p>
            <a:pPr lvl="1"/>
            <a:r>
              <a:rPr lang="en-US" altLang="en-US" sz="2400"/>
              <a:t>Since the single-quote is removed </a:t>
            </a:r>
            <a:r>
              <a:rPr lang="en-US" altLang="en-US" sz="2400" u="sng"/>
              <a:t>after</a:t>
            </a:r>
            <a:r>
              <a:rPr lang="en-US" altLang="en-US" sz="2400"/>
              <a:t> the 'known bad' filter is applied, the attacker can simply intersperse single quotes in his known-bad strings to evade detection</a:t>
            </a:r>
            <a:r>
              <a:rPr lang="en-US" altLang="en-US"/>
              <a:t> </a:t>
            </a:r>
            <a:endParaRPr lang="en-US" altLang="en-US" b="1"/>
          </a:p>
          <a:p>
            <a:pPr lvl="1"/>
            <a:endParaRPr lang="en-US" altLang="en-US" sz="2000" b="1"/>
          </a:p>
        </p:txBody>
      </p:sp>
    </p:spTree>
    <p:extLst>
      <p:ext uri="{BB962C8B-B14F-4D97-AF65-F5344CB8AC3E}">
        <p14:creationId xmlns:p14="http://schemas.microsoft.com/office/powerpoint/2010/main" val="824034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Accept only “good”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28</a:t>
            </a:fld>
            <a:endParaRPr lang="en-GB"/>
          </a:p>
        </p:txBody>
      </p:sp>
      <p:sp>
        <p:nvSpPr>
          <p:cNvPr id="4" name="Content Placeholder 3"/>
          <p:cNvSpPr>
            <a:spLocks noGrp="1"/>
          </p:cNvSpPr>
          <p:nvPr>
            <p:ph sz="quarter" idx="1"/>
          </p:nvPr>
        </p:nvSpPr>
        <p:spPr/>
        <p:txBody>
          <a:bodyPr>
            <a:normAutofit/>
          </a:bodyPr>
          <a:lstStyle/>
          <a:p>
            <a:pPr>
              <a:buNone/>
            </a:pPr>
            <a:r>
              <a:rPr lang="en-US" altLang="en-US" sz="2800"/>
              <a:t>Accept only input that is know to be “good”</a:t>
            </a:r>
          </a:p>
          <a:p>
            <a:pPr lvl="1"/>
            <a:r>
              <a:rPr lang="en-US" altLang="en-US" sz="2400"/>
              <a:t>Narrowly define the </a:t>
            </a:r>
            <a:r>
              <a:rPr lang="en-US" altLang="en-US" sz="2400" u="sng"/>
              <a:t>set of safe characters</a:t>
            </a:r>
            <a:r>
              <a:rPr lang="en-US" altLang="en-US" sz="2400"/>
              <a:t> based on the expected value of the parameter in the request</a:t>
            </a:r>
          </a:p>
          <a:p>
            <a:pPr lvl="1"/>
            <a:r>
              <a:rPr lang="en-US" altLang="en-US" sz="2400"/>
              <a:t>Example:</a:t>
            </a:r>
          </a:p>
          <a:p>
            <a:pPr>
              <a:buNone/>
            </a:pPr>
            <a:r>
              <a:rPr lang="en-US" altLang="en-US" sz="2800">
                <a:solidFill>
                  <a:srgbClr val="FF0000"/>
                </a:solidFill>
              </a:rPr>
              <a:t>	</a:t>
            </a:r>
            <a:r>
              <a:rPr lang="en-US" altLang="en-US" sz="2400">
                <a:solidFill>
                  <a:srgbClr val="0000FF"/>
                </a:solidFill>
              </a:rPr>
              <a:t>good_password_chars = </a:t>
            </a:r>
          </a:p>
          <a:p>
            <a:pPr>
              <a:buNone/>
            </a:pPr>
            <a:r>
              <a:rPr lang="en-US" altLang="en-US" sz="2400">
                <a:solidFill>
                  <a:srgbClr val="0000FF"/>
                </a:solidFill>
              </a:rPr>
              <a:t>	"abcdefghijklmnopqrstuvwxyzABCDEFGHIJKLMNOPQRSTUVWXYZ0123456789</a:t>
            </a:r>
            <a:r>
              <a:rPr lang="en-US" altLang="en-US" sz="2800">
                <a:solidFill>
                  <a:srgbClr val="0000FF"/>
                </a:solidFill>
              </a:rPr>
              <a:t>“</a:t>
            </a:r>
          </a:p>
        </p:txBody>
      </p:sp>
    </p:spTree>
    <p:extLst>
      <p:ext uri="{BB962C8B-B14F-4D97-AF65-F5344CB8AC3E}">
        <p14:creationId xmlns:p14="http://schemas.microsoft.com/office/powerpoint/2010/main" val="3977979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Accept only “good”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29</a:t>
            </a:fld>
            <a:endParaRPr lang="en-GB"/>
          </a:p>
        </p:txBody>
      </p:sp>
      <p:sp>
        <p:nvSpPr>
          <p:cNvPr id="4" name="Content Placeholder 3"/>
          <p:cNvSpPr>
            <a:spLocks noGrp="1"/>
          </p:cNvSpPr>
          <p:nvPr>
            <p:ph sz="quarter" idx="1"/>
          </p:nvPr>
        </p:nvSpPr>
        <p:spPr/>
        <p:txBody>
          <a:bodyPr>
            <a:normAutofit fontScale="92500" lnSpcReduction="20000"/>
          </a:bodyPr>
          <a:lstStyle/>
          <a:p>
            <a:pPr>
              <a:lnSpc>
                <a:spcPct val="80000"/>
              </a:lnSpc>
              <a:buNone/>
            </a:pPr>
            <a:r>
              <a:rPr lang="en-US" altLang="en-US" sz="2400" b="1">
                <a:latin typeface="Courier New" panose="02070309020205020404" pitchFamily="49" charset="0"/>
                <a:cs typeface="Courier New" panose="02070309020205020404" pitchFamily="49" charset="0"/>
              </a:rPr>
              <a:t>function validatepassword( input )</a:t>
            </a:r>
          </a:p>
          <a:p>
            <a:pPr>
              <a:lnSpc>
                <a:spcPct val="80000"/>
              </a:lnSpc>
              <a:buNone/>
            </a:pPr>
            <a:r>
              <a:rPr lang="en-US" altLang="en-US" sz="2400">
                <a:solidFill>
                  <a:srgbClr val="0000FF"/>
                </a:solidFill>
              </a:rPr>
              <a:t>good_password_chars = "abcdefghijklmnopqrstuvwxyzABCDEFGHIJKLMNOPQRSTUVWXYZ0123456789“</a:t>
            </a:r>
          </a:p>
          <a:p>
            <a:pPr>
              <a:lnSpc>
                <a:spcPct val="80000"/>
              </a:lnSpc>
              <a:spcBef>
                <a:spcPct val="60000"/>
              </a:spcBef>
              <a:buNone/>
            </a:pPr>
            <a:r>
              <a:rPr lang="en-US" altLang="en-US" sz="2800"/>
              <a:t>	</a:t>
            </a:r>
            <a:r>
              <a:rPr lang="en-US" altLang="en-US" sz="2800">
                <a:latin typeface="Courier New" panose="02070309020205020404" pitchFamily="49" charset="0"/>
                <a:cs typeface="Courier New" panose="02070309020205020404" pitchFamily="49" charset="0"/>
              </a:rPr>
              <a:t>validatepassword = true</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for i = 1 to len(input)</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c = mid(input, i, 1)</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if (InStr(good_password_chars, c) = 0) then</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validatepassword = false</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exit function</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end if</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	next</a:t>
            </a:r>
          </a:p>
          <a:p>
            <a:pPr>
              <a:lnSpc>
                <a:spcPct val="40000"/>
              </a:lnSpc>
              <a:spcBef>
                <a:spcPct val="60000"/>
              </a:spcBef>
              <a:buNone/>
            </a:pPr>
            <a:r>
              <a:rPr lang="en-US" altLang="en-US" sz="2800">
                <a:latin typeface="Courier New" panose="02070309020205020404" pitchFamily="49" charset="0"/>
                <a:cs typeface="Courier New" panose="02070309020205020404" pitchFamily="49" charset="0"/>
              </a:rPr>
              <a:t>end function</a:t>
            </a:r>
          </a:p>
        </p:txBody>
      </p:sp>
    </p:spTree>
    <p:extLst>
      <p:ext uri="{BB962C8B-B14F-4D97-AF65-F5344CB8AC3E}">
        <p14:creationId xmlns:p14="http://schemas.microsoft.com/office/powerpoint/2010/main" val="756738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Accept only “good” input</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30</a:t>
            </a:fld>
            <a:endParaRPr lang="en-GB"/>
          </a:p>
        </p:txBody>
      </p:sp>
      <p:sp>
        <p:nvSpPr>
          <p:cNvPr id="4" name="Content Placeholder 3"/>
          <p:cNvSpPr>
            <a:spLocks noGrp="1"/>
          </p:cNvSpPr>
          <p:nvPr>
            <p:ph sz="quarter" idx="1"/>
          </p:nvPr>
        </p:nvSpPr>
        <p:spPr/>
        <p:txBody>
          <a:bodyPr>
            <a:normAutofit/>
          </a:bodyPr>
          <a:lstStyle/>
          <a:p>
            <a:r>
              <a:rPr lang="en-US" altLang="en-US" sz="2400"/>
              <a:t>Good character sets can implicitly defined through </a:t>
            </a:r>
            <a:r>
              <a:rPr lang="en-US" altLang="en-US" sz="2400" i="1"/>
              <a:t>regular expressions</a:t>
            </a:r>
            <a:endParaRPr lang="en-US" altLang="en-US" sz="2400"/>
          </a:p>
          <a:p>
            <a:r>
              <a:rPr lang="en-US" altLang="en-US" sz="2400" i="1"/>
              <a:t>RegExp</a:t>
            </a:r>
            <a:r>
              <a:rPr lang="en-US" altLang="en-US" sz="2400"/>
              <a:t> – pattern to match strings against</a:t>
            </a:r>
          </a:p>
          <a:p>
            <a:r>
              <a:rPr lang="en-US" altLang="en-US" sz="2400"/>
              <a:t>Ex: suppose you have a </a:t>
            </a:r>
            <a:r>
              <a:rPr lang="en-US" altLang="en-US" sz="2400" i="1"/>
              <a:t>month</a:t>
            </a:r>
            <a:r>
              <a:rPr lang="en-US" altLang="en-US" sz="2400"/>
              <a:t> parameter which must be non-negative integer</a:t>
            </a:r>
          </a:p>
          <a:p>
            <a:pPr lvl="1"/>
            <a:r>
              <a:rPr lang="en-US" altLang="en-US" sz="2400"/>
              <a:t>RegExp: ^[0-9]*$ - 0 or more digits, safe subset</a:t>
            </a:r>
          </a:p>
          <a:p>
            <a:pPr lvl="1"/>
            <a:r>
              <a:rPr lang="en-US" altLang="en-US" sz="2400"/>
              <a:t>The ^, $ match beginning and end of string</a:t>
            </a:r>
          </a:p>
          <a:p>
            <a:pPr lvl="1"/>
            <a:r>
              <a:rPr lang="en-US" altLang="en-US" sz="2400"/>
              <a:t>[0-9] matches a digit, * specifies 0 or more</a:t>
            </a:r>
          </a:p>
          <a:p>
            <a:endParaRPr lang="en-US" altLang="en-US" sz="2000"/>
          </a:p>
          <a:p>
            <a:pPr lvl="1">
              <a:lnSpc>
                <a:spcPct val="80000"/>
              </a:lnSpc>
            </a:pPr>
            <a:endParaRPr lang="en-US" altLang="en-US" sz="2400"/>
          </a:p>
          <a:p>
            <a:pPr>
              <a:lnSpc>
                <a:spcPct val="80000"/>
              </a:lnSpc>
            </a:pPr>
            <a:endParaRPr lang="en-US" altLang="ko-KR" sz="1800" b="1">
              <a:ea typeface="굴림" panose="020B0600000101010101" pitchFamily="34" charset="-127"/>
            </a:endParaRPr>
          </a:p>
          <a:p>
            <a:endParaRPr lang="en-US" altLang="en-US" sz="2000"/>
          </a:p>
          <a:p>
            <a:endParaRPr lang="en-US" altLang="en-US" sz="2000"/>
          </a:p>
        </p:txBody>
      </p:sp>
    </p:spTree>
    <p:extLst>
      <p:ext uri="{BB962C8B-B14F-4D97-AF65-F5344CB8AC3E}">
        <p14:creationId xmlns:p14="http://schemas.microsoft.com/office/powerpoint/2010/main" val="1252205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Parameterized statements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31</a:t>
            </a:fld>
            <a:endParaRPr lang="en-GB"/>
          </a:p>
        </p:txBody>
      </p:sp>
      <p:sp>
        <p:nvSpPr>
          <p:cNvPr id="4" name="Content Placeholder 3"/>
          <p:cNvSpPr>
            <a:spLocks noGrp="1"/>
          </p:cNvSpPr>
          <p:nvPr>
            <p:ph sz="quarter" idx="1"/>
          </p:nvPr>
        </p:nvSpPr>
        <p:spPr/>
        <p:txBody>
          <a:bodyPr>
            <a:normAutofit fontScale="92500"/>
          </a:bodyPr>
          <a:lstStyle/>
          <a:p>
            <a:r>
              <a:rPr lang="en-US" altLang="en-US" sz="2400"/>
              <a:t>Parameterized statements use parameters (sometimes called placeholders or bind variables) instead of directly embedding user input in the SQL statement </a:t>
            </a:r>
          </a:p>
          <a:p>
            <a:endParaRPr lang="en-US" altLang="en-US" sz="800"/>
          </a:p>
          <a:p>
            <a:r>
              <a:rPr lang="en-US" altLang="en-US" sz="2400"/>
              <a:t>In many cases, the SQL statement is fixed. The user input is then assigned (bound) to a parameter</a:t>
            </a:r>
          </a:p>
          <a:p>
            <a:pPr>
              <a:buNone/>
            </a:pPr>
            <a:r>
              <a:rPr lang="en-US" altLang="en-US" sz="800"/>
              <a:t> </a:t>
            </a:r>
          </a:p>
          <a:p>
            <a:r>
              <a:rPr lang="en-US" altLang="en-US" sz="2400"/>
              <a:t>An example using Java and the JDBC API:</a:t>
            </a:r>
          </a:p>
          <a:p>
            <a:pPr lvl="1"/>
            <a:r>
              <a:rPr lang="en-US" altLang="en-US" sz="2000">
                <a:solidFill>
                  <a:srgbClr val="0000FF"/>
                </a:solidFill>
              </a:rPr>
              <a:t>PreparedStatement prep = conn.prepareStatement("SELECT * FROM USERS WHERE PASSWORD=?"); prep.setString(1, pwd);</a:t>
            </a:r>
          </a:p>
          <a:p>
            <a:r>
              <a:rPr lang="en-US" altLang="en-US" sz="2400"/>
              <a:t>The reason why parameterized statements offer protection is that the query is parsed before the values of the input parameters are provided</a:t>
            </a:r>
          </a:p>
          <a:p>
            <a:endParaRPr lang="en-US" altLang="en-US" sz="2000"/>
          </a:p>
          <a:p>
            <a:pPr lvl="1">
              <a:lnSpc>
                <a:spcPct val="80000"/>
              </a:lnSpc>
            </a:pPr>
            <a:endParaRPr lang="en-US" altLang="en-US" sz="2400"/>
          </a:p>
          <a:p>
            <a:pPr>
              <a:lnSpc>
                <a:spcPct val="80000"/>
              </a:lnSpc>
            </a:pPr>
            <a:endParaRPr lang="en-US" altLang="ko-KR" sz="1800" b="1">
              <a:ea typeface="굴림" panose="020B0600000101010101" pitchFamily="34" charset="-127"/>
            </a:endParaRPr>
          </a:p>
          <a:p>
            <a:endParaRPr lang="en-US" altLang="en-US" sz="2000"/>
          </a:p>
          <a:p>
            <a:endParaRPr lang="en-US" altLang="en-US" sz="2000"/>
          </a:p>
        </p:txBody>
      </p:sp>
    </p:spTree>
    <p:extLst>
      <p:ext uri="{BB962C8B-B14F-4D97-AF65-F5344CB8AC3E}">
        <p14:creationId xmlns:p14="http://schemas.microsoft.com/office/powerpoint/2010/main" val="1759130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SQL Injection Countermeasures</a:t>
            </a:r>
            <a:br>
              <a:rPr lang="en-US"/>
            </a:br>
            <a:r>
              <a:rPr lang="en-US"/>
              <a:t>SQL Stored Procedures</a:t>
            </a:r>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32</a:t>
            </a:fld>
            <a:endParaRPr lang="en-GB"/>
          </a:p>
        </p:txBody>
      </p:sp>
      <p:sp>
        <p:nvSpPr>
          <p:cNvPr id="4" name="Content Placeholder 3"/>
          <p:cNvSpPr>
            <a:spLocks noGrp="1"/>
          </p:cNvSpPr>
          <p:nvPr>
            <p:ph sz="quarter" idx="1"/>
          </p:nvPr>
        </p:nvSpPr>
        <p:spPr/>
        <p:txBody>
          <a:bodyPr>
            <a:normAutofit/>
          </a:bodyPr>
          <a:lstStyle/>
          <a:p>
            <a:r>
              <a:rPr lang="en-US" altLang="ko-KR" sz="2400">
                <a:ea typeface="굴림" panose="020B0600000101010101" pitchFamily="34" charset="-127"/>
              </a:rPr>
              <a:t>Using stored procedures (system or user-defined) perse does not guarantee against SQL injection if they do not validate the user input</a:t>
            </a:r>
          </a:p>
          <a:p>
            <a:endParaRPr lang="en-US" altLang="ko-KR" sz="1800">
              <a:ea typeface="굴림" panose="020B0600000101010101" pitchFamily="34" charset="-127"/>
            </a:endParaRPr>
          </a:p>
          <a:p>
            <a:r>
              <a:rPr lang="en-US" altLang="ko-KR" sz="2400">
                <a:ea typeface="굴림" panose="020B0600000101010101" pitchFamily="34" charset="-127"/>
              </a:rPr>
              <a:t>Moreover, stored procedures are often written in special scripting languages, they can contain other types of vulnerabilities, such as buffer overflows</a:t>
            </a:r>
          </a:p>
          <a:p>
            <a:endParaRPr lang="en-US" altLang="en-US" sz="2800"/>
          </a:p>
          <a:p>
            <a:endParaRPr lang="en-US" altLang="en-US" sz="2000"/>
          </a:p>
          <a:p>
            <a:pPr lvl="1">
              <a:lnSpc>
                <a:spcPct val="80000"/>
              </a:lnSpc>
            </a:pPr>
            <a:endParaRPr lang="en-US" altLang="en-US" sz="2400"/>
          </a:p>
          <a:p>
            <a:pPr>
              <a:lnSpc>
                <a:spcPct val="80000"/>
              </a:lnSpc>
            </a:pPr>
            <a:endParaRPr lang="en-US" altLang="ko-KR" sz="1800" b="1">
              <a:ea typeface="굴림" panose="020B0600000101010101" pitchFamily="34" charset="-127"/>
            </a:endParaRPr>
          </a:p>
          <a:p>
            <a:endParaRPr lang="en-US" altLang="en-US" sz="2000"/>
          </a:p>
          <a:p>
            <a:endParaRPr lang="en-US" altLang="en-US" sz="2000"/>
          </a:p>
        </p:txBody>
      </p:sp>
    </p:spTree>
    <p:extLst>
      <p:ext uri="{BB962C8B-B14F-4D97-AF65-F5344CB8AC3E}">
        <p14:creationId xmlns:p14="http://schemas.microsoft.com/office/powerpoint/2010/main" val="1604895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85000" lnSpcReduction="20000"/>
          </a:bodyPr>
          <a:lstStyle/>
          <a:p>
            <a:fld id="{D5038CF1-A7C8-40BD-B6B0-0DD8C764D05E}" type="slidenum">
              <a:rPr lang="en-GB" smtClean="0"/>
              <a:pPr/>
              <a:t>33</a:t>
            </a:fld>
            <a:endParaRPr lang="en-GB"/>
          </a:p>
        </p:txBody>
      </p:sp>
      <p:sp>
        <p:nvSpPr>
          <p:cNvPr id="4" name="Content Placeholder 3"/>
          <p:cNvSpPr>
            <a:spLocks noGrp="1"/>
          </p:cNvSpPr>
          <p:nvPr>
            <p:ph sz="quarter" idx="1"/>
          </p:nvPr>
        </p:nvSpPr>
        <p:spPr/>
        <p:txBody>
          <a:bodyPr/>
          <a:lstStyle/>
          <a:p>
            <a:endParaRPr lang="en-US"/>
          </a:p>
        </p:txBody>
      </p:sp>
      <p:pic>
        <p:nvPicPr>
          <p:cNvPr id="5" name="Content Placeholder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2119313"/>
            <a:ext cx="3810000" cy="2619375"/>
          </a:xfrm>
          <a:prstGeom prst="rect">
            <a:avLst/>
          </a:prstGeom>
        </p:spPr>
      </p:pic>
    </p:spTree>
    <p:extLst>
      <p:ext uri="{BB962C8B-B14F-4D97-AF65-F5344CB8AC3E}">
        <p14:creationId xmlns:p14="http://schemas.microsoft.com/office/powerpoint/2010/main" val="412796511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2078</TotalTime>
  <Words>2858</Words>
  <Application>Microsoft Office PowerPoint</Application>
  <PresentationFormat>On-screen Show (4:3)</PresentationFormat>
  <Paragraphs>319</Paragraphs>
  <Slides>33</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Batang</vt:lpstr>
      <vt:lpstr>굴림</vt:lpstr>
      <vt:lpstr>Arial</vt:lpstr>
      <vt:lpstr>Calibri</vt:lpstr>
      <vt:lpstr>Corbel</vt:lpstr>
      <vt:lpstr>Courier New</vt:lpstr>
      <vt:lpstr>Tahoma</vt:lpstr>
      <vt:lpstr>Times New Roman</vt:lpstr>
      <vt:lpstr>Tw Cen MT</vt:lpstr>
      <vt:lpstr>Wingdings</vt:lpstr>
      <vt:lpstr>Wingdings 2</vt:lpstr>
      <vt:lpstr>Median</vt:lpstr>
      <vt:lpstr>PowerPoint Presentation</vt:lpstr>
      <vt:lpstr>Outline </vt:lpstr>
      <vt:lpstr>Introduction</vt:lpstr>
      <vt:lpstr>Introduction</vt:lpstr>
      <vt:lpstr>What is SQL Injection?</vt:lpstr>
      <vt:lpstr>What is SQL Injection?</vt:lpstr>
      <vt:lpstr>What is SQL Injection?</vt:lpstr>
      <vt:lpstr>SQL Injection Attack</vt:lpstr>
      <vt:lpstr>SQL Injection Attack</vt:lpstr>
      <vt:lpstr>SQL Injection Attack</vt:lpstr>
      <vt:lpstr>SQL Injection Attack</vt:lpstr>
      <vt:lpstr>SQL Injection Attack – Explore </vt:lpstr>
      <vt:lpstr>SQL Injection Attack – Experiment </vt:lpstr>
      <vt:lpstr>SQL Injection Attack – Exploit</vt:lpstr>
      <vt:lpstr>Scenario</vt:lpstr>
      <vt:lpstr>Scenario</vt:lpstr>
      <vt:lpstr>Scenario </vt:lpstr>
      <vt:lpstr>Scenario</vt:lpstr>
      <vt:lpstr>Scenario</vt:lpstr>
      <vt:lpstr>Scenario</vt:lpstr>
      <vt:lpstr>SQL Injection Countermeasures</vt:lpstr>
      <vt:lpstr>SQL Injection Countermeasures</vt:lpstr>
      <vt:lpstr>SQL Injection Countermeasures</vt:lpstr>
      <vt:lpstr>SQL Injection Countermeasures Filtering Characters</vt:lpstr>
      <vt:lpstr>SQL Injection Countermeasures Reject “bad” Input</vt:lpstr>
      <vt:lpstr>SQL Injection Countermeasures Reject “bad” Input</vt:lpstr>
      <vt:lpstr>SQL Injection Countermeasures Reject “bad” Input</vt:lpstr>
      <vt:lpstr>SQL Injection Countermeasures Accept only “good” input</vt:lpstr>
      <vt:lpstr>SQL Injection Countermeasures Accept only “good” input</vt:lpstr>
      <vt:lpstr>SQL Injection Countermeasures Accept only “good” input</vt:lpstr>
      <vt:lpstr>SQL Injection Countermeasures Parameterized statements</vt:lpstr>
      <vt:lpstr>SQL Injection Countermeasures SQL Stored Procedures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thaithuynvt</dc:creator>
  <cp:lastModifiedBy>Le Thi Minh Chau</cp:lastModifiedBy>
  <cp:revision>147</cp:revision>
  <dcterms:created xsi:type="dcterms:W3CDTF">2014-07-14T09:55:58Z</dcterms:created>
  <dcterms:modified xsi:type="dcterms:W3CDTF">2024-01-16T00:25:34Z</dcterms:modified>
</cp:coreProperties>
</file>