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268" r:id="rId4"/>
    <p:sldId id="270" r:id="rId5"/>
    <p:sldId id="271" r:id="rId6"/>
    <p:sldId id="272" r:id="rId7"/>
    <p:sldId id="273" r:id="rId8"/>
    <p:sldId id="257" r:id="rId9"/>
    <p:sldId id="259" r:id="rId10"/>
    <p:sldId id="260" r:id="rId11"/>
    <p:sldId id="261" r:id="rId12"/>
    <p:sldId id="262" r:id="rId13"/>
    <p:sldId id="264" r:id="rId14"/>
    <p:sldId id="263" r:id="rId15"/>
    <p:sldId id="265" r:id="rId16"/>
    <p:sldId id="266" r:id="rId17"/>
    <p:sldId id="274" r:id="rId18"/>
    <p:sldId id="276" r:id="rId19"/>
    <p:sldId id="277" r:id="rId20"/>
    <p:sldId id="278" r:id="rId21"/>
    <p:sldId id="275" r:id="rId22"/>
    <p:sldId id="26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8" autoAdjust="0"/>
    <p:restoredTop sz="67958" autoAdjust="0"/>
  </p:normalViewPr>
  <p:slideViewPr>
    <p:cSldViewPr snapToGrid="0">
      <p:cViewPr varScale="1">
        <p:scale>
          <a:sx n="52" d="100"/>
          <a:sy n="52" d="100"/>
        </p:scale>
        <p:origin x="1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DFE029-0021-4D78-9397-CE68319DCB6B}" type="datetimeFigureOut">
              <a:rPr lang="en-US" smtClean="0"/>
              <a:t>2/25/2023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463546-1025-4321-BA74-FD73FC5957D3}" type="slidenum">
              <a:rPr lang="en-US" smtClean="0"/>
              <a:t>‹#›</a:t>
            </a:fld>
            <a:endParaRPr lang="en-US"/>
          </a:p>
        </p:txBody>
      </p:sp>
    </p:spTree>
    <p:extLst>
      <p:ext uri="{BB962C8B-B14F-4D97-AF65-F5344CB8AC3E}">
        <p14:creationId xmlns:p14="http://schemas.microsoft.com/office/powerpoint/2010/main" val="1513156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463546-1025-4321-BA74-FD73FC5957D3}" type="slidenum">
              <a:rPr lang="en-US" smtClean="0"/>
              <a:t>4</a:t>
            </a:fld>
            <a:endParaRPr lang="en-US"/>
          </a:p>
        </p:txBody>
      </p:sp>
    </p:spTree>
    <p:extLst>
      <p:ext uri="{BB962C8B-B14F-4D97-AF65-F5344CB8AC3E}">
        <p14:creationId xmlns:p14="http://schemas.microsoft.com/office/powerpoint/2010/main" val="1296946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Ở hình trên ta thấy rằng, trước điểm </a:t>
            </a:r>
            <a:r>
              <a:rPr lang="vi-VN" sz="1200" b="0" i="1" kern="1200">
                <a:solidFill>
                  <a:schemeClr val="tx1"/>
                </a:solidFill>
                <a:effectLst/>
                <a:latin typeface="+mn-lt"/>
                <a:ea typeface="+mn-ea"/>
                <a:cs typeface="+mn-cs"/>
              </a:rPr>
              <a:t>d</a:t>
            </a:r>
            <a:r>
              <a:rPr lang="vi-VN" sz="1200" b="0" i="0" kern="1200">
                <a:solidFill>
                  <a:schemeClr val="tx1"/>
                </a:solidFill>
                <a:effectLst/>
                <a:latin typeface="+mn-lt"/>
                <a:ea typeface="+mn-ea"/>
                <a:cs typeface="+mn-cs"/>
              </a:rPr>
              <a:t> - bậc của đa thức hợp lý thì cả 2 lỗi đều có chiều hướng giảm dần, nhưng vượt qua điểm này thì lỗi tập huấn luyện vẫn tiếp tục nhỏ đi còn tập kiểm chứng lại vọt lên. Điều đó chứng tỏ rằng phía trước </a:t>
            </a:r>
            <a:r>
              <a:rPr lang="vi-VN" sz="1200" b="0" i="1" kern="1200">
                <a:solidFill>
                  <a:schemeClr val="tx1"/>
                </a:solidFill>
                <a:effectLst/>
                <a:latin typeface="+mn-lt"/>
                <a:ea typeface="+mn-ea"/>
                <a:cs typeface="+mn-cs"/>
              </a:rPr>
              <a:t>d</a:t>
            </a:r>
            <a:r>
              <a:rPr lang="vi-VN" sz="1200" b="0" i="0" kern="1200">
                <a:solidFill>
                  <a:schemeClr val="tx1"/>
                </a:solidFill>
                <a:effectLst/>
                <a:latin typeface="+mn-lt"/>
                <a:ea typeface="+mn-ea"/>
                <a:cs typeface="+mn-cs"/>
              </a:rPr>
              <a:t> ta thu được lỗi </a:t>
            </a:r>
            <a:r>
              <a:rPr lang="vi-VN" sz="1200" b="0" i="1" kern="1200">
                <a:solidFill>
                  <a:schemeClr val="tx1"/>
                </a:solidFill>
                <a:effectLst/>
                <a:latin typeface="+mn-lt"/>
                <a:ea typeface="+mn-ea"/>
                <a:cs typeface="+mn-cs"/>
              </a:rPr>
              <a:t>chưa khớp</a:t>
            </a:r>
            <a:r>
              <a:rPr lang="vi-VN" sz="1200" b="0" i="0" kern="1200">
                <a:solidFill>
                  <a:schemeClr val="tx1"/>
                </a:solidFill>
                <a:effectLst/>
                <a:latin typeface="+mn-lt"/>
                <a:ea typeface="+mn-ea"/>
                <a:cs typeface="+mn-cs"/>
              </a:rPr>
              <a:t> và sau </a:t>
            </a:r>
            <a:r>
              <a:rPr lang="vi-VN" sz="1200" b="0" i="1" kern="1200">
                <a:solidFill>
                  <a:schemeClr val="tx1"/>
                </a:solidFill>
                <a:effectLst/>
                <a:latin typeface="+mn-lt"/>
                <a:ea typeface="+mn-ea"/>
                <a:cs typeface="+mn-cs"/>
              </a:rPr>
              <a:t>d</a:t>
            </a:r>
            <a:r>
              <a:rPr lang="vi-VN" sz="1200" b="0" i="0" kern="1200">
                <a:solidFill>
                  <a:schemeClr val="tx1"/>
                </a:solidFill>
                <a:effectLst/>
                <a:latin typeface="+mn-lt"/>
                <a:ea typeface="+mn-ea"/>
                <a:cs typeface="+mn-cs"/>
              </a:rPr>
              <a:t> là lỗi </a:t>
            </a:r>
            <a:r>
              <a:rPr lang="vi-VN" sz="1200" b="0" i="1" kern="1200">
                <a:solidFill>
                  <a:schemeClr val="tx1"/>
                </a:solidFill>
                <a:effectLst/>
                <a:latin typeface="+mn-lt"/>
                <a:ea typeface="+mn-ea"/>
                <a:cs typeface="+mn-cs"/>
              </a:rPr>
              <a:t>quá khớp</a:t>
            </a:r>
            <a:r>
              <a:rPr lang="vi-VN" sz="1200" b="0" i="0" kern="1200">
                <a:solidFill>
                  <a:schemeClr val="tx1"/>
                </a:solidFill>
                <a:effectLst/>
                <a:latin typeface="+mn-lt"/>
                <a:ea typeface="+mn-ea"/>
                <a:cs typeface="+mn-cs"/>
              </a:rPr>
              <a:t>, còn ở </a:t>
            </a:r>
            <a:r>
              <a:rPr lang="vi-VN" sz="1200" b="0" i="1" kern="1200">
                <a:solidFill>
                  <a:schemeClr val="tx1"/>
                </a:solidFill>
                <a:effectLst/>
                <a:latin typeface="+mn-lt"/>
                <a:ea typeface="+mn-ea"/>
                <a:cs typeface="+mn-cs"/>
              </a:rPr>
              <a:t>d</a:t>
            </a:r>
            <a:r>
              <a:rPr lang="vi-VN" sz="1200" b="0" i="0" kern="1200">
                <a:solidFill>
                  <a:schemeClr val="tx1"/>
                </a:solidFill>
                <a:effectLst/>
                <a:latin typeface="+mn-lt"/>
                <a:ea typeface="+mn-ea"/>
                <a:cs typeface="+mn-cs"/>
              </a:rPr>
              <a:t> là </a:t>
            </a:r>
            <a:r>
              <a:rPr lang="vi-VN" sz="1200" b="0" i="1" kern="1200">
                <a:solidFill>
                  <a:schemeClr val="tx1"/>
                </a:solidFill>
                <a:effectLst/>
                <a:latin typeface="+mn-lt"/>
                <a:ea typeface="+mn-ea"/>
                <a:cs typeface="+mn-cs"/>
              </a:rPr>
              <a:t>vừa khớp</a:t>
            </a:r>
            <a:r>
              <a:rPr lang="vi-VN" sz="1200" b="0" i="0" kern="1200">
                <a:solidFill>
                  <a:schemeClr val="tx1"/>
                </a:solidFill>
                <a:effectLst/>
                <a:latin typeface="+mn-lt"/>
                <a:ea typeface="+mn-ea"/>
                <a:cs typeface="+mn-cs"/>
              </a:rPr>
              <a:t>.</a:t>
            </a:r>
            <a:endParaRPr lang="en-US"/>
          </a:p>
        </p:txBody>
      </p:sp>
      <p:sp>
        <p:nvSpPr>
          <p:cNvPr id="4" name="Slide Number Placeholder 3"/>
          <p:cNvSpPr>
            <a:spLocks noGrp="1"/>
          </p:cNvSpPr>
          <p:nvPr>
            <p:ph type="sldNum" sz="quarter" idx="10"/>
          </p:nvPr>
        </p:nvSpPr>
        <p:spPr/>
        <p:txBody>
          <a:bodyPr/>
          <a:lstStyle/>
          <a:p>
            <a:fld id="{CC463546-1025-4321-BA74-FD73FC5957D3}" type="slidenum">
              <a:rPr lang="en-US" smtClean="0"/>
              <a:t>12</a:t>
            </a:fld>
            <a:endParaRPr lang="en-US"/>
          </a:p>
        </p:txBody>
      </p:sp>
    </p:spTree>
    <p:extLst>
      <p:ext uri="{BB962C8B-B14F-4D97-AF65-F5344CB8AC3E}">
        <p14:creationId xmlns:p14="http://schemas.microsoft.com/office/powerpoint/2010/main" val="918873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463546-1025-4321-BA74-FD73FC5957D3}" type="slidenum">
              <a:rPr lang="en-US" smtClean="0"/>
              <a:t>13</a:t>
            </a:fld>
            <a:endParaRPr lang="en-US"/>
          </a:p>
        </p:txBody>
      </p:sp>
    </p:spTree>
    <p:extLst>
      <p:ext uri="{BB962C8B-B14F-4D97-AF65-F5344CB8AC3E}">
        <p14:creationId xmlns:p14="http://schemas.microsoft.com/office/powerpoint/2010/main" val="136531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Trong đó, hệ số chính quy hoá </a:t>
            </a:r>
            <a:r>
              <a:rPr lang="el-GR" sz="1200" b="0" i="1" kern="1200">
                <a:solidFill>
                  <a:schemeClr val="tx1"/>
                </a:solidFill>
                <a:effectLst/>
                <a:latin typeface="+mn-lt"/>
                <a:ea typeface="+mn-ea"/>
                <a:cs typeface="+mn-cs"/>
              </a:rPr>
              <a:t>λ</a:t>
            </a:r>
            <a:r>
              <a:rPr lang="el-GR"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được chọn từ trước để cân bằng giữa </a:t>
            </a:r>
            <a:r>
              <a:rPr lang="vi-VN" sz="1200" b="0" i="1" kern="1200">
                <a:solidFill>
                  <a:schemeClr val="tx1"/>
                </a:solidFill>
                <a:effectLst/>
                <a:latin typeface="+mn-lt"/>
                <a:ea typeface="+mn-ea"/>
                <a:cs typeface="+mn-cs"/>
              </a:rPr>
              <a:t>EX</a:t>
            </a:r>
            <a:r>
              <a:rPr lang="vi-VN" sz="1200" b="0" i="0" kern="1200">
                <a:solidFill>
                  <a:schemeClr val="tx1"/>
                </a:solidFill>
                <a:effectLst/>
                <a:latin typeface="+mn-lt"/>
                <a:ea typeface="+mn-ea"/>
                <a:cs typeface="+mn-cs"/>
              </a:rPr>
              <a:t>​(</a:t>
            </a:r>
            <a:r>
              <a:rPr lang="el-GR" sz="1200" b="0" i="1" kern="1200">
                <a:solidFill>
                  <a:schemeClr val="tx1"/>
                </a:solidFill>
                <a:effectLst/>
                <a:latin typeface="+mn-lt"/>
                <a:ea typeface="+mn-ea"/>
                <a:cs typeface="+mn-cs"/>
              </a:rPr>
              <a:t>θ</a:t>
            </a:r>
            <a:r>
              <a:rPr lang="el-GR"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và )</a:t>
            </a:r>
            <a:r>
              <a:rPr lang="vi-VN" sz="1200" b="0" i="1" kern="1200">
                <a:solidFill>
                  <a:schemeClr val="tx1"/>
                </a:solidFill>
                <a:effectLst/>
                <a:latin typeface="+mn-lt"/>
                <a:ea typeface="+mn-ea"/>
                <a:cs typeface="+mn-cs"/>
              </a:rPr>
              <a:t>E</a:t>
            </a:r>
            <a:r>
              <a:rPr lang="el-GR" sz="1200" b="0" i="1" kern="1200">
                <a:solidFill>
                  <a:schemeClr val="tx1"/>
                </a:solidFill>
                <a:effectLst/>
                <a:latin typeface="+mn-lt"/>
                <a:ea typeface="+mn-ea"/>
                <a:cs typeface="+mn-cs"/>
              </a:rPr>
              <a:t>θ</a:t>
            </a:r>
            <a:r>
              <a:rPr lang="el-GR" sz="1200" b="0" i="0" kern="1200">
                <a:solidFill>
                  <a:schemeClr val="tx1"/>
                </a:solidFill>
                <a:effectLst/>
                <a:latin typeface="+mn-lt"/>
                <a:ea typeface="+mn-ea"/>
                <a:cs typeface="+mn-cs"/>
              </a:rPr>
              <a:t>​(</a:t>
            </a:r>
            <a:r>
              <a:rPr lang="el-GR" sz="1200" b="0" i="1" kern="1200">
                <a:solidFill>
                  <a:schemeClr val="tx1"/>
                </a:solidFill>
                <a:effectLst/>
                <a:latin typeface="+mn-lt"/>
                <a:ea typeface="+mn-ea"/>
                <a:cs typeface="+mn-cs"/>
              </a:rPr>
              <a:t>θ</a:t>
            </a:r>
            <a:r>
              <a:rPr lang="el-GR" sz="1200" b="0" i="0" kern="1200">
                <a:solidFill>
                  <a:schemeClr val="tx1"/>
                </a:solidFill>
                <a:effectLst/>
                <a:latin typeface="+mn-lt"/>
                <a:ea typeface="+mn-ea"/>
                <a:cs typeface="+mn-cs"/>
              </a:rPr>
              <a:t>). </a:t>
            </a:r>
            <a:r>
              <a:rPr lang="el-GR" sz="1200" b="0" i="1" kern="1200">
                <a:solidFill>
                  <a:schemeClr val="tx1"/>
                </a:solidFill>
                <a:effectLst/>
                <a:latin typeface="+mn-lt"/>
                <a:ea typeface="+mn-ea"/>
                <a:cs typeface="+mn-cs"/>
              </a:rPr>
              <a:t>λ</a:t>
            </a:r>
            <a:r>
              <a:rPr lang="el-GR"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càng lớn thì ta càng coi trọng </a:t>
            </a:r>
            <a:r>
              <a:rPr lang="vi-VN" sz="1200" b="0" i="1" kern="1200">
                <a:solidFill>
                  <a:schemeClr val="tx1"/>
                </a:solidFill>
                <a:effectLst/>
                <a:latin typeface="+mn-lt"/>
                <a:ea typeface="+mn-ea"/>
                <a:cs typeface="+mn-cs"/>
              </a:rPr>
              <a:t>E</a:t>
            </a:r>
            <a:r>
              <a:rPr lang="el-GR" sz="1200" b="0" i="1" kern="1200">
                <a:solidFill>
                  <a:schemeClr val="tx1"/>
                </a:solidFill>
                <a:effectLst/>
                <a:latin typeface="+mn-lt"/>
                <a:ea typeface="+mn-ea"/>
                <a:cs typeface="+mn-cs"/>
              </a:rPr>
              <a:t>θ</a:t>
            </a:r>
            <a:r>
              <a:rPr lang="el-GR" sz="1200" b="0" i="0" kern="1200">
                <a:solidFill>
                  <a:schemeClr val="tx1"/>
                </a:solidFill>
                <a:effectLst/>
                <a:latin typeface="+mn-lt"/>
                <a:ea typeface="+mn-ea"/>
                <a:cs typeface="+mn-cs"/>
              </a:rPr>
              <a:t>​(</a:t>
            </a:r>
            <a:r>
              <a:rPr lang="el-GR" sz="1200" b="0" i="1" kern="1200">
                <a:solidFill>
                  <a:schemeClr val="tx1"/>
                </a:solidFill>
                <a:effectLst/>
                <a:latin typeface="+mn-lt"/>
                <a:ea typeface="+mn-ea"/>
                <a:cs typeface="+mn-cs"/>
              </a:rPr>
              <a:t>θ</a:t>
            </a:r>
            <a:r>
              <a:rPr lang="el-GR"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ít coi trọng tham số cho hàm lỗi ban đầu hơn, dẫn tới việc các tham số</a:t>
            </a:r>
            <a:r>
              <a:rPr lang="el-GR" sz="1200" b="0" i="1" kern="1200">
                <a:solidFill>
                  <a:schemeClr val="tx1"/>
                </a:solidFill>
                <a:effectLst/>
                <a:latin typeface="+mn-lt"/>
                <a:ea typeface="+mn-ea"/>
                <a:cs typeface="+mn-cs"/>
              </a:rPr>
              <a:t>θ</a:t>
            </a:r>
            <a:r>
              <a:rPr lang="el-GR"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ít có ảnh hưởng tới mô hình hơn. Hay nói cách khác là mô hình bớt phức tạp đi giúp ta đỡ việc lỗi </a:t>
            </a:r>
            <a:r>
              <a:rPr lang="vi-VN" sz="1200" b="0" i="1" kern="1200">
                <a:solidFill>
                  <a:schemeClr val="tx1"/>
                </a:solidFill>
                <a:effectLst/>
                <a:latin typeface="+mn-lt"/>
                <a:ea typeface="+mn-ea"/>
                <a:cs typeface="+mn-cs"/>
              </a:rPr>
              <a:t>quá khớp</a:t>
            </a:r>
            <a:r>
              <a:rPr lang="vi-VN" sz="1200" b="0" i="0" kern="1200">
                <a:solidFill>
                  <a:schemeClr val="tx1"/>
                </a:solidFill>
                <a:effectLst/>
                <a:latin typeface="+mn-lt"/>
                <a:ea typeface="+mn-ea"/>
                <a:cs typeface="+mn-cs"/>
              </a:rPr>
              <a:t>.</a:t>
            </a:r>
            <a:endParaRPr lang="en-US"/>
          </a:p>
        </p:txBody>
      </p:sp>
      <p:sp>
        <p:nvSpPr>
          <p:cNvPr id="4" name="Slide Number Placeholder 3"/>
          <p:cNvSpPr>
            <a:spLocks noGrp="1"/>
          </p:cNvSpPr>
          <p:nvPr>
            <p:ph type="sldNum" sz="quarter" idx="10"/>
          </p:nvPr>
        </p:nvSpPr>
        <p:spPr/>
        <p:txBody>
          <a:bodyPr/>
          <a:lstStyle/>
          <a:p>
            <a:fld id="{CC463546-1025-4321-BA74-FD73FC5957D3}" type="slidenum">
              <a:rPr lang="en-US" smtClean="0"/>
              <a:t>14</a:t>
            </a:fld>
            <a:endParaRPr lang="en-US"/>
          </a:p>
        </p:txBody>
      </p:sp>
    </p:spTree>
    <p:extLst>
      <p:ext uri="{BB962C8B-B14F-4D97-AF65-F5344CB8AC3E}">
        <p14:creationId xmlns:p14="http://schemas.microsoft.com/office/powerpoint/2010/main" val="4244064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Phương pháp chính quy hoá này còn có tên là </a:t>
            </a:r>
            <a:r>
              <a:rPr lang="vi-VN" sz="1200" b="1" i="0" kern="1200">
                <a:solidFill>
                  <a:schemeClr val="tx1"/>
                </a:solidFill>
                <a:effectLst/>
                <a:latin typeface="+mn-lt"/>
                <a:ea typeface="+mn-ea"/>
                <a:cs typeface="+mn-cs"/>
              </a:rPr>
              <a:t>cắt trọng số</a:t>
            </a:r>
            <a:r>
              <a:rPr lang="vi-VN" sz="1200" b="0" i="0" kern="1200">
                <a:solidFill>
                  <a:schemeClr val="tx1"/>
                </a:solidFill>
                <a:effectLst/>
                <a:latin typeface="+mn-lt"/>
                <a:ea typeface="+mn-ea"/>
                <a:cs typeface="+mn-cs"/>
              </a:rPr>
              <a:t> (</a:t>
            </a:r>
            <a:r>
              <a:rPr lang="vi-VN" sz="1200" b="0" i="1" kern="1200">
                <a:solidFill>
                  <a:schemeClr val="tx1"/>
                </a:solidFill>
                <a:effectLst/>
                <a:latin typeface="+mn-lt"/>
                <a:ea typeface="+mn-ea"/>
                <a:cs typeface="+mn-cs"/>
              </a:rPr>
              <a:t>weight decay</a:t>
            </a:r>
            <a:r>
              <a:rPr lang="vi-VN" sz="1200" b="0" i="0" kern="1200">
                <a:solidFill>
                  <a:schemeClr val="tx1"/>
                </a:solidFill>
                <a:effectLst/>
                <a:latin typeface="+mn-lt"/>
                <a:ea typeface="+mn-ea"/>
                <a:cs typeface="+mn-cs"/>
              </a:rPr>
              <a:t>) vì nó làm cho các trọng số (tham số </a:t>
            </a:r>
            <a:r>
              <a:rPr lang="el-GR" sz="1200" b="0" i="1" kern="1200">
                <a:solidFill>
                  <a:schemeClr val="tx1"/>
                </a:solidFill>
                <a:effectLst/>
                <a:latin typeface="+mn-lt"/>
                <a:ea typeface="+mn-ea"/>
                <a:cs typeface="+mn-cs"/>
              </a:rPr>
              <a:t>θ</a:t>
            </a:r>
            <a:r>
              <a:rPr lang="el-GR"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bị tiêu biến dần về 0 trong khi học. Còn trong thống kê, phương pháp này có tên là </a:t>
            </a:r>
            <a:r>
              <a:rPr lang="vi-VN" sz="1200" b="1" i="0" kern="1200">
                <a:solidFill>
                  <a:schemeClr val="tx1"/>
                </a:solidFill>
                <a:effectLst/>
                <a:latin typeface="+mn-lt"/>
                <a:ea typeface="+mn-ea"/>
                <a:cs typeface="+mn-cs"/>
              </a:rPr>
              <a:t>co tham số</a:t>
            </a:r>
            <a:r>
              <a:rPr lang="vi-VN" sz="1200" b="0" i="0" kern="1200">
                <a:solidFill>
                  <a:schemeClr val="tx1"/>
                </a:solidFill>
                <a:effectLst/>
                <a:latin typeface="+mn-lt"/>
                <a:ea typeface="+mn-ea"/>
                <a:cs typeface="+mn-cs"/>
              </a:rPr>
              <a:t> (</a:t>
            </a:r>
            <a:r>
              <a:rPr lang="vi-VN" sz="1200" b="0" i="1" kern="1200">
                <a:solidFill>
                  <a:schemeClr val="tx1"/>
                </a:solidFill>
                <a:effectLst/>
                <a:latin typeface="+mn-lt"/>
                <a:ea typeface="+mn-ea"/>
                <a:cs typeface="+mn-cs"/>
              </a:rPr>
              <a:t>parameter shrinkage</a:t>
            </a:r>
            <a:r>
              <a:rPr lang="vi-VN" sz="1200" b="0" i="0" kern="1200">
                <a:solidFill>
                  <a:schemeClr val="tx1"/>
                </a:solidFill>
                <a:effectLst/>
                <a:latin typeface="+mn-lt"/>
                <a:ea typeface="+mn-ea"/>
                <a:cs typeface="+mn-cs"/>
              </a:rPr>
              <a:t>) vì nó làm co lại các giá trị tham số dần về 0.</a:t>
            </a:r>
            <a:endParaRPr lang="en-US" sz="1200" b="0" i="0" kern="1200">
              <a:solidFill>
                <a:schemeClr val="tx1"/>
              </a:solidFill>
              <a:effectLst/>
              <a:latin typeface="+mn-lt"/>
              <a:ea typeface="+mn-ea"/>
              <a:cs typeface="+mn-cs"/>
            </a:endParaRPr>
          </a:p>
          <a:p>
            <a:r>
              <a:rPr lang="en-US"/>
              <a:t>Ridge Regression</a:t>
            </a:r>
          </a:p>
          <a:p>
            <a:r>
              <a:rPr lang="vi-VN" i="0"/>
              <a:t>Lasso</a:t>
            </a:r>
            <a:r>
              <a:rPr lang="en-US" i="0"/>
              <a:t> Regression</a:t>
            </a:r>
          </a:p>
          <a:p>
            <a:r>
              <a:rPr lang="el-GR" sz="1200" b="0" i="0" kern="1200">
                <a:solidFill>
                  <a:schemeClr val="tx1"/>
                </a:solidFill>
                <a:effectLst/>
                <a:latin typeface="+mn-lt"/>
                <a:ea typeface="+mn-ea"/>
                <a:cs typeface="+mn-cs"/>
              </a:rPr>
              <a:t>θ </a:t>
            </a:r>
            <a:r>
              <a:rPr lang="vi-VN" sz="1200" b="0" i="0" kern="1200">
                <a:solidFill>
                  <a:schemeClr val="tx1"/>
                </a:solidFill>
                <a:effectLst/>
                <a:latin typeface="+mn-lt"/>
                <a:ea typeface="+mn-ea"/>
                <a:cs typeface="+mn-cs"/>
              </a:rPr>
              <a:t>được dùng để ký hiệu các biến trong mô hình</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là số hạng </a:t>
            </a:r>
            <a:r>
              <a:rPr lang="en-US" sz="1200" b="0" i="1" kern="1200">
                <a:solidFill>
                  <a:schemeClr val="tx1"/>
                </a:solidFill>
                <a:effectLst/>
                <a:latin typeface="+mn-lt"/>
                <a:ea typeface="+mn-ea"/>
                <a:cs typeface="+mn-cs"/>
              </a:rPr>
              <a:t>regularization</a:t>
            </a:r>
          </a:p>
          <a:p>
            <a:r>
              <a:rPr lang="vi-VN" sz="1200" b="0" i="0" kern="1200">
                <a:solidFill>
                  <a:schemeClr val="tx1"/>
                </a:solidFill>
                <a:effectLst/>
                <a:latin typeface="+mn-lt"/>
                <a:ea typeface="+mn-ea"/>
                <a:cs typeface="+mn-cs"/>
              </a:rPr>
              <a:t>tham số regularization (</a:t>
            </a:r>
            <a:r>
              <a:rPr lang="vi-VN" sz="1200" b="0" i="1" kern="1200">
                <a:solidFill>
                  <a:schemeClr val="tx1"/>
                </a:solidFill>
                <a:effectLst/>
                <a:latin typeface="+mn-lt"/>
                <a:ea typeface="+mn-ea"/>
                <a:cs typeface="+mn-cs"/>
              </a:rPr>
              <a:t>regularization parameter</a:t>
            </a:r>
            <a:r>
              <a:rPr lang="vi-VN" sz="1200" b="0" i="0" kern="1200">
                <a:solidFill>
                  <a:schemeClr val="tx1"/>
                </a:solidFill>
                <a:effectLst/>
                <a:latin typeface="+mn-lt"/>
                <a:ea typeface="+mn-ea"/>
                <a:cs typeface="+mn-cs"/>
              </a:rPr>
              <a:t>) </a:t>
            </a:r>
            <a:r>
              <a:rPr lang="el-GR" sz="1200" b="0" i="0" kern="1200">
                <a:solidFill>
                  <a:schemeClr val="tx1"/>
                </a:solidFill>
                <a:effectLst/>
                <a:latin typeface="+mn-lt"/>
                <a:ea typeface="+mn-ea"/>
                <a:cs typeface="+mn-cs"/>
              </a:rPr>
              <a:t>λ</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thường được chọn là một số nhỏ để biểu thức regularization không làm giảm quá nhiều chất lượng của nghiệm.</a:t>
            </a:r>
          </a:p>
          <a:p>
            <a:r>
              <a:rPr lang="vi-VN"/>
              <a:t/>
            </a:r>
            <a:br>
              <a:rPr lang="vi-VN"/>
            </a:br>
            <a:endParaRPr lang="en-US" i="0"/>
          </a:p>
        </p:txBody>
      </p:sp>
      <p:sp>
        <p:nvSpPr>
          <p:cNvPr id="4" name="Slide Number Placeholder 3"/>
          <p:cNvSpPr>
            <a:spLocks noGrp="1"/>
          </p:cNvSpPr>
          <p:nvPr>
            <p:ph type="sldNum" sz="quarter" idx="10"/>
          </p:nvPr>
        </p:nvSpPr>
        <p:spPr/>
        <p:txBody>
          <a:bodyPr/>
          <a:lstStyle/>
          <a:p>
            <a:fld id="{CC463546-1025-4321-BA74-FD73FC5957D3}" type="slidenum">
              <a:rPr lang="en-US" smtClean="0"/>
              <a:t>15</a:t>
            </a:fld>
            <a:endParaRPr lang="en-US"/>
          </a:p>
        </p:txBody>
      </p:sp>
    </p:spTree>
    <p:extLst>
      <p:ext uri="{BB962C8B-B14F-4D97-AF65-F5344CB8AC3E}">
        <p14:creationId xmlns:p14="http://schemas.microsoft.com/office/powerpoint/2010/main" val="4268500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Với hàm lỗi của hồi quy tuyến tính thì ta thường chia lấy trung bình của toàn mẫu nên số hạng chính quy hoá cũng sẽ được chia tương tự. Ngoài ra ta cũng thường lấy </a:t>
            </a:r>
            <a:r>
              <a:rPr lang="vi-VN" sz="1200" b="0" i="1" kern="1200">
                <a:solidFill>
                  <a:schemeClr val="tx1"/>
                </a:solidFill>
                <a:effectLst/>
                <a:latin typeface="+mn-lt"/>
                <a:ea typeface="+mn-ea"/>
                <a:cs typeface="+mn-cs"/>
              </a:rPr>
              <a:t>L2</a:t>
            </a:r>
            <a:r>
              <a:rPr lang="vi-VN" sz="1200" b="0" i="0" kern="1200">
                <a:solidFill>
                  <a:schemeClr val="tx1"/>
                </a:solidFill>
                <a:effectLst/>
                <a:latin typeface="+mn-lt"/>
                <a:ea typeface="+mn-ea"/>
                <a:cs typeface="+mn-cs"/>
              </a:rPr>
              <a:t> để thực hiện việc chính quy hoá</a:t>
            </a:r>
            <a:endParaRPr lang="en-US"/>
          </a:p>
        </p:txBody>
      </p:sp>
      <p:sp>
        <p:nvSpPr>
          <p:cNvPr id="4" name="Slide Number Placeholder 3"/>
          <p:cNvSpPr>
            <a:spLocks noGrp="1"/>
          </p:cNvSpPr>
          <p:nvPr>
            <p:ph type="sldNum" sz="quarter" idx="10"/>
          </p:nvPr>
        </p:nvSpPr>
        <p:spPr/>
        <p:txBody>
          <a:bodyPr/>
          <a:lstStyle/>
          <a:p>
            <a:fld id="{CC463546-1025-4321-BA74-FD73FC5957D3}" type="slidenum">
              <a:rPr lang="en-US" smtClean="0"/>
              <a:t>16</a:t>
            </a:fld>
            <a:endParaRPr lang="en-US"/>
          </a:p>
        </p:txBody>
      </p:sp>
    </p:spTree>
    <p:extLst>
      <p:ext uri="{BB962C8B-B14F-4D97-AF65-F5344CB8AC3E}">
        <p14:creationId xmlns:p14="http://schemas.microsoft.com/office/powerpoint/2010/main" val="1982802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smtClean="0">
                <a:solidFill>
                  <a:schemeClr val="tx1"/>
                </a:solidFill>
                <a:effectLst/>
                <a:latin typeface="+mn-lt"/>
                <a:ea typeface="+mn-ea"/>
                <a:cs typeface="+mn-cs"/>
              </a:rPr>
              <a:t>Thuật toán dừng lại khi y thay đổi rất nhỏ hoặc trị tuyệt đối các đạo hàm riêng rất nhỏ. Nếu thuật toán không thể kết thúc thì chọn giá trị </a:t>
            </a:r>
            <a:r>
              <a:rPr lang="el-GR" sz="1200" b="0" i="0" kern="1200" smtClean="0">
                <a:solidFill>
                  <a:schemeClr val="tx1"/>
                </a:solidFill>
                <a:effectLst/>
                <a:latin typeface="+mn-lt"/>
                <a:ea typeface="+mn-ea"/>
                <a:cs typeface="+mn-cs"/>
              </a:rPr>
              <a:t>α </a:t>
            </a:r>
            <a:r>
              <a:rPr lang="vi-VN" sz="1200" b="0" i="0" kern="1200" smtClean="0">
                <a:solidFill>
                  <a:schemeClr val="tx1"/>
                </a:solidFill>
                <a:effectLst/>
                <a:latin typeface="+mn-lt"/>
                <a:ea typeface="+mn-ea"/>
                <a:cs typeface="+mn-cs"/>
              </a:rPr>
              <a:t>nhỏ hơn rồi quay lại bước 2.</a:t>
            </a:r>
            <a:endParaRPr lang="en-US"/>
          </a:p>
        </p:txBody>
      </p:sp>
      <p:sp>
        <p:nvSpPr>
          <p:cNvPr id="4" name="Slide Number Placeholder 3"/>
          <p:cNvSpPr>
            <a:spLocks noGrp="1"/>
          </p:cNvSpPr>
          <p:nvPr>
            <p:ph type="sldNum" sz="quarter" idx="10"/>
          </p:nvPr>
        </p:nvSpPr>
        <p:spPr/>
        <p:txBody>
          <a:bodyPr/>
          <a:lstStyle/>
          <a:p>
            <a:fld id="{CC463546-1025-4321-BA74-FD73FC5957D3}" type="slidenum">
              <a:rPr lang="en-US" smtClean="0"/>
              <a:t>18</a:t>
            </a:fld>
            <a:endParaRPr lang="en-US"/>
          </a:p>
        </p:txBody>
      </p:sp>
    </p:spTree>
    <p:extLst>
      <p:ext uri="{BB962C8B-B14F-4D97-AF65-F5344CB8AC3E}">
        <p14:creationId xmlns:p14="http://schemas.microsoft.com/office/powerpoint/2010/main" val="963681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smtClean="0">
                <a:solidFill>
                  <a:schemeClr val="tx1"/>
                </a:solidFill>
                <a:effectLst/>
                <a:latin typeface="+mn-lt"/>
                <a:ea typeface="+mn-ea"/>
                <a:cs typeface="+mn-cs"/>
              </a:rPr>
              <a:t>Overshooting</a:t>
            </a:r>
          </a:p>
          <a:p>
            <a:endParaRPr lang="en-US"/>
          </a:p>
        </p:txBody>
      </p:sp>
      <p:sp>
        <p:nvSpPr>
          <p:cNvPr id="4" name="Slide Number Placeholder 3"/>
          <p:cNvSpPr>
            <a:spLocks noGrp="1"/>
          </p:cNvSpPr>
          <p:nvPr>
            <p:ph type="sldNum" sz="quarter" idx="10"/>
          </p:nvPr>
        </p:nvSpPr>
        <p:spPr/>
        <p:txBody>
          <a:bodyPr/>
          <a:lstStyle/>
          <a:p>
            <a:fld id="{CC463546-1025-4321-BA74-FD73FC5957D3}" type="slidenum">
              <a:rPr lang="en-US" smtClean="0"/>
              <a:t>19</a:t>
            </a:fld>
            <a:endParaRPr lang="en-US"/>
          </a:p>
        </p:txBody>
      </p:sp>
    </p:spTree>
    <p:extLst>
      <p:ext uri="{BB962C8B-B14F-4D97-AF65-F5344CB8AC3E}">
        <p14:creationId xmlns:p14="http://schemas.microsoft.com/office/powerpoint/2010/main" val="3417271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https://dominhhai.github.io/vi/2017/12/ml-overfitting/</a:t>
            </a:r>
          </a:p>
        </p:txBody>
      </p:sp>
      <p:sp>
        <p:nvSpPr>
          <p:cNvPr id="4" name="Slide Number Placeholder 3"/>
          <p:cNvSpPr>
            <a:spLocks noGrp="1"/>
          </p:cNvSpPr>
          <p:nvPr>
            <p:ph type="sldNum" sz="quarter" idx="10"/>
          </p:nvPr>
        </p:nvSpPr>
        <p:spPr/>
        <p:txBody>
          <a:bodyPr/>
          <a:lstStyle/>
          <a:p>
            <a:fld id="{CC463546-1025-4321-BA74-FD73FC5957D3}" type="slidenum">
              <a:rPr lang="en-US" smtClean="0"/>
              <a:t>22</a:t>
            </a:fld>
            <a:endParaRPr lang="en-US"/>
          </a:p>
        </p:txBody>
      </p:sp>
    </p:spTree>
    <p:extLst>
      <p:ext uri="{BB962C8B-B14F-4D97-AF65-F5344CB8AC3E}">
        <p14:creationId xmlns:p14="http://schemas.microsoft.com/office/powerpoint/2010/main" val="2660042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3467637-2296-4420-9726-1C405D76E29D}" type="datetimeFigureOut">
              <a:rPr lang="en-US" smtClean="0"/>
              <a:t>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196789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3467637-2296-4420-9726-1C405D76E29D}" type="datetimeFigureOut">
              <a:rPr lang="en-US" smtClean="0"/>
              <a:t>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3067582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3467637-2296-4420-9726-1C405D76E29D}" type="datetimeFigureOut">
              <a:rPr lang="en-US" smtClean="0"/>
              <a:t>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4074158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3467637-2296-4420-9726-1C405D76E29D}" type="datetimeFigureOut">
              <a:rPr lang="en-US" smtClean="0"/>
              <a:t>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436119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3467637-2296-4420-9726-1C405D76E29D}" type="datetimeFigureOut">
              <a:rPr lang="en-US" smtClean="0"/>
              <a:t>2/25/2023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2093796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3467637-2296-4420-9726-1C405D76E29D}" type="datetimeFigureOut">
              <a:rPr lang="en-US" smtClean="0"/>
              <a:t>2/25/2023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2139200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467637-2296-4420-9726-1C405D76E29D}" type="datetimeFigureOut">
              <a:rPr lang="en-US" smtClean="0"/>
              <a:t>2/25/2023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3871855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3467637-2296-4420-9726-1C405D76E29D}" type="datetimeFigureOut">
              <a:rPr lang="en-US" smtClean="0"/>
              <a:t>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1554015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3467637-2296-4420-9726-1C405D76E29D}" type="datetimeFigureOut">
              <a:rPr lang="en-US" smtClean="0"/>
              <a:t>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2759308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467637-2296-4420-9726-1C405D76E29D}" type="datetimeFigureOut">
              <a:rPr lang="en-US" smtClean="0"/>
              <a:t>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4042841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467637-2296-4420-9726-1C405D76E29D}" type="datetimeFigureOut">
              <a:rPr lang="en-US" smtClean="0"/>
              <a:t>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B292D-355D-430B-AE06-0A0C5926F721}" type="slidenum">
              <a:rPr lang="en-US" smtClean="0"/>
              <a:t>‹#›</a:t>
            </a:fld>
            <a:endParaRPr lang="en-US"/>
          </a:p>
        </p:txBody>
      </p:sp>
    </p:spTree>
    <p:extLst>
      <p:ext uri="{BB962C8B-B14F-4D97-AF65-F5344CB8AC3E}">
        <p14:creationId xmlns:p14="http://schemas.microsoft.com/office/powerpoint/2010/main" val="2501649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467637-2296-4420-9726-1C405D76E29D}" type="datetimeFigureOut">
              <a:rPr lang="en-US" smtClean="0"/>
              <a:t>2/25/2023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9B292D-355D-430B-AE06-0A0C5926F721}" type="slidenum">
              <a:rPr lang="en-US" smtClean="0"/>
              <a:t>‹#›</a:t>
            </a:fld>
            <a:endParaRPr lang="en-US"/>
          </a:p>
        </p:txBody>
      </p:sp>
    </p:spTree>
    <p:extLst>
      <p:ext uri="{BB962C8B-B14F-4D97-AF65-F5344CB8AC3E}">
        <p14:creationId xmlns:p14="http://schemas.microsoft.com/office/powerpoint/2010/main" val="3667877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0070C0"/>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hyperlink" Target="http://www.benfrederickson.com/numerical-optimization/"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minhhai.github.io/vi/2017/12/ml-overfitting/"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machinelearningcoban.com/2017/03/04/overfit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Evaluation</a:t>
            </a:r>
          </a:p>
        </p:txBody>
      </p:sp>
      <p:sp>
        <p:nvSpPr>
          <p:cNvPr id="6" name="Subtitle 5">
            <a:extLst>
              <a:ext uri="{FF2B5EF4-FFF2-40B4-BE49-F238E27FC236}">
                <a16:creationId xmlns:a16="http://schemas.microsoft.com/office/drawing/2014/main" id="{B7A48C56-CCDC-AEDC-C07C-29ACF64F3D9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27541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Nội dung</a:t>
            </a:r>
          </a:p>
        </p:txBody>
      </p:sp>
      <p:sp>
        <p:nvSpPr>
          <p:cNvPr id="3" name="Content Placeholder 2"/>
          <p:cNvSpPr>
            <a:spLocks noGrp="1"/>
          </p:cNvSpPr>
          <p:nvPr>
            <p:ph idx="1"/>
          </p:nvPr>
        </p:nvSpPr>
        <p:spPr/>
        <p:txBody>
          <a:bodyPr/>
          <a:lstStyle/>
          <a:p>
            <a:pPr>
              <a:buFont typeface="Wingdings" panose="05000000000000000000" pitchFamily="2" charset="2"/>
              <a:buChar char="q"/>
            </a:pPr>
            <a:endParaRPr lang="en-US" i="1" dirty="0"/>
          </a:p>
          <a:p>
            <a:pPr>
              <a:buFont typeface="Wingdings" panose="05000000000000000000" pitchFamily="2" charset="2"/>
              <a:buChar char="q"/>
            </a:pPr>
            <a:r>
              <a:rPr lang="en-US" dirty="0"/>
              <a:t>Accuracy, </a:t>
            </a:r>
            <a:r>
              <a:rPr lang="vi-VN" dirty="0"/>
              <a:t>Confusion Matrix</a:t>
            </a:r>
            <a:r>
              <a:rPr lang="en-US" dirty="0"/>
              <a:t>, </a:t>
            </a:r>
            <a:r>
              <a:rPr lang="en-US" dirty="0" err="1"/>
              <a:t>F1</a:t>
            </a:r>
            <a:r>
              <a:rPr lang="en-US" dirty="0"/>
              <a:t>-Score</a:t>
            </a:r>
            <a:endParaRPr lang="en-US" i="1" dirty="0"/>
          </a:p>
          <a:p>
            <a:pPr>
              <a:buFont typeface="Wingdings" panose="05000000000000000000" pitchFamily="2" charset="2"/>
              <a:buChar char="q"/>
            </a:pPr>
            <a:r>
              <a:rPr lang="vi-VN" dirty="0"/>
              <a:t>Over-fitting</a:t>
            </a:r>
            <a:endParaRPr lang="en-US" dirty="0"/>
          </a:p>
          <a:p>
            <a:pPr>
              <a:buFont typeface="Wingdings" panose="05000000000000000000" pitchFamily="2" charset="2"/>
              <a:buChar char="q"/>
            </a:pPr>
            <a:r>
              <a:rPr lang="vi-VN" dirty="0"/>
              <a:t>Under-fitting</a:t>
            </a:r>
            <a:endParaRPr lang="en-US" dirty="0"/>
          </a:p>
          <a:p>
            <a:pPr>
              <a:buFont typeface="Wingdings" panose="05000000000000000000" pitchFamily="2" charset="2"/>
              <a:buChar char="q"/>
            </a:pPr>
            <a:r>
              <a:rPr lang="en-US" dirty="0" err="1"/>
              <a:t>Kỹ</a:t>
            </a:r>
            <a:r>
              <a:rPr lang="en-US" dirty="0"/>
              <a:t> </a:t>
            </a:r>
            <a:r>
              <a:rPr lang="en-US" dirty="0" err="1"/>
              <a:t>thuật</a:t>
            </a:r>
            <a:r>
              <a:rPr lang="en-US" dirty="0"/>
              <a:t> </a:t>
            </a:r>
            <a:r>
              <a:rPr lang="en-US" dirty="0" err="1"/>
              <a:t>chính</a:t>
            </a:r>
            <a:r>
              <a:rPr lang="en-US" dirty="0"/>
              <a:t> </a:t>
            </a:r>
            <a:r>
              <a:rPr lang="en-US" dirty="0" err="1"/>
              <a:t>quy</a:t>
            </a:r>
            <a:r>
              <a:rPr lang="en-US" dirty="0"/>
              <a:t> </a:t>
            </a:r>
            <a:r>
              <a:rPr lang="en-US" dirty="0" err="1"/>
              <a:t>hoá</a:t>
            </a:r>
            <a:r>
              <a:rPr lang="en-US" dirty="0"/>
              <a:t> (regularization)</a:t>
            </a:r>
          </a:p>
        </p:txBody>
      </p:sp>
    </p:spTree>
    <p:extLst>
      <p:ext uri="{BB962C8B-B14F-4D97-AF65-F5344CB8AC3E}">
        <p14:creationId xmlns:p14="http://schemas.microsoft.com/office/powerpoint/2010/main" val="2676405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E3E72-A81D-6D07-F61C-B683B00AEB4A}"/>
              </a:ext>
            </a:extLst>
          </p:cNvPr>
          <p:cNvSpPr>
            <a:spLocks noGrp="1"/>
          </p:cNvSpPr>
          <p:nvPr>
            <p:ph type="title"/>
          </p:nvPr>
        </p:nvSpPr>
        <p:spPr/>
        <p:txBody>
          <a:bodyPr/>
          <a:lstStyle/>
          <a:p>
            <a:r>
              <a:rPr lang="en-US" dirty="0"/>
              <a:t>Accuracy</a:t>
            </a:r>
          </a:p>
        </p:txBody>
      </p:sp>
      <p:sp>
        <p:nvSpPr>
          <p:cNvPr id="3" name="Content Placeholder 2">
            <a:extLst>
              <a:ext uri="{FF2B5EF4-FFF2-40B4-BE49-F238E27FC236}">
                <a16:creationId xmlns:a16="http://schemas.microsoft.com/office/drawing/2014/main" id="{D161357A-CD74-F406-71F0-79AC468B82BD}"/>
              </a:ext>
            </a:extLst>
          </p:cNvPr>
          <p:cNvSpPr>
            <a:spLocks noGrp="1"/>
          </p:cNvSpPr>
          <p:nvPr>
            <p:ph idx="1"/>
          </p:nvPr>
        </p:nvSpPr>
        <p:spPr/>
        <p:txBody>
          <a:bodyPr/>
          <a:lstStyle/>
          <a:p>
            <a:pPr algn="just" fontAlgn="base"/>
            <a:r>
              <a:rPr lang="vi-VN" b="0" i="0" dirty="0">
                <a:solidFill>
                  <a:srgbClr val="404040"/>
                </a:solidFill>
                <a:effectLst/>
                <a:latin typeface="Source Sans Pro" panose="020B0604020202020204" pitchFamily="34" charset="0"/>
              </a:rPr>
              <a:t>Accuracy (độ chính xác) chỉ đơn giản đánh giá mô hình thường xuyên dự đoán đúng đến mức nào. Độ chính xác là tỉ lệ giữa số điểm dữ liệu được dự đoán đúng và tổng số điểm dữ liệu.</a:t>
            </a:r>
            <a:endParaRPr lang="en-US" b="0" i="0" dirty="0">
              <a:solidFill>
                <a:srgbClr val="404040"/>
              </a:solidFill>
              <a:effectLst/>
              <a:latin typeface="Source Sans Pro" panose="020B0604020202020204" pitchFamily="34" charset="0"/>
            </a:endParaRPr>
          </a:p>
          <a:p>
            <a:pPr algn="just" fontAlgn="base"/>
            <a:endParaRPr lang="en-US" dirty="0">
              <a:solidFill>
                <a:srgbClr val="404040"/>
              </a:solidFill>
              <a:latin typeface="Source Sans Pro" panose="020B0604020202020204" pitchFamily="34" charset="0"/>
            </a:endParaRPr>
          </a:p>
          <a:p>
            <a:pPr algn="just" fontAlgn="base"/>
            <a:endParaRPr lang="en-US" b="0" i="0" dirty="0">
              <a:solidFill>
                <a:srgbClr val="404040"/>
              </a:solidFill>
              <a:effectLst/>
              <a:latin typeface="Source Sans Pro" panose="020B0604020202020204" pitchFamily="34" charset="0"/>
            </a:endParaRPr>
          </a:p>
          <a:p>
            <a:pPr algn="just" fontAlgn="base"/>
            <a:endParaRPr lang="en-US" dirty="0">
              <a:solidFill>
                <a:srgbClr val="404040"/>
              </a:solidFill>
              <a:latin typeface="Source Sans Pro" panose="020B0604020202020204" pitchFamily="34" charset="0"/>
            </a:endParaRPr>
          </a:p>
          <a:p>
            <a:pPr fontAlgn="base"/>
            <a:r>
              <a:rPr lang="vi-VN" b="0" i="0" dirty="0">
                <a:solidFill>
                  <a:srgbClr val="404040"/>
                </a:solidFill>
                <a:effectLst/>
                <a:latin typeface="Source Sans Pro" panose="020B0503030403020204" pitchFamily="34" charset="0"/>
              </a:rPr>
              <a:t>Nhược điểm của Accuracy là chỉ cho ta biết độ chính xác khi dự báo của mô hình, nhưng không thể hiện mô hình đang dự đoán sai</a:t>
            </a:r>
            <a:r>
              <a:rPr lang="en-US" b="0" i="0" dirty="0">
                <a:solidFill>
                  <a:srgbClr val="404040"/>
                </a:solidFill>
                <a:effectLst/>
                <a:latin typeface="Source Sans Pro" panose="020B0503030403020204" pitchFamily="34" charset="0"/>
              </a:rPr>
              <a:t>.</a:t>
            </a:r>
          </a:p>
          <a:p>
            <a:pPr marL="0" indent="0" algn="just" fontAlgn="base">
              <a:buNone/>
            </a:pPr>
            <a:endParaRPr lang="vi-VN" b="0" i="0" dirty="0">
              <a:solidFill>
                <a:srgbClr val="404040"/>
              </a:solidFill>
              <a:effectLst/>
              <a:latin typeface="Source Sans Pro" panose="020B0604020202020204" pitchFamily="34" charset="0"/>
            </a:endParaRPr>
          </a:p>
          <a:p>
            <a:endParaRPr lang="en-US" dirty="0"/>
          </a:p>
        </p:txBody>
      </p:sp>
      <p:pic>
        <p:nvPicPr>
          <p:cNvPr id="5" name="Picture 4">
            <a:extLst>
              <a:ext uri="{FF2B5EF4-FFF2-40B4-BE49-F238E27FC236}">
                <a16:creationId xmlns:a16="http://schemas.microsoft.com/office/drawing/2014/main" id="{554E8EDD-FE56-53BC-8AFC-FFFF708EAA13}"/>
              </a:ext>
            </a:extLst>
          </p:cNvPr>
          <p:cNvPicPr>
            <a:picLocks noChangeAspect="1"/>
          </p:cNvPicPr>
          <p:nvPr/>
        </p:nvPicPr>
        <p:blipFill>
          <a:blip r:embed="rId2"/>
          <a:stretch>
            <a:fillRect/>
          </a:stretch>
        </p:blipFill>
        <p:spPr>
          <a:xfrm>
            <a:off x="3258011" y="3175384"/>
            <a:ext cx="5400675" cy="1209675"/>
          </a:xfrm>
          <a:prstGeom prst="rect">
            <a:avLst/>
          </a:prstGeom>
        </p:spPr>
      </p:pic>
    </p:spTree>
    <p:extLst>
      <p:ext uri="{BB962C8B-B14F-4D97-AF65-F5344CB8AC3E}">
        <p14:creationId xmlns:p14="http://schemas.microsoft.com/office/powerpoint/2010/main" val="737180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10F78-211F-BD00-96B4-2415B692787C}"/>
              </a:ext>
            </a:extLst>
          </p:cNvPr>
          <p:cNvSpPr>
            <a:spLocks noGrp="1"/>
          </p:cNvSpPr>
          <p:nvPr>
            <p:ph type="title"/>
          </p:nvPr>
        </p:nvSpPr>
        <p:spPr/>
        <p:txBody>
          <a:bodyPr/>
          <a:lstStyle/>
          <a:p>
            <a:r>
              <a:rPr lang="vi-VN" dirty="0"/>
              <a:t>Confusion Matrix</a:t>
            </a:r>
            <a:endParaRPr lang="en-US" dirty="0"/>
          </a:p>
        </p:txBody>
      </p:sp>
      <p:pic>
        <p:nvPicPr>
          <p:cNvPr id="1026" name="Picture 2">
            <a:extLst>
              <a:ext uri="{FF2B5EF4-FFF2-40B4-BE49-F238E27FC236}">
                <a16:creationId xmlns:a16="http://schemas.microsoft.com/office/drawing/2014/main" id="{29840625-EA50-109A-A55E-6F67588EDC51}"/>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30194" y="2108343"/>
            <a:ext cx="6202394" cy="3496044"/>
          </a:xfrm>
        </p:spPr>
      </p:pic>
      <p:sp>
        <p:nvSpPr>
          <p:cNvPr id="5" name="Content Placeholder 4">
            <a:extLst>
              <a:ext uri="{FF2B5EF4-FFF2-40B4-BE49-F238E27FC236}">
                <a16:creationId xmlns:a16="http://schemas.microsoft.com/office/drawing/2014/main" id="{B804C68A-6CB6-6F43-4352-2A0643D5AD22}"/>
              </a:ext>
            </a:extLst>
          </p:cNvPr>
          <p:cNvSpPr>
            <a:spLocks noGrp="1"/>
          </p:cNvSpPr>
          <p:nvPr>
            <p:ph sz="half" idx="2"/>
          </p:nvPr>
        </p:nvSpPr>
        <p:spPr>
          <a:xfrm>
            <a:off x="6172200" y="560439"/>
            <a:ext cx="5715000" cy="5932436"/>
          </a:xfrm>
        </p:spPr>
        <p:txBody>
          <a:bodyPr>
            <a:normAutofit fontScale="92500"/>
          </a:bodyPr>
          <a:lstStyle/>
          <a:p>
            <a:pPr algn="just"/>
            <a:r>
              <a:rPr lang="vi-VN" dirty="0"/>
              <a:t>True Positive (TP): đối tượng ở lớp Positive, mô hình phân đối tượng vào lớp Positive (dự đoán đúng)</a:t>
            </a:r>
          </a:p>
          <a:p>
            <a:pPr algn="just"/>
            <a:r>
              <a:rPr lang="vi-VN" dirty="0"/>
              <a:t>True Negative (TN): đối tượng ở lớp Negative, mô hình phân đối tượng vào lớp Negative (dự đoán đúng)</a:t>
            </a:r>
          </a:p>
          <a:p>
            <a:pPr algn="just"/>
            <a:r>
              <a:rPr lang="vi-VN" dirty="0"/>
              <a:t>False Positive (FP): đối tượng ở lớp Negative, mô hình phân đối tượng vào lớp Positive (dự đoán sai) – Type I Error</a:t>
            </a:r>
          </a:p>
          <a:p>
            <a:pPr algn="just"/>
            <a:r>
              <a:rPr lang="vi-VN" dirty="0"/>
              <a:t>False Negative (FN): đối tượng ở lớp Positive, mô hình phân đối tượng vào lớp Negative (dự đoán sai) – Type II Error</a:t>
            </a:r>
          </a:p>
          <a:p>
            <a:endParaRPr lang="en-US" dirty="0"/>
          </a:p>
        </p:txBody>
      </p:sp>
    </p:spTree>
    <p:extLst>
      <p:ext uri="{BB962C8B-B14F-4D97-AF65-F5344CB8AC3E}">
        <p14:creationId xmlns:p14="http://schemas.microsoft.com/office/powerpoint/2010/main" val="100650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47155-BEAB-E256-6B23-2593AAFA142B}"/>
              </a:ext>
            </a:extLst>
          </p:cNvPr>
          <p:cNvSpPr>
            <a:spLocks noGrp="1"/>
          </p:cNvSpPr>
          <p:nvPr>
            <p:ph type="title"/>
          </p:nvPr>
        </p:nvSpPr>
        <p:spPr/>
        <p:txBody>
          <a:bodyPr/>
          <a:lstStyle/>
          <a:p>
            <a:r>
              <a:rPr lang="vi-VN" b="0" i="0" dirty="0">
                <a:solidFill>
                  <a:srgbClr val="404040"/>
                </a:solidFill>
                <a:effectLst/>
                <a:latin typeface="Source Sans Pro" panose="020B0503030403020204" pitchFamily="34" charset="0"/>
              </a:rPr>
              <a:t>Confusion Matrix</a:t>
            </a:r>
            <a:endParaRPr lang="en-US" dirty="0"/>
          </a:p>
        </p:txBody>
      </p:sp>
      <p:sp>
        <p:nvSpPr>
          <p:cNvPr id="3" name="Content Placeholder 2">
            <a:extLst>
              <a:ext uri="{FF2B5EF4-FFF2-40B4-BE49-F238E27FC236}">
                <a16:creationId xmlns:a16="http://schemas.microsoft.com/office/drawing/2014/main" id="{8B57091E-AF7B-3141-85E2-C884855CA401}"/>
              </a:ext>
            </a:extLst>
          </p:cNvPr>
          <p:cNvSpPr>
            <a:spLocks noGrp="1"/>
          </p:cNvSpPr>
          <p:nvPr>
            <p:ph sz="half" idx="1"/>
          </p:nvPr>
        </p:nvSpPr>
        <p:spPr>
          <a:xfrm>
            <a:off x="521110" y="1825625"/>
            <a:ext cx="5498690" cy="4351338"/>
          </a:xfrm>
        </p:spPr>
        <p:txBody>
          <a:bodyPr>
            <a:normAutofit fontScale="92500"/>
          </a:bodyPr>
          <a:lstStyle/>
          <a:p>
            <a:pPr algn="just" fontAlgn="base"/>
            <a:r>
              <a:rPr lang="vi-VN" b="0" i="0" dirty="0">
                <a:solidFill>
                  <a:srgbClr val="404040"/>
                </a:solidFill>
                <a:effectLst/>
                <a:latin typeface="Source Sans Pro" panose="020B0503030403020204" pitchFamily="34" charset="0"/>
              </a:rPr>
              <a:t>Giả sử chúng ta cần dự đoán kết quả xét nghiệm COVID-19 của 1000 người nghi nhiễm. Dưới đây là kết quả dự đoán của mô hình:</a:t>
            </a:r>
          </a:p>
          <a:p>
            <a:pPr lvl="1" algn="just" fontAlgn="base"/>
            <a:r>
              <a:rPr lang="vi-VN" sz="2800" b="0" i="0" dirty="0">
                <a:solidFill>
                  <a:srgbClr val="404040"/>
                </a:solidFill>
                <a:effectLst/>
                <a:latin typeface="inherit"/>
              </a:rPr>
              <a:t>Mô hình dự đoán có 30 ca dương tính, trong khi thực tế có 13 người nhiễm COVID-19</a:t>
            </a:r>
          </a:p>
          <a:p>
            <a:pPr lvl="1" algn="just" fontAlgn="base"/>
            <a:r>
              <a:rPr lang="vi-VN" sz="2800" b="0" i="0" dirty="0">
                <a:solidFill>
                  <a:srgbClr val="404040"/>
                </a:solidFill>
                <a:effectLst/>
                <a:latin typeface="inherit"/>
              </a:rPr>
              <a:t>Mô hình dự đoán có 970 ca âm tính, nhưng thực tế trong 970 ca đó có 20 ca dương tính</a:t>
            </a:r>
          </a:p>
          <a:p>
            <a:endParaRPr lang="en-US" dirty="0"/>
          </a:p>
        </p:txBody>
      </p:sp>
      <p:sp>
        <p:nvSpPr>
          <p:cNvPr id="4" name="Content Placeholder 3">
            <a:extLst>
              <a:ext uri="{FF2B5EF4-FFF2-40B4-BE49-F238E27FC236}">
                <a16:creationId xmlns:a16="http://schemas.microsoft.com/office/drawing/2014/main" id="{E90EEEA9-7578-7EE7-314A-1878AAEC5191}"/>
              </a:ext>
            </a:extLst>
          </p:cNvPr>
          <p:cNvSpPr>
            <a:spLocks noGrp="1"/>
          </p:cNvSpPr>
          <p:nvPr>
            <p:ph sz="half" idx="2"/>
          </p:nvPr>
        </p:nvSpPr>
        <p:spPr>
          <a:xfrm>
            <a:off x="6172200" y="530942"/>
            <a:ext cx="5181600" cy="5646021"/>
          </a:xfrm>
        </p:spPr>
        <p:txBody>
          <a:bodyPr>
            <a:normAutofit fontScale="92500"/>
          </a:bodyPr>
          <a:lstStyle/>
          <a:p>
            <a:pPr algn="l" fontAlgn="base">
              <a:buFont typeface="Arial" panose="020B0604020202020204" pitchFamily="34" charset="0"/>
              <a:buChar char="•"/>
            </a:pPr>
            <a:r>
              <a:rPr lang="vi-VN" b="0" i="0" dirty="0">
                <a:solidFill>
                  <a:srgbClr val="404040"/>
                </a:solidFill>
                <a:effectLst/>
                <a:latin typeface="inherit"/>
              </a:rPr>
              <a:t>True Positive TP = 13: có 13 người nhiễm COVID-19 được mô hình dự đoán đúng</a:t>
            </a:r>
          </a:p>
          <a:p>
            <a:pPr algn="l" fontAlgn="base">
              <a:buFont typeface="Arial" panose="020B0604020202020204" pitchFamily="34" charset="0"/>
              <a:buChar char="•"/>
            </a:pPr>
            <a:r>
              <a:rPr lang="vi-VN" b="0" i="0" dirty="0">
                <a:solidFill>
                  <a:srgbClr val="404040"/>
                </a:solidFill>
                <a:effectLst/>
                <a:latin typeface="inherit"/>
              </a:rPr>
              <a:t>False Positive FP = 17: có 17 người âm tính với COVID-19, nhưng được mô hình dự đoán dương tính</a:t>
            </a:r>
          </a:p>
          <a:p>
            <a:pPr algn="l" fontAlgn="base">
              <a:buFont typeface="Arial" panose="020B0604020202020204" pitchFamily="34" charset="0"/>
              <a:buChar char="•"/>
            </a:pPr>
            <a:r>
              <a:rPr lang="vi-VN" b="0" i="0" dirty="0">
                <a:solidFill>
                  <a:srgbClr val="404040"/>
                </a:solidFill>
                <a:effectLst/>
                <a:latin typeface="inherit"/>
              </a:rPr>
              <a:t>True Negative TN = 950: 950 trường hợp âm tính được mô hình phân loại chính xác</a:t>
            </a:r>
          </a:p>
          <a:p>
            <a:pPr algn="l" fontAlgn="base">
              <a:buFont typeface="Arial" panose="020B0604020202020204" pitchFamily="34" charset="0"/>
              <a:buChar char="•"/>
            </a:pPr>
            <a:r>
              <a:rPr lang="vi-VN" b="0" i="0" dirty="0">
                <a:solidFill>
                  <a:srgbClr val="404040"/>
                </a:solidFill>
                <a:effectLst/>
                <a:latin typeface="inherit"/>
              </a:rPr>
              <a:t>False Negative FN = 20: có 20 trường hợp dương tính với COVID-19 nhưng bị mô hình phân loại sai</a:t>
            </a:r>
          </a:p>
          <a:p>
            <a:endParaRPr lang="en-US" dirty="0"/>
          </a:p>
        </p:txBody>
      </p:sp>
    </p:spTree>
    <p:extLst>
      <p:ext uri="{BB962C8B-B14F-4D97-AF65-F5344CB8AC3E}">
        <p14:creationId xmlns:p14="http://schemas.microsoft.com/office/powerpoint/2010/main" val="10062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3C231-1CBC-C109-7186-41FBE86F35FF}"/>
              </a:ext>
            </a:extLst>
          </p:cNvPr>
          <p:cNvSpPr>
            <a:spLocks noGrp="1"/>
          </p:cNvSpPr>
          <p:nvPr>
            <p:ph type="title"/>
          </p:nvPr>
        </p:nvSpPr>
        <p:spPr/>
        <p:txBody>
          <a:bodyPr/>
          <a:lstStyle/>
          <a:p>
            <a:r>
              <a:rPr lang="vi-VN" dirty="0"/>
              <a:t>Confusion Matrix</a:t>
            </a:r>
            <a:endParaRPr lang="en-US" dirty="0"/>
          </a:p>
        </p:txBody>
      </p:sp>
      <p:sp>
        <p:nvSpPr>
          <p:cNvPr id="3" name="Content Placeholder 2">
            <a:extLst>
              <a:ext uri="{FF2B5EF4-FFF2-40B4-BE49-F238E27FC236}">
                <a16:creationId xmlns:a16="http://schemas.microsoft.com/office/drawing/2014/main" id="{1D48AE0B-50CC-203C-2C0D-F775BFADC915}"/>
              </a:ext>
            </a:extLst>
          </p:cNvPr>
          <p:cNvSpPr>
            <a:spLocks noGrp="1"/>
          </p:cNvSpPr>
          <p:nvPr>
            <p:ph sz="half" idx="1"/>
          </p:nvPr>
        </p:nvSpPr>
        <p:spPr/>
        <p:txBody>
          <a:bodyPr/>
          <a:lstStyle/>
          <a:p>
            <a:r>
              <a:rPr lang="en-US" dirty="0"/>
              <a:t>Precision </a:t>
            </a:r>
            <a:r>
              <a:rPr lang="en-US" dirty="0" err="1"/>
              <a:t>và</a:t>
            </a:r>
            <a:r>
              <a:rPr lang="en-US" dirty="0"/>
              <a:t> Recall</a:t>
            </a:r>
          </a:p>
          <a:p>
            <a:endParaRPr lang="en-US" dirty="0"/>
          </a:p>
        </p:txBody>
      </p:sp>
      <p:sp>
        <p:nvSpPr>
          <p:cNvPr id="4" name="Content Placeholder 3">
            <a:extLst>
              <a:ext uri="{FF2B5EF4-FFF2-40B4-BE49-F238E27FC236}">
                <a16:creationId xmlns:a16="http://schemas.microsoft.com/office/drawing/2014/main" id="{D9594881-B4D2-3540-17F6-4A8B32C33CBD}"/>
              </a:ext>
            </a:extLst>
          </p:cNvPr>
          <p:cNvSpPr>
            <a:spLocks noGrp="1"/>
          </p:cNvSpPr>
          <p:nvPr>
            <p:ph sz="half" idx="2"/>
          </p:nvPr>
        </p:nvSpPr>
        <p:spPr/>
        <p:txBody>
          <a:bodyPr/>
          <a:lstStyle/>
          <a:p>
            <a:pPr algn="just"/>
            <a:r>
              <a:rPr lang="vi-VN" dirty="0"/>
              <a:t>Precision và Recall có giá trị trong [0,1], hai giá trị này càng gần với 1 thì mô hình càng chính xác.</a:t>
            </a:r>
            <a:endParaRPr lang="en-US" dirty="0"/>
          </a:p>
          <a:p>
            <a:pPr algn="just"/>
            <a:r>
              <a:rPr lang="vi-VN" dirty="0"/>
              <a:t>Precision càng cao đồng nghĩa với các điểm được phân loại càng chính xác.</a:t>
            </a:r>
            <a:endParaRPr lang="en-US" dirty="0"/>
          </a:p>
          <a:p>
            <a:pPr algn="just"/>
            <a:r>
              <a:rPr lang="vi-VN" dirty="0"/>
              <a:t>Recall càng cao cho thể hiện cho việc ít bỏ sót các điểm dữ liệu đúng.</a:t>
            </a:r>
            <a:endParaRPr lang="en-US" dirty="0"/>
          </a:p>
        </p:txBody>
      </p:sp>
      <p:pic>
        <p:nvPicPr>
          <p:cNvPr id="6" name="Picture 5">
            <a:extLst>
              <a:ext uri="{FF2B5EF4-FFF2-40B4-BE49-F238E27FC236}">
                <a16:creationId xmlns:a16="http://schemas.microsoft.com/office/drawing/2014/main" id="{622EFCAB-4D49-C08F-F7A3-1FAE0BE8698C}"/>
              </a:ext>
            </a:extLst>
          </p:cNvPr>
          <p:cNvPicPr>
            <a:picLocks noChangeAspect="1"/>
          </p:cNvPicPr>
          <p:nvPr/>
        </p:nvPicPr>
        <p:blipFill>
          <a:blip r:embed="rId2"/>
          <a:stretch>
            <a:fillRect/>
          </a:stretch>
        </p:blipFill>
        <p:spPr>
          <a:xfrm>
            <a:off x="685800" y="2849076"/>
            <a:ext cx="4233147" cy="2304435"/>
          </a:xfrm>
          <a:prstGeom prst="rect">
            <a:avLst/>
          </a:prstGeom>
        </p:spPr>
      </p:pic>
    </p:spTree>
    <p:extLst>
      <p:ext uri="{BB962C8B-B14F-4D97-AF65-F5344CB8AC3E}">
        <p14:creationId xmlns:p14="http://schemas.microsoft.com/office/powerpoint/2010/main" val="3142454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0BD0F-DED4-E59D-8477-AC19AE93228D}"/>
              </a:ext>
            </a:extLst>
          </p:cNvPr>
          <p:cNvSpPr>
            <a:spLocks noGrp="1"/>
          </p:cNvSpPr>
          <p:nvPr>
            <p:ph type="title"/>
          </p:nvPr>
        </p:nvSpPr>
        <p:spPr/>
        <p:txBody>
          <a:bodyPr/>
          <a:lstStyle/>
          <a:p>
            <a:r>
              <a:rPr lang="en-US" dirty="0" err="1"/>
              <a:t>F1</a:t>
            </a:r>
            <a:r>
              <a:rPr lang="en-US" dirty="0"/>
              <a:t>-Score</a:t>
            </a:r>
          </a:p>
        </p:txBody>
      </p:sp>
      <p:sp>
        <p:nvSpPr>
          <p:cNvPr id="3" name="Content Placeholder 2">
            <a:extLst>
              <a:ext uri="{FF2B5EF4-FFF2-40B4-BE49-F238E27FC236}">
                <a16:creationId xmlns:a16="http://schemas.microsoft.com/office/drawing/2014/main" id="{0607D802-7E38-1C9C-F446-D03B47150AE7}"/>
              </a:ext>
            </a:extLst>
          </p:cNvPr>
          <p:cNvSpPr>
            <a:spLocks noGrp="1"/>
          </p:cNvSpPr>
          <p:nvPr>
            <p:ph sz="half" idx="1"/>
          </p:nvPr>
        </p:nvSpPr>
        <p:spPr/>
        <p:txBody>
          <a:bodyPr/>
          <a:lstStyle/>
          <a:p>
            <a:pPr algn="just"/>
            <a:r>
              <a:rPr lang="en-US" dirty="0"/>
              <a:t>Trong </a:t>
            </a:r>
            <a:r>
              <a:rPr lang="en-US" dirty="0" err="1"/>
              <a:t>thực</a:t>
            </a:r>
            <a:r>
              <a:rPr lang="en-US" dirty="0"/>
              <a:t> </a:t>
            </a:r>
            <a:r>
              <a:rPr lang="en-US" dirty="0" err="1"/>
              <a:t>tế</a:t>
            </a:r>
            <a:r>
              <a:rPr lang="en-US" dirty="0"/>
              <a:t> </a:t>
            </a:r>
            <a:r>
              <a:rPr lang="vi-VN" dirty="0"/>
              <a:t>hai giá trị Precision và Recall thường không cân bằng với nhau (giá trị này tăng thì giá trị kia thường có xu hướng giảm). Để đánh giá cùng lúc cả Precision và Recall, ta sử dụng độ đo F-Score</a:t>
            </a:r>
            <a:r>
              <a:rPr lang="en-US" dirty="0"/>
              <a:t>.</a:t>
            </a:r>
          </a:p>
          <a:p>
            <a:endParaRPr lang="en-US" dirty="0"/>
          </a:p>
        </p:txBody>
      </p:sp>
      <p:sp>
        <p:nvSpPr>
          <p:cNvPr id="4" name="Content Placeholder 3">
            <a:extLst>
              <a:ext uri="{FF2B5EF4-FFF2-40B4-BE49-F238E27FC236}">
                <a16:creationId xmlns:a16="http://schemas.microsoft.com/office/drawing/2014/main" id="{5EDADA80-CB2B-12DE-C40B-C48123F3EB5A}"/>
              </a:ext>
            </a:extLst>
          </p:cNvPr>
          <p:cNvSpPr>
            <a:spLocks noGrp="1"/>
          </p:cNvSpPr>
          <p:nvPr>
            <p:ph sz="half" idx="2"/>
          </p:nvPr>
        </p:nvSpPr>
        <p:spPr/>
        <p:txBody>
          <a:bodyPr/>
          <a:lstStyle/>
          <a:p>
            <a:pPr algn="just"/>
            <a:r>
              <a:rPr lang="vi-VN" dirty="0"/>
              <a:t>Tham số </a:t>
            </a:r>
            <a:r>
              <a:rPr lang="el-GR" dirty="0"/>
              <a:t>β </a:t>
            </a:r>
            <a:r>
              <a:rPr lang="vi-VN" dirty="0"/>
              <a:t>quyết định mức độ coi trọng giữa Precision và Recall</a:t>
            </a:r>
          </a:p>
          <a:p>
            <a:pPr lvl="1" algn="just"/>
            <a:r>
              <a:rPr lang="el-GR" dirty="0"/>
              <a:t>β &gt; 1: </a:t>
            </a:r>
            <a:r>
              <a:rPr lang="vi-VN" dirty="0"/>
              <a:t>Recall được coi trọng hơn Precision</a:t>
            </a:r>
          </a:p>
          <a:p>
            <a:pPr lvl="1" algn="just"/>
            <a:r>
              <a:rPr lang="el-GR" dirty="0"/>
              <a:t>β &lt; 1: </a:t>
            </a:r>
            <a:r>
              <a:rPr lang="vi-VN" dirty="0"/>
              <a:t>Precision được coi trọng hơn Recall</a:t>
            </a:r>
          </a:p>
          <a:p>
            <a:pPr lvl="1" algn="just"/>
            <a:r>
              <a:rPr lang="el-GR" dirty="0"/>
              <a:t>β = 1: </a:t>
            </a:r>
            <a:r>
              <a:rPr lang="vi-VN" dirty="0"/>
              <a:t>Precision và Recall được coi trọng ngang nhau</a:t>
            </a:r>
          </a:p>
        </p:txBody>
      </p:sp>
      <p:pic>
        <p:nvPicPr>
          <p:cNvPr id="6" name="Picture 5">
            <a:extLst>
              <a:ext uri="{FF2B5EF4-FFF2-40B4-BE49-F238E27FC236}">
                <a16:creationId xmlns:a16="http://schemas.microsoft.com/office/drawing/2014/main" id="{17A4DA58-0E53-50EF-F532-D02B299297D3}"/>
              </a:ext>
            </a:extLst>
          </p:cNvPr>
          <p:cNvPicPr>
            <a:picLocks noChangeAspect="1"/>
          </p:cNvPicPr>
          <p:nvPr/>
        </p:nvPicPr>
        <p:blipFill>
          <a:blip r:embed="rId2"/>
          <a:stretch>
            <a:fillRect/>
          </a:stretch>
        </p:blipFill>
        <p:spPr>
          <a:xfrm>
            <a:off x="838200" y="5283200"/>
            <a:ext cx="4914900" cy="1209675"/>
          </a:xfrm>
          <a:prstGeom prst="rect">
            <a:avLst/>
          </a:prstGeom>
        </p:spPr>
      </p:pic>
    </p:spTree>
    <p:extLst>
      <p:ext uri="{BB962C8B-B14F-4D97-AF65-F5344CB8AC3E}">
        <p14:creationId xmlns:p14="http://schemas.microsoft.com/office/powerpoint/2010/main" val="2493552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Over-fitting</a:t>
            </a:r>
            <a:r>
              <a:rPr lang="en-US" dirty="0"/>
              <a:t> vs. </a:t>
            </a:r>
            <a:r>
              <a:rPr lang="vi-VN" dirty="0"/>
              <a:t>Under-fitting</a:t>
            </a:r>
            <a:endParaRPr lang="en-US" dirty="0"/>
          </a:p>
        </p:txBody>
      </p:sp>
      <p:sp>
        <p:nvSpPr>
          <p:cNvPr id="3" name="Content Placeholder 2"/>
          <p:cNvSpPr>
            <a:spLocks noGrp="1"/>
          </p:cNvSpPr>
          <p:nvPr>
            <p:ph idx="1"/>
          </p:nvPr>
        </p:nvSpPr>
        <p:spPr/>
        <p:txBody>
          <a:bodyPr/>
          <a:lstStyle/>
          <a:p>
            <a:r>
              <a:rPr lang="vi-VN" dirty="0"/>
              <a:t>Lỗi ước lượng tham số có thể được chia thành 2 loại là khớp quá (over-fitting) và chưa khớp (under-fitting) với tập huấn luyện. </a:t>
            </a:r>
            <a:endParaRPr lang="en-US" dirty="0"/>
          </a:p>
        </p:txBody>
      </p:sp>
    </p:spTree>
    <p:extLst>
      <p:ext uri="{BB962C8B-B14F-4D97-AF65-F5344CB8AC3E}">
        <p14:creationId xmlns:p14="http://schemas.microsoft.com/office/powerpoint/2010/main" val="318111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Chưa khớp (Underfitting)</a:t>
            </a:r>
            <a:endParaRPr lang="en-US" dirty="0"/>
          </a:p>
        </p:txBody>
      </p:sp>
      <p:sp>
        <p:nvSpPr>
          <p:cNvPr id="3" name="Content Placeholder 2"/>
          <p:cNvSpPr>
            <a:spLocks noGrp="1"/>
          </p:cNvSpPr>
          <p:nvPr>
            <p:ph idx="1"/>
          </p:nvPr>
        </p:nvSpPr>
        <p:spPr/>
        <p:txBody>
          <a:bodyPr/>
          <a:lstStyle/>
          <a:p>
            <a:r>
              <a:rPr lang="vi-VN" dirty="0"/>
              <a:t>Mô hình được coi là chưa khớp nếu nó chưa được chưa phù hợp với tập dữ liệu huấn luyện và cả các mẫu mới khi dự đoán.</a:t>
            </a:r>
            <a:endParaRPr lang="en-US" dirty="0"/>
          </a:p>
          <a:p>
            <a:r>
              <a:rPr lang="vi-VN" dirty="0"/>
              <a:t>Nguyên nhân có thể là do mô hình chưa đủ độ phức tạp cần thiết để bao quát được tập dữ liệu. </a:t>
            </a:r>
          </a:p>
          <a:p>
            <a:endParaRPr lang="en-US" dirty="0"/>
          </a:p>
        </p:txBody>
      </p:sp>
    </p:spTree>
    <p:extLst>
      <p:ext uri="{BB962C8B-B14F-4D97-AF65-F5344CB8AC3E}">
        <p14:creationId xmlns:p14="http://schemas.microsoft.com/office/powerpoint/2010/main" val="1922348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Quá khớp (Overfitting)</a:t>
            </a:r>
          </a:p>
        </p:txBody>
      </p:sp>
      <p:sp>
        <p:nvSpPr>
          <p:cNvPr id="3" name="Content Placeholder 2"/>
          <p:cNvSpPr>
            <a:spLocks noGrp="1"/>
          </p:cNvSpPr>
          <p:nvPr>
            <p:ph idx="1"/>
          </p:nvPr>
        </p:nvSpPr>
        <p:spPr/>
        <p:txBody>
          <a:bodyPr/>
          <a:lstStyle/>
          <a:p>
            <a:r>
              <a:rPr lang="vi-VN" dirty="0"/>
              <a:t>Mô hình</a:t>
            </a:r>
            <a:endParaRPr lang="en-US" dirty="0"/>
          </a:p>
          <a:p>
            <a:pPr lvl="1"/>
            <a:r>
              <a:rPr lang="vi-VN" dirty="0"/>
              <a:t>rất khớp với tập huấn luyện </a:t>
            </a:r>
            <a:endParaRPr lang="en-US" dirty="0"/>
          </a:p>
          <a:p>
            <a:pPr lvl="1"/>
            <a:r>
              <a:rPr lang="vi-VN" dirty="0"/>
              <a:t>dự đoán với dữ liệu mới thì lại không phù hợp.</a:t>
            </a:r>
            <a:endParaRPr lang="en-US" dirty="0"/>
          </a:p>
          <a:p>
            <a:r>
              <a:rPr lang="vi-VN" dirty="0"/>
              <a:t>Nguyên nhân có thể</a:t>
            </a:r>
            <a:r>
              <a:rPr lang="en-US" dirty="0"/>
              <a:t>:</a:t>
            </a:r>
          </a:p>
          <a:p>
            <a:pPr lvl="1"/>
            <a:r>
              <a:rPr lang="vi-VN" dirty="0"/>
              <a:t>chưa đủ dữ liệu để đánh giá </a:t>
            </a:r>
            <a:endParaRPr lang="en-US" dirty="0"/>
          </a:p>
          <a:p>
            <a:pPr lvl="1"/>
            <a:r>
              <a:rPr lang="vi-VN" dirty="0"/>
              <a:t>mô hình của ta quá phức tạp.</a:t>
            </a:r>
            <a:endParaRPr lang="en-US" dirty="0"/>
          </a:p>
        </p:txBody>
      </p:sp>
    </p:spTree>
    <p:extLst>
      <p:ext uri="{BB962C8B-B14F-4D97-AF65-F5344CB8AC3E}">
        <p14:creationId xmlns:p14="http://schemas.microsoft.com/office/powerpoint/2010/main" val="394507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Đánh giá lỗi</a:t>
            </a:r>
          </a:p>
        </p:txBody>
      </p:sp>
      <p:sp>
        <p:nvSpPr>
          <p:cNvPr id="3" name="Content Placeholder 2"/>
          <p:cNvSpPr>
            <a:spLocks noGrp="1"/>
          </p:cNvSpPr>
          <p:nvPr>
            <p:ph idx="1"/>
          </p:nvPr>
        </p:nvSpPr>
        <p:spPr/>
        <p:txBody>
          <a:bodyPr/>
          <a:lstStyle/>
          <a:p>
            <a:r>
              <a:rPr lang="vi-VN" dirty="0"/>
              <a:t>Trong đó</a:t>
            </a:r>
            <a:r>
              <a:rPr lang="en-US" dirty="0"/>
              <a:t> </a:t>
            </a:r>
            <a:r>
              <a:rPr lang="vi-VN" dirty="0"/>
              <a:t>E(θ) là lỗi ứng với tham số θ ước lượng được của tập dữ liệu gồm có m mẫu.</a:t>
            </a:r>
            <a:endParaRPr lang="en-US" dirty="0"/>
          </a:p>
          <a:p>
            <a:endParaRPr lang="en-US" dirty="0"/>
          </a:p>
          <a:p>
            <a:endParaRPr lang="en-US" dirty="0"/>
          </a:p>
          <a:p>
            <a:r>
              <a:rPr lang="vi-VN" dirty="0"/>
              <a:t>Khi đó lỗi của ta được gọi là lỗi trung bình bình hương (MSE - Mean Squared Error):</a:t>
            </a:r>
            <a:endParaRPr lang="en-US" dirty="0"/>
          </a:p>
        </p:txBody>
      </p:sp>
      <p:pic>
        <p:nvPicPr>
          <p:cNvPr id="5" name="Picture 4"/>
          <p:cNvPicPr>
            <a:picLocks noChangeAspect="1"/>
          </p:cNvPicPr>
          <p:nvPr/>
        </p:nvPicPr>
        <p:blipFill>
          <a:blip r:embed="rId2"/>
          <a:stretch>
            <a:fillRect/>
          </a:stretch>
        </p:blipFill>
        <p:spPr>
          <a:xfrm>
            <a:off x="5085511" y="2393575"/>
            <a:ext cx="4768793" cy="1325563"/>
          </a:xfrm>
          <a:prstGeom prst="rect">
            <a:avLst/>
          </a:prstGeom>
        </p:spPr>
      </p:pic>
      <p:pic>
        <p:nvPicPr>
          <p:cNvPr id="6" name="Picture 5"/>
          <p:cNvPicPr>
            <a:picLocks noChangeAspect="1"/>
          </p:cNvPicPr>
          <p:nvPr/>
        </p:nvPicPr>
        <p:blipFill>
          <a:blip r:embed="rId3"/>
          <a:stretch>
            <a:fillRect/>
          </a:stretch>
        </p:blipFill>
        <p:spPr>
          <a:xfrm>
            <a:off x="4460300" y="4464425"/>
            <a:ext cx="5394004" cy="1375292"/>
          </a:xfrm>
          <a:prstGeom prst="rect">
            <a:avLst/>
          </a:prstGeom>
        </p:spPr>
      </p:pic>
    </p:spTree>
    <p:extLst>
      <p:ext uri="{BB962C8B-B14F-4D97-AF65-F5344CB8AC3E}">
        <p14:creationId xmlns:p14="http://schemas.microsoft.com/office/powerpoint/2010/main" val="3461242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a:t>Model Evaluation</a:t>
            </a:r>
            <a:endParaRPr lang="en-US" b="1"/>
          </a:p>
        </p:txBody>
      </p:sp>
      <p:sp>
        <p:nvSpPr>
          <p:cNvPr id="3" name="Content Placeholder 2"/>
          <p:cNvSpPr>
            <a:spLocks noGrp="1"/>
          </p:cNvSpPr>
          <p:nvPr>
            <p:ph sz="half" idx="1"/>
          </p:nvPr>
        </p:nvSpPr>
        <p:spPr/>
        <p:txBody>
          <a:bodyPr/>
          <a:lstStyle/>
          <a:p>
            <a:r>
              <a:rPr lang="en-US" sz="3200" baseline="-25000"/>
              <a:t>D</a:t>
            </a:r>
            <a:r>
              <a:rPr lang="vi-VN" sz="3200" baseline="-25000"/>
              <a:t>ữ liệu được phân chia làm 3 phần là </a:t>
            </a:r>
            <a:endParaRPr lang="en-US" sz="3200" baseline="-25000"/>
          </a:p>
          <a:p>
            <a:r>
              <a:rPr lang="vi-VN" sz="3200" b="1" baseline="-25000"/>
              <a:t>tập huấn luyện</a:t>
            </a:r>
            <a:r>
              <a:rPr lang="vi-VN" sz="3200" baseline="-25000"/>
              <a:t> (</a:t>
            </a:r>
            <a:r>
              <a:rPr lang="vi-VN" sz="3200" i="1" baseline="-25000"/>
              <a:t>training set</a:t>
            </a:r>
            <a:r>
              <a:rPr lang="vi-VN" sz="3200" baseline="-25000"/>
              <a:t>) </a:t>
            </a:r>
            <a:endParaRPr lang="en-US" sz="3200" baseline="-25000"/>
          </a:p>
          <a:p>
            <a:r>
              <a:rPr lang="vi-VN" sz="3200" b="1" baseline="-25000"/>
              <a:t>tập kiểm chứng</a:t>
            </a:r>
            <a:r>
              <a:rPr lang="vi-VN" sz="3200" baseline="-25000"/>
              <a:t> (</a:t>
            </a:r>
            <a:r>
              <a:rPr lang="vi-VN" sz="3200" i="1" baseline="-25000"/>
              <a:t>cross validation set</a:t>
            </a:r>
            <a:r>
              <a:rPr lang="vi-VN" sz="3200" baseline="-25000"/>
              <a:t>) </a:t>
            </a:r>
            <a:endParaRPr lang="en-US" sz="3200" baseline="-25000"/>
          </a:p>
          <a:p>
            <a:r>
              <a:rPr lang="vi-VN" sz="3200" b="1" baseline="-25000"/>
              <a:t>tập kiểm tra</a:t>
            </a:r>
            <a:r>
              <a:rPr lang="vi-VN" sz="3200" baseline="-25000"/>
              <a:t> (</a:t>
            </a:r>
            <a:r>
              <a:rPr lang="vi-VN" sz="3200" i="1" baseline="-25000"/>
              <a:t>test set</a:t>
            </a:r>
            <a:r>
              <a:rPr lang="vi-VN" sz="3200" baseline="-25000"/>
              <a:t>) </a:t>
            </a:r>
            <a:endParaRPr lang="en-US" sz="3200" baseline="-25000"/>
          </a:p>
          <a:p>
            <a:endParaRPr lang="vi-VN"/>
          </a:p>
        </p:txBody>
      </p:sp>
      <p:pic>
        <p:nvPicPr>
          <p:cNvPr id="6" name="Content Placeholder 5"/>
          <p:cNvPicPr>
            <a:picLocks noGrp="1" noChangeAspect="1"/>
          </p:cNvPicPr>
          <p:nvPr>
            <p:ph sz="half" idx="2"/>
          </p:nvPr>
        </p:nvPicPr>
        <p:blipFill>
          <a:blip r:embed="rId3"/>
          <a:stretch>
            <a:fillRect/>
          </a:stretch>
        </p:blipFill>
        <p:spPr>
          <a:xfrm>
            <a:off x="946049" y="3707146"/>
            <a:ext cx="4528921" cy="2190734"/>
          </a:xfrm>
          <a:prstGeom prst="rect">
            <a:avLst/>
          </a:prstGeom>
        </p:spPr>
      </p:pic>
      <p:pic>
        <p:nvPicPr>
          <p:cNvPr id="7" name="Picture 6"/>
          <p:cNvPicPr>
            <a:picLocks noChangeAspect="1"/>
          </p:cNvPicPr>
          <p:nvPr/>
        </p:nvPicPr>
        <p:blipFill>
          <a:blip r:embed="rId4"/>
          <a:stretch>
            <a:fillRect/>
          </a:stretch>
        </p:blipFill>
        <p:spPr>
          <a:xfrm>
            <a:off x="6740019" y="1027906"/>
            <a:ext cx="5451981" cy="1177292"/>
          </a:xfrm>
          <a:prstGeom prst="rect">
            <a:avLst/>
          </a:prstGeom>
        </p:spPr>
      </p:pic>
      <p:pic>
        <p:nvPicPr>
          <p:cNvPr id="1026" name="Picture 2" descr="https://res.cloudinary.com/dominhhai/image/upload/ml/diagnosing_bias_varianc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96300" y="3043397"/>
            <a:ext cx="2857500"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2496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Model Evaluation</a:t>
            </a:r>
            <a:endParaRPr lang="en-US"/>
          </a:p>
        </p:txBody>
      </p:sp>
      <p:sp>
        <p:nvSpPr>
          <p:cNvPr id="3" name="Content Placeholder 2"/>
          <p:cNvSpPr>
            <a:spLocks noGrp="1"/>
          </p:cNvSpPr>
          <p:nvPr>
            <p:ph sz="half" idx="1"/>
          </p:nvPr>
        </p:nvSpPr>
        <p:spPr/>
        <p:txBody>
          <a:bodyPr/>
          <a:lstStyle/>
          <a:p>
            <a:r>
              <a:rPr lang="en-US" altLang="en-US" sz="2400" b="1"/>
              <a:t>Holdout</a:t>
            </a:r>
          </a:p>
          <a:p>
            <a:pPr lvl="1" algn="just"/>
            <a:r>
              <a:rPr lang="en-US" altLang="en-US"/>
              <a:t>Reserve k% for training and (100-k)% for testing </a:t>
            </a:r>
          </a:p>
          <a:p>
            <a:pPr lvl="1" algn="just"/>
            <a:r>
              <a:rPr lang="en-US" altLang="en-US"/>
              <a:t>Random subsampling: repeated holdout</a:t>
            </a:r>
          </a:p>
          <a:p>
            <a:endParaRPr lang="en-US"/>
          </a:p>
        </p:txBody>
      </p:sp>
      <p:sp>
        <p:nvSpPr>
          <p:cNvPr id="4" name="Content Placeholder 3"/>
          <p:cNvSpPr>
            <a:spLocks noGrp="1"/>
          </p:cNvSpPr>
          <p:nvPr>
            <p:ph sz="half" idx="2"/>
          </p:nvPr>
        </p:nvSpPr>
        <p:spPr/>
        <p:txBody>
          <a:bodyPr/>
          <a:lstStyle/>
          <a:p>
            <a:r>
              <a:rPr lang="en-US" altLang="en-US" sz="2400" b="1"/>
              <a:t>Cross validation</a:t>
            </a:r>
          </a:p>
          <a:p>
            <a:pPr lvl="1" algn="just"/>
            <a:r>
              <a:rPr lang="en-US" altLang="en-US"/>
              <a:t>Partition data into k disjoint subsets</a:t>
            </a:r>
          </a:p>
          <a:p>
            <a:pPr lvl="1" algn="just"/>
            <a:r>
              <a:rPr lang="en-US" altLang="en-US"/>
              <a:t>k-fold: train on k-1 partitions, test on the remaining one</a:t>
            </a:r>
          </a:p>
          <a:p>
            <a:pPr lvl="1" algn="just"/>
            <a:r>
              <a:rPr lang="en-US" altLang="en-US"/>
              <a:t>Leave-one-out:   k=n</a:t>
            </a:r>
          </a:p>
          <a:p>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4749076"/>
            <a:ext cx="5073095" cy="1259838"/>
          </a:xfrm>
          <a:prstGeom prst="rect">
            <a:avLst/>
          </a:prstGeom>
        </p:spPr>
      </p:pic>
      <p:pic>
        <p:nvPicPr>
          <p:cNvPr id="2050" name="Picture 2" descr="Cross-Validation - MATLAB &amp; Simulink"/>
          <p:cNvPicPr>
            <a:picLocks noChangeAspect="1" noChangeArrowheads="1"/>
          </p:cNvPicPr>
          <p:nvPr/>
        </p:nvPicPr>
        <p:blipFill rotWithShape="1">
          <a:blip r:embed="rId4">
            <a:extLst>
              <a:ext uri="{28A0092B-C50C-407E-A947-70E740481C1C}">
                <a14:useLocalDpi xmlns:a14="http://schemas.microsoft.com/office/drawing/2010/main" val="0"/>
              </a:ext>
            </a:extLst>
          </a:blip>
          <a:srcRect l="7243" t="19400"/>
          <a:stretch/>
        </p:blipFill>
        <p:spPr bwMode="auto">
          <a:xfrm>
            <a:off x="6228072" y="4279318"/>
            <a:ext cx="5125728" cy="2429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350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Chính quy hoá (regularization) </a:t>
            </a:r>
          </a:p>
        </p:txBody>
      </p:sp>
      <p:sp>
        <p:nvSpPr>
          <p:cNvPr id="9" name="Content Placeholder 8"/>
          <p:cNvSpPr>
            <a:spLocks noGrp="1"/>
          </p:cNvSpPr>
          <p:nvPr>
            <p:ph idx="1"/>
          </p:nvPr>
        </p:nvSpPr>
        <p:spPr/>
        <p:txBody>
          <a:bodyPr/>
          <a:lstStyle/>
          <a:p>
            <a:pPr algn="just"/>
            <a:r>
              <a:rPr lang="vi-VN"/>
              <a:t>Chính quy hoá (</a:t>
            </a:r>
            <a:r>
              <a:rPr lang="vi-VN" i="1"/>
              <a:t>regularization</a:t>
            </a:r>
            <a:r>
              <a:rPr lang="vi-VN"/>
              <a:t>) là một kĩ thuật giúp giảm lỗi khớp quá bằng cách thêm một phần chính quy hoá vào hàm lỗi như sau:</a:t>
            </a:r>
            <a:endParaRPr lang="en-US"/>
          </a:p>
        </p:txBody>
      </p:sp>
      <p:pic>
        <p:nvPicPr>
          <p:cNvPr id="10" name="Picture 9"/>
          <p:cNvPicPr>
            <a:picLocks noChangeAspect="1"/>
          </p:cNvPicPr>
          <p:nvPr/>
        </p:nvPicPr>
        <p:blipFill rotWithShape="1">
          <a:blip r:embed="rId3"/>
          <a:srcRect t="20812" b="27759"/>
          <a:stretch/>
        </p:blipFill>
        <p:spPr>
          <a:xfrm>
            <a:off x="2765784" y="2648857"/>
            <a:ext cx="6660432" cy="856343"/>
          </a:xfrm>
          <a:prstGeom prst="rect">
            <a:avLst/>
          </a:prstGeom>
        </p:spPr>
      </p:pic>
      <p:pic>
        <p:nvPicPr>
          <p:cNvPr id="3074" name="Picture 2" descr="Hình 3: y=sin(2πx) L2. Without Ridge: λ=0 (left); Ridge: λ=1e-4 (center); Ridge: λ=1 (righ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3664" y="3788228"/>
            <a:ext cx="7310320" cy="264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371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Chính quy hoá (regularization) </a:t>
            </a:r>
          </a:p>
        </p:txBody>
      </p:sp>
      <p:sp>
        <p:nvSpPr>
          <p:cNvPr id="3" name="Content Placeholder 2"/>
          <p:cNvSpPr>
            <a:spLocks noGrp="1"/>
          </p:cNvSpPr>
          <p:nvPr>
            <p:ph idx="1"/>
          </p:nvPr>
        </p:nvSpPr>
        <p:spPr/>
        <p:txBody>
          <a:bodyPr/>
          <a:lstStyle/>
          <a:p>
            <a:r>
              <a:rPr lang="vi-VN"/>
              <a:t>E</a:t>
            </a:r>
            <a:r>
              <a:rPr lang="el-GR" baseline="-25000">
                <a:latin typeface="Tahoma" panose="020B0604030504040204" pitchFamily="34" charset="0"/>
                <a:ea typeface="Tahoma" panose="020B0604030504040204" pitchFamily="34" charset="0"/>
                <a:cs typeface="Tahoma" panose="020B0604030504040204" pitchFamily="34" charset="0"/>
              </a:rPr>
              <a:t>θ</a:t>
            </a:r>
            <a:r>
              <a:rPr lang="el-GR"/>
              <a:t>(</a:t>
            </a:r>
            <a:r>
              <a:rPr lang="el-GR">
                <a:latin typeface="Tahoma" panose="020B0604030504040204" pitchFamily="34" charset="0"/>
                <a:ea typeface="Tahoma" panose="020B0604030504040204" pitchFamily="34" charset="0"/>
                <a:cs typeface="Tahoma" panose="020B0604030504040204" pitchFamily="34" charset="0"/>
              </a:rPr>
              <a:t>θ</a:t>
            </a:r>
            <a:r>
              <a:rPr lang="el-GR"/>
              <a:t>) </a:t>
            </a:r>
            <a:r>
              <a:rPr lang="vi-VN"/>
              <a:t>ở đây sẽ không bao gồm độ lệch </a:t>
            </a:r>
            <a:r>
              <a:rPr lang="el-GR">
                <a:latin typeface="Tahoma" panose="020B0604030504040204" pitchFamily="34" charset="0"/>
                <a:ea typeface="Tahoma" panose="020B0604030504040204" pitchFamily="34" charset="0"/>
                <a:cs typeface="Tahoma" panose="020B0604030504040204" pitchFamily="34" charset="0"/>
              </a:rPr>
              <a:t>θ</a:t>
            </a:r>
            <a:r>
              <a:rPr lang="en-US" baseline="-25000">
                <a:latin typeface="Tahoma" panose="020B0604030504040204" pitchFamily="34" charset="0"/>
                <a:ea typeface="Tahoma" panose="020B0604030504040204" pitchFamily="34" charset="0"/>
                <a:cs typeface="Tahoma" panose="020B0604030504040204" pitchFamily="34" charset="0"/>
              </a:rPr>
              <a:t>0 </a:t>
            </a:r>
            <a:r>
              <a:rPr lang="vi-VN"/>
              <a:t>và thường có dạng như sau:</a:t>
            </a:r>
            <a:endParaRPr lang="en-US"/>
          </a:p>
          <a:p>
            <a:endParaRPr lang="en-US"/>
          </a:p>
          <a:p>
            <a:endParaRPr lang="en-US"/>
          </a:p>
          <a:p>
            <a:endParaRPr lang="en-US"/>
          </a:p>
          <a:p>
            <a:r>
              <a:rPr lang="vi-VN" i="1"/>
              <a:t>p</a:t>
            </a:r>
            <a:r>
              <a:rPr lang="vi-VN"/>
              <a:t> thường được chọn là 2 (</a:t>
            </a:r>
            <a:r>
              <a:rPr lang="vi-VN" i="1"/>
              <a:t>L2 Norm</a:t>
            </a:r>
            <a:r>
              <a:rPr lang="vi-VN"/>
              <a:t>) và 1 (</a:t>
            </a:r>
            <a:r>
              <a:rPr lang="vi-VN" i="1"/>
              <a:t>L1 Norm</a:t>
            </a:r>
            <a:r>
              <a:rPr lang="vi-VN"/>
              <a:t> hay còn được gọi là </a:t>
            </a:r>
            <a:r>
              <a:rPr lang="vi-VN" i="1"/>
              <a:t>Lasso</a:t>
            </a:r>
            <a:r>
              <a:rPr lang="vi-VN"/>
              <a:t> trong thống kê).</a:t>
            </a:r>
            <a:endParaRPr lang="en-US"/>
          </a:p>
        </p:txBody>
      </p:sp>
      <p:pic>
        <p:nvPicPr>
          <p:cNvPr id="4" name="Picture 3"/>
          <p:cNvPicPr>
            <a:picLocks noChangeAspect="1"/>
          </p:cNvPicPr>
          <p:nvPr/>
        </p:nvPicPr>
        <p:blipFill>
          <a:blip r:embed="rId3"/>
          <a:stretch>
            <a:fillRect/>
          </a:stretch>
        </p:blipFill>
        <p:spPr>
          <a:xfrm>
            <a:off x="787197" y="2807820"/>
            <a:ext cx="5308803" cy="1272773"/>
          </a:xfrm>
          <a:prstGeom prst="rect">
            <a:avLst/>
          </a:prstGeom>
        </p:spPr>
      </p:pic>
      <p:pic>
        <p:nvPicPr>
          <p:cNvPr id="5" name="Picture 4"/>
          <p:cNvPicPr>
            <a:picLocks noChangeAspect="1"/>
          </p:cNvPicPr>
          <p:nvPr/>
        </p:nvPicPr>
        <p:blipFill rotWithShape="1">
          <a:blip r:embed="rId4"/>
          <a:srcRect r="19663"/>
          <a:stretch/>
        </p:blipFill>
        <p:spPr>
          <a:xfrm>
            <a:off x="6535978" y="2884081"/>
            <a:ext cx="4088479" cy="1196512"/>
          </a:xfrm>
          <a:prstGeom prst="rect">
            <a:avLst/>
          </a:prstGeom>
        </p:spPr>
      </p:pic>
      <p:pic>
        <p:nvPicPr>
          <p:cNvPr id="6" name="Picture 5"/>
          <p:cNvPicPr>
            <a:picLocks noChangeAspect="1"/>
          </p:cNvPicPr>
          <p:nvPr/>
        </p:nvPicPr>
        <p:blipFill>
          <a:blip r:embed="rId5"/>
          <a:stretch>
            <a:fillRect/>
          </a:stretch>
        </p:blipFill>
        <p:spPr>
          <a:xfrm>
            <a:off x="1454897" y="5197724"/>
            <a:ext cx="3991075" cy="1114175"/>
          </a:xfrm>
          <a:prstGeom prst="rect">
            <a:avLst/>
          </a:prstGeom>
        </p:spPr>
      </p:pic>
      <p:pic>
        <p:nvPicPr>
          <p:cNvPr id="7" name="Picture 6"/>
          <p:cNvPicPr>
            <a:picLocks noChangeAspect="1"/>
          </p:cNvPicPr>
          <p:nvPr/>
        </p:nvPicPr>
        <p:blipFill>
          <a:blip r:embed="rId6"/>
          <a:stretch>
            <a:fillRect/>
          </a:stretch>
        </p:blipFill>
        <p:spPr>
          <a:xfrm>
            <a:off x="6791615" y="5197724"/>
            <a:ext cx="3700429" cy="1167758"/>
          </a:xfrm>
          <a:prstGeom prst="rect">
            <a:avLst/>
          </a:prstGeom>
        </p:spPr>
      </p:pic>
    </p:spTree>
    <p:extLst>
      <p:ext uri="{BB962C8B-B14F-4D97-AF65-F5344CB8AC3E}">
        <p14:creationId xmlns:p14="http://schemas.microsoft.com/office/powerpoint/2010/main" val="2589667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Chính quy hoá (regularization) </a:t>
            </a:r>
          </a:p>
        </p:txBody>
      </p:sp>
      <p:pic>
        <p:nvPicPr>
          <p:cNvPr id="5" name="Content Placeholder 4"/>
          <p:cNvPicPr>
            <a:picLocks noGrp="1" noChangeAspect="1"/>
          </p:cNvPicPr>
          <p:nvPr>
            <p:ph idx="1"/>
          </p:nvPr>
        </p:nvPicPr>
        <p:blipFill>
          <a:blip r:embed="rId3"/>
          <a:stretch>
            <a:fillRect/>
          </a:stretch>
        </p:blipFill>
        <p:spPr>
          <a:xfrm>
            <a:off x="1976384" y="1690688"/>
            <a:ext cx="8713927" cy="2053998"/>
          </a:xfrm>
          <a:prstGeom prst="rect">
            <a:avLst/>
          </a:prstGeom>
        </p:spPr>
      </p:pic>
    </p:spTree>
    <p:extLst>
      <p:ext uri="{BB962C8B-B14F-4D97-AF65-F5344CB8AC3E}">
        <p14:creationId xmlns:p14="http://schemas.microsoft.com/office/powerpoint/2010/main" val="1889832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Gradient </a:t>
            </a:r>
            <a:r>
              <a:rPr lang="en-US" smtClean="0"/>
              <a:t>Descent</a:t>
            </a:r>
            <a:endParaRPr lang="en-US"/>
          </a:p>
        </p:txBody>
      </p:sp>
      <p:sp>
        <p:nvSpPr>
          <p:cNvPr id="3" name="Content Placeholder 2"/>
          <p:cNvSpPr>
            <a:spLocks noGrp="1"/>
          </p:cNvSpPr>
          <p:nvPr>
            <p:ph sz="half" idx="1"/>
          </p:nvPr>
        </p:nvSpPr>
        <p:spPr/>
        <p:txBody>
          <a:bodyPr>
            <a:normAutofit/>
          </a:bodyPr>
          <a:lstStyle/>
          <a:p>
            <a:pPr algn="just"/>
            <a:r>
              <a:rPr lang="vi-VN" smtClean="0"/>
              <a:t>là </a:t>
            </a:r>
            <a:r>
              <a:rPr lang="vi-VN"/>
              <a:t>một thuật toán tối ưu lặp (iterative optimization </a:t>
            </a:r>
            <a:r>
              <a:rPr lang="vi-VN"/>
              <a:t>algorithm</a:t>
            </a:r>
            <a:r>
              <a:rPr lang="vi-VN" smtClean="0"/>
              <a:t>)</a:t>
            </a:r>
            <a:r>
              <a:rPr lang="vi-VN"/>
              <a:t> mục tiêu là tìm một tập các biến nội tại (</a:t>
            </a:r>
            <a:r>
              <a:rPr lang="vi-VN"/>
              <a:t>internal </a:t>
            </a:r>
            <a:r>
              <a:rPr lang="vi-VN" smtClean="0"/>
              <a:t>parameters)</a:t>
            </a:r>
            <a:r>
              <a:rPr lang="da-DK"/>
              <a:t> cho việc tối </a:t>
            </a:r>
            <a:r>
              <a:rPr lang="da-DK"/>
              <a:t>ưu </a:t>
            </a:r>
            <a:r>
              <a:rPr lang="da-DK" smtClean="0"/>
              <a:t>models.</a:t>
            </a:r>
            <a:endParaRPr lang="en-US" smtClean="0"/>
          </a:p>
          <a:p>
            <a:pPr lvl="1" algn="just"/>
            <a:r>
              <a:rPr lang="en-US" smtClean="0"/>
              <a:t>cố </a:t>
            </a:r>
            <a:r>
              <a:rPr lang="en-US"/>
              <a:t>gắng tìm các điểm </a:t>
            </a:r>
            <a:r>
              <a:rPr lang="en-US"/>
              <a:t>local </a:t>
            </a:r>
            <a:r>
              <a:rPr lang="en-US" smtClean="0"/>
              <a:t>minimum xấp xỉ global </a:t>
            </a:r>
            <a:r>
              <a:rPr lang="en-US"/>
              <a:t>minimum của các hàm </a:t>
            </a:r>
            <a:r>
              <a:rPr lang="en-US"/>
              <a:t>mất </a:t>
            </a:r>
            <a:r>
              <a:rPr lang="en-US" smtClean="0"/>
              <a:t>mát.</a:t>
            </a:r>
            <a:endParaRPr lang="en-US"/>
          </a:p>
        </p:txBody>
      </p:sp>
      <p:pic>
        <p:nvPicPr>
          <p:cNvPr id="1026" name="Picture 2" descr="Mô phỏng thuật toán Gradient Descent"/>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6019800" y="716594"/>
            <a:ext cx="5181600" cy="32172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miro.medium.com/max/449/1*QXYOKUUQMsJrRnSXRCzHc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001294"/>
            <a:ext cx="4276725" cy="2571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8763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Gradient Descent</a:t>
            </a:r>
          </a:p>
        </p:txBody>
      </p:sp>
      <p:sp>
        <p:nvSpPr>
          <p:cNvPr id="3" name="Content Placeholder 2"/>
          <p:cNvSpPr>
            <a:spLocks noGrp="1"/>
          </p:cNvSpPr>
          <p:nvPr>
            <p:ph sz="half" idx="1"/>
          </p:nvPr>
        </p:nvSpPr>
        <p:spPr/>
        <p:txBody>
          <a:bodyPr>
            <a:normAutofit lnSpcReduction="10000"/>
          </a:bodyPr>
          <a:lstStyle/>
          <a:p>
            <a:pPr algn="just"/>
            <a:r>
              <a:rPr lang="en-US" smtClean="0"/>
              <a:t>Bước 1: </a:t>
            </a:r>
            <a:r>
              <a:rPr lang="vi-VN" smtClean="0"/>
              <a:t>Khởi </a:t>
            </a:r>
            <a:r>
              <a:rPr lang="vi-VN"/>
              <a:t>tạo biến nội tại.</a:t>
            </a:r>
          </a:p>
          <a:p>
            <a:pPr algn="just"/>
            <a:r>
              <a:rPr lang="en-US" smtClean="0"/>
              <a:t>Bước 2: </a:t>
            </a:r>
            <a:r>
              <a:rPr lang="vi-VN" smtClean="0"/>
              <a:t>Đánh </a:t>
            </a:r>
            <a:r>
              <a:rPr lang="vi-VN"/>
              <a:t>giá model dựa vào biến nội tại và hàm mất mát (Loss function).</a:t>
            </a:r>
          </a:p>
          <a:p>
            <a:pPr algn="just"/>
            <a:r>
              <a:rPr lang="en-US" smtClean="0"/>
              <a:t>Bươc 3: </a:t>
            </a:r>
            <a:r>
              <a:rPr lang="vi-VN" smtClean="0"/>
              <a:t>Cập </a:t>
            </a:r>
            <a:r>
              <a:rPr lang="vi-VN"/>
              <a:t>nhật các biến nội tại theo hướng tối ưu hàm mất mát (finding optimal points).</a:t>
            </a:r>
          </a:p>
          <a:p>
            <a:pPr algn="just"/>
            <a:r>
              <a:rPr lang="en-US" smtClean="0"/>
              <a:t>Bước 4: </a:t>
            </a:r>
            <a:r>
              <a:rPr lang="vi-VN" smtClean="0"/>
              <a:t>Lặp </a:t>
            </a:r>
            <a:r>
              <a:rPr lang="vi-VN"/>
              <a:t>lại bước 2, 3 cho tới khi thỏa điều kiện </a:t>
            </a:r>
            <a:r>
              <a:rPr lang="vi-VN"/>
              <a:t>dừng</a:t>
            </a:r>
            <a:r>
              <a:rPr lang="vi-VN" smtClean="0"/>
              <a:t>.</a:t>
            </a:r>
            <a:endParaRPr lang="en-US" smtClean="0"/>
          </a:p>
          <a:p>
            <a:pPr algn="just"/>
            <a:endParaRPr lang="vi-VN"/>
          </a:p>
          <a:p>
            <a:endParaRPr lang="en-US"/>
          </a:p>
        </p:txBody>
      </p:sp>
      <p:sp>
        <p:nvSpPr>
          <p:cNvPr id="4" name="Content Placeholder 3"/>
          <p:cNvSpPr>
            <a:spLocks noGrp="1"/>
          </p:cNvSpPr>
          <p:nvPr>
            <p:ph sz="half" idx="2"/>
          </p:nvPr>
        </p:nvSpPr>
        <p:spPr/>
        <p:txBody>
          <a:bodyPr>
            <a:normAutofit lnSpcReduction="10000"/>
          </a:bodyPr>
          <a:lstStyle/>
          <a:p>
            <a:pPr algn="just"/>
            <a:r>
              <a:rPr lang="vi-VN"/>
              <a:t>Công thức cập nhật cho GD có thể được viết là:</a:t>
            </a:r>
          </a:p>
          <a:p>
            <a:pPr marL="0" indent="0" algn="just">
              <a:buNone/>
            </a:pPr>
            <a:r>
              <a:rPr lang="vi-VN">
                <a:sym typeface="Symbol" panose="05050102010706020507" pitchFamily="18" charset="2"/>
              </a:rPr>
              <a:t></a:t>
            </a:r>
            <a:r>
              <a:rPr lang="vi-VN" baseline="30000" smtClean="0"/>
              <a:t>(</a:t>
            </a:r>
            <a:r>
              <a:rPr lang="en-US" baseline="30000" smtClean="0"/>
              <a:t>nextstep</a:t>
            </a:r>
            <a:r>
              <a:rPr lang="vi-VN" baseline="30000" smtClean="0"/>
              <a:t>)=</a:t>
            </a:r>
            <a:r>
              <a:rPr lang="vi-VN">
                <a:sym typeface="Symbol" panose="05050102010706020507" pitchFamily="18" charset="2"/>
              </a:rPr>
              <a:t> </a:t>
            </a:r>
            <a:r>
              <a:rPr lang="vi-VN">
                <a:sym typeface="Symbol" panose="05050102010706020507" pitchFamily="18" charset="2"/>
              </a:rPr>
              <a:t> </a:t>
            </a:r>
            <a:r>
              <a:rPr lang="vi-VN" smtClean="0"/>
              <a:t>−</a:t>
            </a:r>
            <a:r>
              <a:rPr lang="vi-VN" smtClean="0">
                <a:sym typeface="Symbol" panose="05050102010706020507" pitchFamily="18" charset="2"/>
              </a:rPr>
              <a:t></a:t>
            </a:r>
            <a:r>
              <a:rPr lang="vi-VN" baseline="-25000" smtClean="0">
                <a:sym typeface="Symbol" panose="05050102010706020507" pitchFamily="18" charset="2"/>
              </a:rPr>
              <a:t></a:t>
            </a:r>
            <a:endParaRPr lang="en-US" baseline="-25000" smtClean="0">
              <a:sym typeface="Symbol" panose="05050102010706020507" pitchFamily="18" charset="2"/>
            </a:endParaRPr>
          </a:p>
          <a:p>
            <a:pPr algn="just"/>
            <a:r>
              <a:rPr lang="en-US" smtClean="0"/>
              <a:t>T</a:t>
            </a:r>
            <a:r>
              <a:rPr lang="vi-VN" smtClean="0"/>
              <a:t>rong đó</a:t>
            </a:r>
            <a:r>
              <a:rPr lang="en-US" smtClean="0"/>
              <a:t>:</a:t>
            </a:r>
          </a:p>
          <a:p>
            <a:pPr lvl="1" algn="just">
              <a:buFont typeface="Wingdings" panose="05000000000000000000" pitchFamily="2" charset="2"/>
              <a:buChar char="§"/>
            </a:pPr>
            <a:r>
              <a:rPr lang="vi-VN" smtClean="0">
                <a:sym typeface="Symbol" panose="05050102010706020507" pitchFamily="18" charset="2"/>
              </a:rPr>
              <a:t></a:t>
            </a:r>
            <a:r>
              <a:rPr lang="en-US" smtClean="0"/>
              <a:t>: </a:t>
            </a:r>
            <a:r>
              <a:rPr lang="vi-VN" smtClean="0"/>
              <a:t>tập </a:t>
            </a:r>
            <a:r>
              <a:rPr lang="vi-VN"/>
              <a:t>các biến cần </a:t>
            </a:r>
            <a:r>
              <a:rPr lang="vi-VN"/>
              <a:t>cập </a:t>
            </a:r>
            <a:r>
              <a:rPr lang="vi-VN" smtClean="0"/>
              <a:t>nhật</a:t>
            </a:r>
            <a:endParaRPr lang="en-US" smtClean="0"/>
          </a:p>
          <a:p>
            <a:pPr lvl="1" algn="just">
              <a:buFont typeface="Wingdings" panose="05000000000000000000" pitchFamily="2" charset="2"/>
              <a:buChar char="§"/>
            </a:pPr>
            <a:r>
              <a:rPr lang="vi-VN" smtClean="0">
                <a:sym typeface="Symbol" panose="05050102010706020507" pitchFamily="18" charset="2"/>
              </a:rPr>
              <a:t></a:t>
            </a:r>
            <a:r>
              <a:rPr lang="en-US" smtClean="0"/>
              <a:t>:</a:t>
            </a:r>
            <a:r>
              <a:rPr lang="vi-VN" smtClean="0"/>
              <a:t> </a:t>
            </a:r>
            <a:r>
              <a:rPr lang="vi-VN"/>
              <a:t>tốc độ học (</a:t>
            </a:r>
            <a:r>
              <a:rPr lang="vi-VN"/>
              <a:t>learning </a:t>
            </a:r>
            <a:r>
              <a:rPr lang="vi-VN" smtClean="0"/>
              <a:t>rate)</a:t>
            </a:r>
            <a:endParaRPr lang="en-US" smtClean="0"/>
          </a:p>
          <a:p>
            <a:pPr lvl="1" algn="just">
              <a:buFont typeface="Wingdings" panose="05000000000000000000" pitchFamily="2" charset="2"/>
              <a:buChar char="§"/>
            </a:pPr>
            <a:r>
              <a:rPr lang="vi-VN" smtClean="0">
                <a:sym typeface="Symbol" panose="05050102010706020507" pitchFamily="18" charset="2"/>
              </a:rPr>
              <a:t></a:t>
            </a:r>
            <a:r>
              <a:rPr lang="en-US" smtClean="0"/>
              <a:t>:</a:t>
            </a:r>
            <a:r>
              <a:rPr lang="vi-VN" smtClean="0"/>
              <a:t>Gradient </a:t>
            </a:r>
            <a:r>
              <a:rPr lang="vi-VN"/>
              <a:t>của hàm mất mát f theo </a:t>
            </a:r>
            <a:r>
              <a:rPr lang="vi-VN"/>
              <a:t>tập </a:t>
            </a:r>
            <a:r>
              <a:rPr lang="vi-VN">
                <a:sym typeface="Symbol" panose="05050102010706020507" pitchFamily="18" charset="2"/>
              </a:rPr>
              <a:t></a:t>
            </a:r>
            <a:r>
              <a:rPr lang="el-GR" smtClean="0"/>
              <a:t>.</a:t>
            </a:r>
            <a:endParaRPr lang="el-GR"/>
          </a:p>
          <a:p>
            <a:endParaRPr lang="en-US"/>
          </a:p>
        </p:txBody>
      </p:sp>
    </p:spTree>
    <p:extLst>
      <p:ext uri="{BB962C8B-B14F-4D97-AF65-F5344CB8AC3E}">
        <p14:creationId xmlns:p14="http://schemas.microsoft.com/office/powerpoint/2010/main" val="3375716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Learning </a:t>
            </a:r>
            <a:r>
              <a:rPr lang="en-US" smtClean="0"/>
              <a:t>rate (</a:t>
            </a:r>
            <a:r>
              <a:rPr lang="vi-VN" smtClean="0">
                <a:sym typeface="Symbol" panose="05050102010706020507" pitchFamily="18" charset="2"/>
              </a:rPr>
              <a:t></a:t>
            </a:r>
            <a:r>
              <a:rPr lang="en-US" smtClean="0">
                <a:sym typeface="Symbol" panose="05050102010706020507" pitchFamily="18" charset="2"/>
              </a:rPr>
              <a:t> - </a:t>
            </a:r>
            <a:r>
              <a:rPr lang="en-US" i="1"/>
              <a:t>eta</a:t>
            </a:r>
            <a:r>
              <a:rPr lang="en-US" smtClean="0">
                <a:sym typeface="Symbol" panose="05050102010706020507" pitchFamily="18" charset="2"/>
              </a:rPr>
              <a:t>)</a:t>
            </a:r>
            <a:endParaRPr lang="en-US"/>
          </a:p>
        </p:txBody>
      </p:sp>
      <p:sp>
        <p:nvSpPr>
          <p:cNvPr id="3" name="Content Placeholder 2"/>
          <p:cNvSpPr>
            <a:spLocks noGrp="1"/>
          </p:cNvSpPr>
          <p:nvPr>
            <p:ph idx="1"/>
          </p:nvPr>
        </p:nvSpPr>
        <p:spPr/>
        <p:txBody>
          <a:bodyPr/>
          <a:lstStyle/>
          <a:p>
            <a:r>
              <a:rPr lang="en-US"/>
              <a:t>G</a:t>
            </a:r>
            <a:r>
              <a:rPr lang="en-US" smtClean="0"/>
              <a:t>iá </a:t>
            </a:r>
            <a:r>
              <a:rPr lang="en-US"/>
              <a:t>trị độ lớn của mỗi lần </a:t>
            </a:r>
            <a:r>
              <a:rPr lang="en-US"/>
              <a:t>di </a:t>
            </a:r>
            <a:r>
              <a:rPr lang="en-US" smtClean="0"/>
              <a:t>chuyển </a:t>
            </a:r>
          </a:p>
          <a:p>
            <a:pPr marL="457200" lvl="1" indent="0">
              <a:buNone/>
            </a:pPr>
            <a:r>
              <a:rPr lang="en-US" smtClean="0"/>
              <a:t>(</a:t>
            </a:r>
            <a:r>
              <a:rPr lang="vi-VN">
                <a:sym typeface="Symbol" panose="05050102010706020507" pitchFamily="18" charset="2"/>
              </a:rPr>
              <a:t></a:t>
            </a:r>
            <a:r>
              <a:rPr lang="vi-VN" baseline="30000"/>
              <a:t>(</a:t>
            </a:r>
            <a:r>
              <a:rPr lang="en-US" baseline="30000"/>
              <a:t>nextstep</a:t>
            </a:r>
            <a:r>
              <a:rPr lang="vi-VN" baseline="30000"/>
              <a:t>)=</a:t>
            </a:r>
            <a:r>
              <a:rPr lang="vi-VN">
                <a:sym typeface="Symbol" panose="05050102010706020507" pitchFamily="18" charset="2"/>
              </a:rPr>
              <a:t> </a:t>
            </a:r>
            <a:r>
              <a:rPr lang="vi-VN">
                <a:sym typeface="Symbol" panose="05050102010706020507" pitchFamily="18" charset="2"/>
              </a:rPr>
              <a:t> </a:t>
            </a:r>
            <a:r>
              <a:rPr lang="vi-VN" smtClean="0"/>
              <a:t>−</a:t>
            </a:r>
            <a:r>
              <a:rPr lang="vi-VN" b="1" smtClean="0">
                <a:solidFill>
                  <a:srgbClr val="FF0000"/>
                </a:solidFill>
                <a:sym typeface="Symbol" panose="05050102010706020507" pitchFamily="18" charset="2"/>
              </a:rPr>
              <a:t></a:t>
            </a:r>
            <a:r>
              <a:rPr lang="vi-VN" smtClean="0">
                <a:sym typeface="Symbol" panose="05050102010706020507" pitchFamily="18" charset="2"/>
              </a:rPr>
              <a:t></a:t>
            </a:r>
            <a:r>
              <a:rPr lang="vi-VN" baseline="-25000" smtClean="0">
                <a:sym typeface="Symbol" panose="05050102010706020507" pitchFamily="18" charset="2"/>
              </a:rPr>
              <a:t></a:t>
            </a:r>
            <a:endParaRPr lang="en-US" smtClean="0"/>
          </a:p>
          <a:p>
            <a:r>
              <a:rPr lang="vi-VN"/>
              <a:t>Dấu trừ thể hiện việc chúng ta phải </a:t>
            </a:r>
            <a:r>
              <a:rPr lang="vi-VN" i="1">
                <a:solidFill>
                  <a:srgbClr val="FF0000"/>
                </a:solidFill>
              </a:rPr>
              <a:t>đi ngược</a:t>
            </a:r>
            <a:r>
              <a:rPr lang="vi-VN">
                <a:solidFill>
                  <a:srgbClr val="FF0000"/>
                </a:solidFill>
              </a:rPr>
              <a:t> </a:t>
            </a:r>
            <a:r>
              <a:rPr lang="vi-VN"/>
              <a:t>với đạo hàm</a:t>
            </a:r>
            <a:endParaRPr lang="en-US"/>
          </a:p>
        </p:txBody>
      </p:sp>
      <p:pic>
        <p:nvPicPr>
          <p:cNvPr id="2050" name="Picture 2" descr="Sự ảnh hưởng của learning rate đến mô hình"/>
          <p:cNvPicPr>
            <a:picLocks noGrp="1" noChangeAspect="1" noChangeArrowheads="1"/>
          </p:cNvPicPr>
          <p:nvPr>
            <p:ph sz="half" idx="4294967295"/>
          </p:nvPr>
        </p:nvPicPr>
        <p:blipFill rotWithShape="1">
          <a:blip r:embed="rId3">
            <a:extLst>
              <a:ext uri="{28A0092B-C50C-407E-A947-70E740481C1C}">
                <a14:useLocalDpi xmlns:a14="http://schemas.microsoft.com/office/drawing/2010/main" val="0"/>
              </a:ext>
            </a:extLst>
          </a:blip>
          <a:srcRect t="12161" b="30240"/>
          <a:stretch/>
        </p:blipFill>
        <p:spPr bwMode="auto">
          <a:xfrm>
            <a:off x="1761068" y="4250266"/>
            <a:ext cx="9191762" cy="2061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59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Gradient Descent cho hàm </a:t>
            </a:r>
            <a:r>
              <a:rPr lang="fr-FR"/>
              <a:t>nhiều </a:t>
            </a:r>
            <a:r>
              <a:rPr lang="fr-FR" smtClean="0"/>
              <a:t>biến</a:t>
            </a:r>
            <a:endParaRPr lang="en-US"/>
          </a:p>
        </p:txBody>
      </p:sp>
      <p:pic>
        <p:nvPicPr>
          <p:cNvPr id="11" name="Picture 4" descr="Screen Shot 2016-07-28 at 11.23.52 AM"/>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207313"/>
            <a:ext cx="5181600" cy="358796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sz="half" idx="1"/>
          </p:nvPr>
        </p:nvSpPr>
        <p:spPr/>
        <p:txBody>
          <a:bodyPr/>
          <a:lstStyle/>
          <a:p>
            <a:r>
              <a:rPr lang="vi-VN" smtClean="0">
                <a:sym typeface="Symbol" panose="05050102010706020507" pitchFamily="18" charset="2"/>
              </a:rPr>
              <a:t></a:t>
            </a:r>
            <a:r>
              <a:rPr lang="en-US" smtClean="0">
                <a:sym typeface="Symbol" panose="05050102010706020507" pitchFamily="18" charset="2"/>
              </a:rPr>
              <a:t> = [</a:t>
            </a:r>
            <a:r>
              <a:rPr lang="vi-VN" smtClean="0">
                <a:sym typeface="Symbol" panose="05050102010706020507" pitchFamily="18" charset="2"/>
              </a:rPr>
              <a:t></a:t>
            </a:r>
            <a:r>
              <a:rPr lang="en-US" baseline="-25000" smtClean="0">
                <a:sym typeface="Symbol" panose="05050102010706020507" pitchFamily="18" charset="2"/>
              </a:rPr>
              <a:t>1</a:t>
            </a:r>
            <a:r>
              <a:rPr lang="en-US" smtClean="0">
                <a:sym typeface="Symbol" panose="05050102010706020507" pitchFamily="18" charset="2"/>
              </a:rPr>
              <a:t>, </a:t>
            </a:r>
            <a:r>
              <a:rPr lang="vi-VN">
                <a:sym typeface="Symbol" panose="05050102010706020507" pitchFamily="18" charset="2"/>
              </a:rPr>
              <a:t></a:t>
            </a:r>
            <a:r>
              <a:rPr lang="en-US" baseline="-25000" smtClean="0">
                <a:sym typeface="Symbol" panose="05050102010706020507" pitchFamily="18" charset="2"/>
              </a:rPr>
              <a:t>1</a:t>
            </a:r>
            <a:r>
              <a:rPr lang="en-US" smtClean="0">
                <a:sym typeface="Symbol" panose="05050102010706020507" pitchFamily="18" charset="2"/>
              </a:rPr>
              <a:t>, …, </a:t>
            </a:r>
            <a:r>
              <a:rPr lang="vi-VN" smtClean="0">
                <a:sym typeface="Symbol" panose="05050102010706020507" pitchFamily="18" charset="2"/>
              </a:rPr>
              <a:t></a:t>
            </a:r>
            <a:r>
              <a:rPr lang="en-US" smtClean="0">
                <a:sym typeface="Symbol" panose="05050102010706020507" pitchFamily="18" charset="2"/>
              </a:rPr>
              <a:t>]</a:t>
            </a:r>
          </a:p>
          <a:p>
            <a:endParaRPr lang="en-US"/>
          </a:p>
        </p:txBody>
      </p:sp>
    </p:spTree>
    <p:extLst>
      <p:ext uri="{BB962C8B-B14F-4D97-AF65-F5344CB8AC3E}">
        <p14:creationId xmlns:p14="http://schemas.microsoft.com/office/powerpoint/2010/main" val="4090981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Xem ví dụ mô phỏng</a:t>
            </a:r>
            <a:endParaRPr lang="en-US"/>
          </a:p>
        </p:txBody>
      </p:sp>
      <p:sp>
        <p:nvSpPr>
          <p:cNvPr id="3" name="Content Placeholder 2"/>
          <p:cNvSpPr>
            <a:spLocks noGrp="1"/>
          </p:cNvSpPr>
          <p:nvPr>
            <p:ph idx="1"/>
          </p:nvPr>
        </p:nvSpPr>
        <p:spPr/>
        <p:txBody>
          <a:bodyPr/>
          <a:lstStyle/>
          <a:p>
            <a:r>
              <a:rPr lang="en-US">
                <a:hlinkClick r:id="rId2"/>
              </a:rPr>
              <a:t>http://</a:t>
            </a:r>
            <a:r>
              <a:rPr lang="en-US">
                <a:hlinkClick r:id="rId2"/>
              </a:rPr>
              <a:t>www.benfrederickson.com/numerical-optimization</a:t>
            </a:r>
            <a:r>
              <a:rPr lang="en-US" smtClean="0">
                <a:hlinkClick r:id="rId2"/>
              </a:rPr>
              <a:t>/</a:t>
            </a:r>
            <a:endParaRPr lang="en-US" smtClean="0"/>
          </a:p>
          <a:p>
            <a:endParaRPr lang="en-US"/>
          </a:p>
        </p:txBody>
      </p:sp>
    </p:spTree>
    <p:extLst>
      <p:ext uri="{BB962C8B-B14F-4D97-AF65-F5344CB8AC3E}">
        <p14:creationId xmlns:p14="http://schemas.microsoft.com/office/powerpoint/2010/main" val="1261095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Link</a:t>
            </a:r>
          </a:p>
        </p:txBody>
      </p:sp>
      <p:sp>
        <p:nvSpPr>
          <p:cNvPr id="3" name="Content Placeholder 2"/>
          <p:cNvSpPr>
            <a:spLocks noGrp="1"/>
          </p:cNvSpPr>
          <p:nvPr>
            <p:ph idx="1"/>
          </p:nvPr>
        </p:nvSpPr>
        <p:spPr/>
        <p:txBody>
          <a:bodyPr/>
          <a:lstStyle/>
          <a:p>
            <a:endParaRPr lang="en-US" dirty="0">
              <a:hlinkClick r:id="rId3"/>
            </a:endParaRPr>
          </a:p>
          <a:p>
            <a:r>
              <a:rPr lang="en-US" dirty="0">
                <a:hlinkClick r:id="rId3"/>
              </a:rPr>
              <a:t>http://</a:t>
            </a:r>
            <a:r>
              <a:rPr lang="en-US" dirty="0" err="1">
                <a:hlinkClick r:id="rId3"/>
              </a:rPr>
              <a:t>tutorials.aiclub.cs.uit.edu.vn</a:t>
            </a:r>
            <a:r>
              <a:rPr lang="en-US" dirty="0">
                <a:hlinkClick r:id="rId3"/>
              </a:rPr>
              <a:t>/</a:t>
            </a:r>
            <a:r>
              <a:rPr lang="en-US" dirty="0" err="1">
                <a:hlinkClick r:id="rId3"/>
              </a:rPr>
              <a:t>index.php</a:t>
            </a:r>
            <a:r>
              <a:rPr lang="en-US">
                <a:hlinkClick r:id="rId3"/>
              </a:rPr>
              <a:t>/2021/05/18/evaluation/</a:t>
            </a:r>
          </a:p>
          <a:p>
            <a:r>
              <a:rPr lang="en-US">
                <a:hlinkClick r:id="rId3"/>
              </a:rPr>
              <a:t>https</a:t>
            </a:r>
            <a:r>
              <a:rPr lang="en-US" dirty="0">
                <a:hlinkClick r:id="rId3"/>
              </a:rPr>
              <a:t>://</a:t>
            </a:r>
            <a:r>
              <a:rPr lang="en-US" dirty="0" err="1">
                <a:hlinkClick r:id="rId3"/>
              </a:rPr>
              <a:t>dominhhai.github.io</a:t>
            </a:r>
            <a:r>
              <a:rPr lang="en-US" dirty="0">
                <a:hlinkClick r:id="rId3"/>
              </a:rPr>
              <a:t>/vi/2017/12/ml-overfitting/</a:t>
            </a:r>
            <a:endParaRPr lang="en-US" dirty="0"/>
          </a:p>
          <a:p>
            <a:r>
              <a:rPr lang="en-US" dirty="0">
                <a:hlinkClick r:id="rId4"/>
              </a:rPr>
              <a:t>https://</a:t>
            </a:r>
            <a:r>
              <a:rPr lang="en-US" err="1">
                <a:hlinkClick r:id="rId4"/>
              </a:rPr>
              <a:t>machinelearningcoban.com</a:t>
            </a:r>
            <a:r>
              <a:rPr lang="en-US">
                <a:hlinkClick r:id="rId4"/>
              </a:rPr>
              <a:t>/2017/03/04/overfitting</a:t>
            </a:r>
            <a:r>
              <a:rPr lang="en-US" smtClean="0">
                <a:hlinkClick r:id="rId4"/>
              </a:rPr>
              <a:t>/</a:t>
            </a:r>
            <a:endParaRPr lang="en-US" smtClean="0"/>
          </a:p>
          <a:p>
            <a:endParaRPr lang="en-US" dirty="0"/>
          </a:p>
          <a:p>
            <a:endParaRPr lang="en-US" dirty="0"/>
          </a:p>
          <a:p>
            <a:endParaRPr lang="en-US" dirty="0"/>
          </a:p>
        </p:txBody>
      </p:sp>
    </p:spTree>
    <p:extLst>
      <p:ext uri="{BB962C8B-B14F-4D97-AF65-F5344CB8AC3E}">
        <p14:creationId xmlns:p14="http://schemas.microsoft.com/office/powerpoint/2010/main" val="4145620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948</Words>
  <Application>Microsoft Office PowerPoint</Application>
  <PresentationFormat>Widescreen</PresentationFormat>
  <Paragraphs>126</Paragraphs>
  <Slides>22</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inherit</vt:lpstr>
      <vt:lpstr>Source Sans Pro</vt:lpstr>
      <vt:lpstr>Symbol</vt:lpstr>
      <vt:lpstr>Tahoma</vt:lpstr>
      <vt:lpstr>Wingdings</vt:lpstr>
      <vt:lpstr>Office Theme</vt:lpstr>
      <vt:lpstr>Evaluation</vt:lpstr>
      <vt:lpstr>Nội dung</vt:lpstr>
      <vt:lpstr>Accuracy</vt:lpstr>
      <vt:lpstr>Confusion Matrix</vt:lpstr>
      <vt:lpstr>Confusion Matrix</vt:lpstr>
      <vt:lpstr>Confusion Matrix</vt:lpstr>
      <vt:lpstr>F1-Score</vt:lpstr>
      <vt:lpstr>Over-fitting vs. Under-fitting</vt:lpstr>
      <vt:lpstr>Chưa khớp (Underfitting)</vt:lpstr>
      <vt:lpstr>Quá khớp (Overfitting)</vt:lpstr>
      <vt:lpstr>Đánh giá lỗi</vt:lpstr>
      <vt:lpstr>Model Evaluation</vt:lpstr>
      <vt:lpstr>Model Evaluation</vt:lpstr>
      <vt:lpstr>Chính quy hoá (regularization) </vt:lpstr>
      <vt:lpstr>Chính quy hoá (regularization) </vt:lpstr>
      <vt:lpstr>Chính quy hoá (regularization) </vt:lpstr>
      <vt:lpstr>Gradient Descent</vt:lpstr>
      <vt:lpstr>Gradient Descent</vt:lpstr>
      <vt:lpstr>Learning rate ( - eta)</vt:lpstr>
      <vt:lpstr>Gradient Descent cho hàm nhiều biến</vt:lpstr>
      <vt:lpstr>Xem ví dụ mô phỏng</vt:lpstr>
      <vt:lpstr>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Overfitting</dc:title>
  <dc:creator>DELL</dc:creator>
  <cp:lastModifiedBy>DELL</cp:lastModifiedBy>
  <cp:revision>18</cp:revision>
  <dcterms:created xsi:type="dcterms:W3CDTF">2023-02-17T19:09:06Z</dcterms:created>
  <dcterms:modified xsi:type="dcterms:W3CDTF">2023-02-24T23:02:14Z</dcterms:modified>
</cp:coreProperties>
</file>